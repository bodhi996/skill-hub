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0.xml" ContentType="application/vnd.openxmlformats-officedocument.presentationml.tag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ags/tag3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5117" r:id="rId1"/>
  </p:sldMasterIdLst>
  <p:notesMasterIdLst>
    <p:notesMasterId r:id="rId15"/>
  </p:notesMasterIdLst>
  <p:handoutMasterIdLst>
    <p:handoutMasterId r:id="rId16"/>
  </p:handoutMasterIdLst>
  <p:sldIdLst>
    <p:sldId id="256" r:id="rId2"/>
    <p:sldId id="271" r:id="rId3"/>
    <p:sldId id="272" r:id="rId4"/>
    <p:sldId id="273" r:id="rId5"/>
    <p:sldId id="274" r:id="rId6"/>
    <p:sldId id="275" r:id="rId7"/>
    <p:sldId id="276" r:id="rId8"/>
    <p:sldId id="277" r:id="rId9"/>
    <p:sldId id="278" r:id="rId10"/>
    <p:sldId id="279" r:id="rId11"/>
    <p:sldId id="280" r:id="rId12"/>
    <p:sldId id="281" r:id="rId13"/>
    <p:sldId id="270" r:id="rId14"/>
  </p:sldIdLst>
  <p:sldSz cx="12192000" cy="6858000"/>
  <p:notesSz cx="6950075" cy="9236075"/>
  <p:custShowLst>
    <p:custShow name="Format Guide Workshop" id="0">
      <p:sldLst/>
    </p:custShow>
  </p:custShowLst>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D8F2"/>
    <a:srgbClr val="448AD7"/>
    <a:srgbClr val="6E6F73"/>
    <a:srgbClr val="0C2036"/>
    <a:srgbClr val="17406D"/>
    <a:srgbClr val="0B5395"/>
    <a:srgbClr val="82B1E5"/>
    <a:srgbClr val="FFFFFF"/>
    <a:srgbClr val="0041C7"/>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3" autoAdjust="0"/>
    <p:restoredTop sz="96323" autoAdjust="0"/>
  </p:normalViewPr>
  <p:slideViewPr>
    <p:cSldViewPr snapToGrid="0">
      <p:cViewPr>
        <p:scale>
          <a:sx n="94" d="100"/>
          <a:sy n="94" d="100"/>
        </p:scale>
        <p:origin x="56" y="420"/>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39601" cy="39601"/>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doughnutChart>
        <c:varyColors val="1"/>
        <c:ser>
          <c:idx val="0"/>
          <c:order val="0"/>
          <c:tx>
            <c:strRef>
              <c:f>Sheet1!$B$1</c:f>
              <c:strCache>
                <c:ptCount val="1"/>
                <c:pt idx="0">
                  <c:v>Share of refunds</c:v>
                </c:pt>
              </c:strCache>
            </c:strRef>
          </c:tx>
          <c:dPt>
            <c:idx val="0"/>
            <c:bubble3D val="0"/>
            <c:spPr>
              <a:solidFill>
                <a:schemeClr val="tx2">
                  <a:lumMod val="50000"/>
                </a:schemeClr>
              </a:solidFill>
            </c:spPr>
            <c:extLst>
              <c:ext xmlns:c16="http://schemas.microsoft.com/office/drawing/2014/chart" uri="{C3380CC4-5D6E-409C-BE32-E72D297353CC}">
                <c16:uniqueId val="{00000001-9C0B-436D-9B35-A844A5BF6DE6}"/>
              </c:ext>
            </c:extLst>
          </c:dPt>
          <c:dPt>
            <c:idx val="1"/>
            <c:bubble3D val="0"/>
            <c:spPr>
              <a:solidFill>
                <a:schemeClr val="tx2">
                  <a:lumMod val="60000"/>
                  <a:lumOff val="40000"/>
                </a:schemeClr>
              </a:solidFill>
            </c:spPr>
            <c:extLst>
              <c:ext xmlns:c16="http://schemas.microsoft.com/office/drawing/2014/chart" uri="{C3380CC4-5D6E-409C-BE32-E72D297353CC}">
                <c16:uniqueId val="{00000003-9C0B-436D-9B35-A844A5BF6DE6}"/>
              </c:ext>
            </c:extLst>
          </c:dPt>
          <c:dPt>
            <c:idx val="2"/>
            <c:bubble3D val="0"/>
            <c:spPr>
              <a:solidFill>
                <a:schemeClr val="tx2">
                  <a:lumMod val="20000"/>
                  <a:lumOff val="80000"/>
                </a:schemeClr>
              </a:solidFill>
            </c:spPr>
            <c:extLst>
              <c:ext xmlns:c16="http://schemas.microsoft.com/office/drawing/2014/chart" uri="{C3380CC4-5D6E-409C-BE32-E72D297353CC}">
                <c16:uniqueId val="{00000005-9C0B-436D-9B35-A844A5BF6DE6}"/>
              </c:ext>
            </c:extLst>
          </c:dPt>
          <c:dPt>
            <c:idx val="3"/>
            <c:bubble3D val="0"/>
            <c:spPr>
              <a:solidFill>
                <a:srgbClr val="6E6F73"/>
              </a:solidFill>
            </c:spPr>
            <c:extLst>
              <c:ext xmlns:c16="http://schemas.microsoft.com/office/drawing/2014/chart" uri="{C3380CC4-5D6E-409C-BE32-E72D297353CC}">
                <c16:uniqueId val="{00000007-9C0B-436D-9B35-A844A5BF6DE6}"/>
              </c:ext>
            </c:extLst>
          </c:dPt>
          <c:cat>
            <c:strRef>
              <c:f>Sheet1!$A$2:$A$5</c:f>
              <c:strCache>
                <c:ptCount val="4"/>
                <c:pt idx="0">
                  <c:v>Personal / Family / Medical</c:v>
                </c:pt>
                <c:pt idx="1">
                  <c:v>Financial barriers</c:v>
                </c:pt>
                <c:pt idx="2">
                  <c:v>Career events (job, relocation)</c:v>
                </c:pt>
                <c:pt idx="3">
                  <c:v>Operational &amp; other</c:v>
                </c:pt>
              </c:strCache>
            </c:strRef>
          </c:cat>
          <c:val>
            <c:numRef>
              <c:f>Sheet1!$B$2:$B$5</c:f>
              <c:numCache>
                <c:formatCode>General</c:formatCode>
                <c:ptCount val="4"/>
                <c:pt idx="0">
                  <c:v>26</c:v>
                </c:pt>
                <c:pt idx="1">
                  <c:v>21.4</c:v>
                </c:pt>
                <c:pt idx="2">
                  <c:v>13.5</c:v>
                </c:pt>
                <c:pt idx="3">
                  <c:v>39.1</c:v>
                </c:pt>
              </c:numCache>
            </c:numRef>
          </c:val>
          <c:extLst>
            <c:ext xmlns:c16="http://schemas.microsoft.com/office/drawing/2014/chart" uri="{C3380CC4-5D6E-409C-BE32-E72D297353CC}">
              <c16:uniqueId val="{00000008-9C0B-436D-9B35-A844A5BF6DE6}"/>
            </c:ext>
          </c:extLst>
        </c:ser>
        <c:dLbls>
          <c:showLegendKey val="0"/>
          <c:showVal val="0"/>
          <c:showCatName val="0"/>
          <c:showSerName val="0"/>
          <c:showPercent val="0"/>
          <c:showBubbleSize val="0"/>
          <c:showLeaderLines val="1"/>
        </c:dLbls>
        <c:firstSliceAng val="0"/>
        <c:holeSize val="55"/>
      </c:doughnutChart>
    </c:plotArea>
    <c:legend>
      <c:legendPos val="b"/>
      <c:overlay val="0"/>
      <c:txPr>
        <a:bodyPr/>
        <a:lstStyle/>
        <a:p>
          <a:pPr>
            <a:defRPr sz="900">
              <a:solidFill>
                <a:srgbClr val="575757"/>
              </a:solidFill>
              <a:latin typeface="Trebuchet MS"/>
            </a:defRPr>
          </a:pPr>
          <a:endParaRPr lang="en-US"/>
        </a:p>
      </c:txPr>
    </c:legend>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Refund rate</c:v>
                </c:pt>
              </c:strCache>
            </c:strRef>
          </c:tx>
          <c:spPr>
            <a:solidFill>
              <a:srgbClr val="197A56"/>
            </a:solidFill>
          </c:spPr>
          <c:invertIfNegative val="1"/>
          <c:dPt>
            <c:idx val="0"/>
            <c:invertIfNegative val="1"/>
            <c:bubble3D val="0"/>
            <c:spPr>
              <a:solidFill>
                <a:srgbClr val="295E7E"/>
              </a:solidFill>
            </c:spPr>
            <c:extLst>
              <c:ext xmlns:c16="http://schemas.microsoft.com/office/drawing/2014/chart" uri="{C3380CC4-5D6E-409C-BE32-E72D297353CC}">
                <c16:uniqueId val="{00000001-B630-402C-95DB-34406606F539}"/>
              </c:ext>
            </c:extLst>
          </c:dPt>
          <c:dPt>
            <c:idx val="1"/>
            <c:invertIfNegative val="1"/>
            <c:bubble3D val="0"/>
            <c:spPr>
              <a:solidFill>
                <a:srgbClr val="295E7E"/>
              </a:solidFill>
            </c:spPr>
            <c:extLst>
              <c:ext xmlns:c16="http://schemas.microsoft.com/office/drawing/2014/chart" uri="{C3380CC4-5D6E-409C-BE32-E72D297353CC}">
                <c16:uniqueId val="{00000003-B630-402C-95DB-34406606F539}"/>
              </c:ext>
            </c:extLst>
          </c:dPt>
          <c:dPt>
            <c:idx val="2"/>
            <c:invertIfNegative val="1"/>
            <c:bubble3D val="0"/>
            <c:spPr>
              <a:solidFill>
                <a:srgbClr val="6E6F73"/>
              </a:solidFill>
            </c:spPr>
            <c:extLst>
              <c:ext xmlns:c16="http://schemas.microsoft.com/office/drawing/2014/chart" uri="{C3380CC4-5D6E-409C-BE32-E72D297353CC}">
                <c16:uniqueId val="{00000005-B630-402C-95DB-34406606F539}"/>
              </c:ext>
            </c:extLst>
          </c:dPt>
          <c:dPt>
            <c:idx val="3"/>
            <c:invertIfNegative val="1"/>
            <c:bubble3D val="0"/>
            <c:spPr>
              <a:solidFill>
                <a:schemeClr val="accent2"/>
              </a:solidFill>
            </c:spPr>
            <c:extLst>
              <c:ext xmlns:c16="http://schemas.microsoft.com/office/drawing/2014/chart" uri="{C3380CC4-5D6E-409C-BE32-E72D297353CC}">
                <c16:uniqueId val="{00000007-B630-402C-95DB-34406606F539}"/>
              </c:ext>
            </c:extLst>
          </c:dPt>
          <c:dPt>
            <c:idx val="4"/>
            <c:invertIfNegative val="1"/>
            <c:bubble3D val="0"/>
            <c:spPr>
              <a:solidFill>
                <a:schemeClr val="bg2"/>
              </a:solidFill>
            </c:spPr>
            <c:extLst>
              <c:ext xmlns:c16="http://schemas.microsoft.com/office/drawing/2014/chart" uri="{C3380CC4-5D6E-409C-BE32-E72D297353CC}">
                <c16:uniqueId val="{00000009-B630-402C-95DB-34406606F539}"/>
              </c:ext>
            </c:extLst>
          </c:dPt>
          <c:dPt>
            <c:idx val="5"/>
            <c:invertIfNegative val="1"/>
            <c:bubble3D val="0"/>
            <c:spPr>
              <a:solidFill>
                <a:srgbClr val="03522D"/>
              </a:solidFill>
            </c:spPr>
            <c:extLst>
              <c:ext xmlns:c16="http://schemas.microsoft.com/office/drawing/2014/chart" uri="{C3380CC4-5D6E-409C-BE32-E72D297353CC}">
                <c16:uniqueId val="{0000000B-B630-402C-95DB-34406606F539}"/>
              </c:ext>
            </c:extLst>
          </c:dPt>
          <c:dLbls>
            <c:numFmt formatCode="0&quot;%&quot;" sourceLinked="0"/>
            <c:spPr>
              <a:noFill/>
              <a:ln>
                <a:noFill/>
              </a:ln>
              <a:effectLst/>
            </c:spPr>
            <c:txPr>
              <a:bodyPr/>
              <a:lstStyle/>
              <a:p>
                <a:pPr>
                  <a:defRPr sz="900">
                    <a:solidFill>
                      <a:srgbClr val="575757"/>
                    </a:solidFill>
                    <a:latin typeface="Trebuchet M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0%</c:v>
                </c:pt>
                <c:pt idx="1">
                  <c:v>1-25%</c:v>
                </c:pt>
                <c:pt idx="2">
                  <c:v>25-50%</c:v>
                </c:pt>
                <c:pt idx="3">
                  <c:v>50-75%</c:v>
                </c:pt>
                <c:pt idx="4">
                  <c:v>75-90%</c:v>
                </c:pt>
                <c:pt idx="5">
                  <c:v>90-100%</c:v>
                </c:pt>
              </c:strCache>
            </c:strRef>
          </c:cat>
          <c:val>
            <c:numRef>
              <c:f>Sheet1!$B$2:$B$7</c:f>
              <c:numCache>
                <c:formatCode>General</c:formatCode>
                <c:ptCount val="6"/>
                <c:pt idx="0">
                  <c:v>80.2</c:v>
                </c:pt>
                <c:pt idx="1">
                  <c:v>53.7</c:v>
                </c:pt>
                <c:pt idx="2">
                  <c:v>43.9</c:v>
                </c:pt>
                <c:pt idx="3">
                  <c:v>18.399999999999999</c:v>
                </c:pt>
                <c:pt idx="4">
                  <c:v>3.6</c:v>
                </c:pt>
                <c:pt idx="5">
                  <c:v>0.9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C-B630-402C-95DB-34406606F539}"/>
            </c:ext>
          </c:extLst>
        </c:ser>
        <c:dLbls>
          <c:showLegendKey val="0"/>
          <c:showVal val="1"/>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2113994440"/>
        <c:crosses val="autoZero"/>
        <c:auto val="1"/>
        <c:lblAlgn val="ctr"/>
        <c:lblOffset val="100"/>
        <c:noMultiLvlLbl val="0"/>
      </c:catAx>
      <c:valAx>
        <c:axId val="-2113994440"/>
        <c:scaling>
          <c:orientation val="minMax"/>
          <c:max val="90"/>
        </c:scaling>
        <c:delete val="0"/>
        <c:axPos val="l"/>
        <c:numFmt formatCode="0&quot;%&quot;"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Refund rate</c:v>
                </c:pt>
              </c:strCache>
            </c:strRef>
          </c:tx>
          <c:spPr>
            <a:solidFill>
              <a:srgbClr val="197A56"/>
            </a:solidFill>
          </c:spPr>
          <c:invertIfNegative val="1"/>
          <c:dPt>
            <c:idx val="0"/>
            <c:invertIfNegative val="1"/>
            <c:bubble3D val="0"/>
            <c:spPr>
              <a:solidFill>
                <a:schemeClr val="tx2">
                  <a:lumMod val="60000"/>
                  <a:lumOff val="40000"/>
                </a:schemeClr>
              </a:solidFill>
            </c:spPr>
            <c:extLst>
              <c:ext xmlns:c16="http://schemas.microsoft.com/office/drawing/2014/chart" uri="{C3380CC4-5D6E-409C-BE32-E72D297353CC}">
                <c16:uniqueId val="{00000001-ADCF-4963-95CB-0698ED7125D4}"/>
              </c:ext>
            </c:extLst>
          </c:dPt>
          <c:dPt>
            <c:idx val="1"/>
            <c:invertIfNegative val="1"/>
            <c:bubble3D val="0"/>
            <c:spPr>
              <a:solidFill>
                <a:srgbClr val="295E7E"/>
              </a:solidFill>
            </c:spPr>
            <c:extLst>
              <c:ext xmlns:c16="http://schemas.microsoft.com/office/drawing/2014/chart" uri="{C3380CC4-5D6E-409C-BE32-E72D297353CC}">
                <c16:uniqueId val="{00000003-ADCF-4963-95CB-0698ED7125D4}"/>
              </c:ext>
            </c:extLst>
          </c:dPt>
          <c:dLbls>
            <c:numFmt formatCode="0.0&quot;%&quot;" sourceLinked="0"/>
            <c:spPr>
              <a:noFill/>
              <a:ln>
                <a:noFill/>
              </a:ln>
              <a:effectLst/>
            </c:spPr>
            <c:txPr>
              <a:bodyPr/>
              <a:lstStyle/>
              <a:p>
                <a:pPr>
                  <a:defRPr sz="900">
                    <a:solidFill>
                      <a:srgbClr val="575757"/>
                    </a:solidFill>
                    <a:latin typeface="Trebuchet M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DBWT completed</c:v>
                </c:pt>
                <c:pt idx="1">
                  <c:v>DBWT skipped</c:v>
                </c:pt>
              </c:strCache>
            </c:strRef>
          </c:cat>
          <c:val>
            <c:numRef>
              <c:f>Sheet1!$B$2:$B$3</c:f>
              <c:numCache>
                <c:formatCode>General</c:formatCode>
                <c:ptCount val="2"/>
                <c:pt idx="0">
                  <c:v>12.1</c:v>
                </c:pt>
                <c:pt idx="1">
                  <c:v>43.1</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ADCF-4963-95CB-0698ED7125D4}"/>
            </c:ext>
          </c:extLst>
        </c:ser>
        <c:dLbls>
          <c:showLegendKey val="0"/>
          <c:showVal val="1"/>
          <c:showCatName val="0"/>
          <c:showSerName val="0"/>
          <c:showPercent val="0"/>
          <c:showBubbleSize val="0"/>
        </c:dLbls>
        <c:gapWidth val="80"/>
        <c:axId val="-2068027336"/>
        <c:axId val="-2113994440"/>
      </c:barChart>
      <c:catAx>
        <c:axId val="-2068027336"/>
        <c:scaling>
          <c:orientation val="minMax"/>
        </c:scaling>
        <c:delete val="0"/>
        <c:axPos val="b"/>
        <c:numFmt formatCode="General" sourceLinked="0"/>
        <c:majorTickMark val="out"/>
        <c:minorTickMark val="none"/>
        <c:tickLblPos val="nextTo"/>
        <c:spPr>
          <a:ln w="6350">
            <a:solidFill>
              <a:srgbClr val="B1B1B7"/>
            </a:solidFill>
          </a:ln>
        </c:spPr>
        <c:txPr>
          <a:bodyPr/>
          <a:lstStyle/>
          <a:p>
            <a:pPr>
              <a:defRPr sz="900">
                <a:solidFill>
                  <a:srgbClr val="575757"/>
                </a:solidFill>
                <a:latin typeface="Trebuchet MS"/>
              </a:defRPr>
            </a:pPr>
            <a:endParaRPr lang="en-US"/>
          </a:p>
        </c:txPr>
        <c:crossAx val="-2113994440"/>
        <c:crosses val="autoZero"/>
        <c:auto val="1"/>
        <c:lblAlgn val="ctr"/>
        <c:lblOffset val="100"/>
        <c:noMultiLvlLbl val="0"/>
      </c:catAx>
      <c:valAx>
        <c:axId val="-2113994440"/>
        <c:scaling>
          <c:orientation val="minMax"/>
          <c:max val="50"/>
        </c:scaling>
        <c:delete val="0"/>
        <c:axPos val="l"/>
        <c:numFmt formatCode="0.0&quot;%&quot;" sourceLinked="0"/>
        <c:majorTickMark val="out"/>
        <c:minorTickMark val="none"/>
        <c:tickLblPos val="nextTo"/>
        <c:spPr>
          <a:ln>
            <a:solidFill>
              <a:srgbClr val="FFFFFF"/>
            </a:solidFill>
          </a:ln>
        </c:spPr>
        <c:txPr>
          <a:bodyPr/>
          <a:lstStyle/>
          <a:p>
            <a:pPr>
              <a:defRPr sz="900">
                <a:solidFill>
                  <a:srgbClr val="575757"/>
                </a:solidFill>
                <a:latin typeface="Trebuchet MS"/>
              </a:defRPr>
            </a:pPr>
            <a:endParaRPr lang="en-US"/>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5/6/2026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5/6/2026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4.jpg"/><Relationship Id="rId3" Type="http://schemas.openxmlformats.org/officeDocument/2006/relationships/tags" Target="../tags/tag5.xml"/><Relationship Id="rId7" Type="http://schemas.openxmlformats.org/officeDocument/2006/relationships/image" Target="../media/image3.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image" Target="../media/image2.emf"/><Relationship Id="rId5" Type="http://schemas.openxmlformats.org/officeDocument/2006/relationships/oleObject" Target="../embeddings/oleObject2.bin"/><Relationship Id="rId4" Type="http://schemas.openxmlformats.org/officeDocument/2006/relationships/slideMaster" Target="../slideMasters/slideMaster1.xml"/><Relationship Id="rId9"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5.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4.jpg"/><Relationship Id="rId5" Type="http://schemas.openxmlformats.org/officeDocument/2006/relationships/image" Target="../media/image2.emf"/><Relationship Id="rId4" Type="http://schemas.openxmlformats.org/officeDocument/2006/relationships/oleObject" Target="../embeddings/oleObject4.bin"/></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12.xml"/><Relationship Id="rId7" Type="http://schemas.openxmlformats.org/officeDocument/2006/relationships/image" Target="../media/image2.emf"/><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4.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15.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18.xml"/><Relationship Id="rId7" Type="http://schemas.openxmlformats.org/officeDocument/2006/relationships/image" Target="../media/image4.jpg"/><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5.xml"/><Relationship Id="rId1" Type="http://schemas.openxmlformats.org/officeDocument/2006/relationships/tags" Target="../tags/tag24.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26.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27.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1.xml"/><Relationship Id="rId1" Type="http://schemas.openxmlformats.org/officeDocument/2006/relationships/tags" Target="../tags/tag28.xml"/><Relationship Id="rId5" Type="http://schemas.openxmlformats.org/officeDocument/2006/relationships/image" Target="../media/image3.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9.xml"/><Relationship Id="rId5" Type="http://schemas.openxmlformats.org/officeDocument/2006/relationships/image" Target="../media/image6.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4" name="Object 3" hidden="1"/>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7">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8">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solidFill>
            <a:srgbClr val="0041C7">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pic>
        <p:nvPicPr>
          <p:cNvPr id="1032" name="Picture 8" descr="The guidance and structure of Scaler Academy was exactly what I needed in  my journey. - Scaler">
            <a:extLst>
              <a:ext uri="{FF2B5EF4-FFF2-40B4-BE49-F238E27FC236}">
                <a16:creationId xmlns:a16="http://schemas.microsoft.com/office/drawing/2014/main" id="{12DB7649-7DC7-0D96-39DD-5A0DC22AA068}"/>
              </a:ext>
            </a:extLst>
          </p:cNvPr>
          <p:cNvPicPr>
            <a:picLocks noChangeAspect="1" noChangeArrowheads="1"/>
          </p:cNvPicPr>
          <p:nvPr userDrawn="1"/>
        </p:nvPicPr>
        <p:blipFill>
          <a:blip r:embed="rId9">
            <a:clrChange>
              <a:clrFrom>
                <a:srgbClr val="0041C7"/>
              </a:clrFrom>
              <a:clrTo>
                <a:srgbClr val="0041C7">
                  <a:alpha val="0"/>
                </a:srgbClr>
              </a:clrTo>
            </a:clrChange>
            <a:extLst>
              <a:ext uri="{28A0092B-C50C-407E-A947-70E740481C1C}">
                <a14:useLocalDpi xmlns:a14="http://schemas.microsoft.com/office/drawing/2010/main" val="0"/>
              </a:ext>
            </a:extLst>
          </a:blip>
          <a:srcRect/>
          <a:stretch>
            <a:fillRect/>
          </a:stretch>
        </p:blipFill>
        <p:spPr bwMode="auto">
          <a:xfrm>
            <a:off x="437568" y="167745"/>
            <a:ext cx="1602052" cy="1413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84" imgH="384" progId="TCLayout.ActiveDocument.1">
                  <p:embed/>
                </p:oleObj>
              </mc:Choice>
              <mc:Fallback>
                <p:oleObj name="think-cell Slide" r:id="rId4" imgW="384" imgH="384"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endParaRPr lang="en-US" sz="1200" dirty="0">
              <a:solidFill>
                <a:schemeClr val="bg1"/>
              </a:solidFill>
              <a:latin typeface="+mn-lt"/>
              <a:sym typeface="Trebuchet MS" panose="020B0603020202020204" pitchFamily="34" charset="0"/>
            </a:endParaRPr>
          </a:p>
        </p:txBody>
      </p:sp>
      <p:pic>
        <p:nvPicPr>
          <p:cNvPr id="2050" name="Picture 2" descr="The guidance and structure of Scaler Academy was exactly what I needed in  my journey. - Scaler">
            <a:extLst>
              <a:ext uri="{FF2B5EF4-FFF2-40B4-BE49-F238E27FC236}">
                <a16:creationId xmlns:a16="http://schemas.microsoft.com/office/drawing/2014/main" id="{AE1A293D-C5FD-6214-92FE-A42CA8B39ADA}"/>
              </a:ext>
            </a:extLst>
          </p:cNvPr>
          <p:cNvPicPr>
            <a:picLocks noChangeAspect="1" noChangeArrowheads="1"/>
          </p:cNvPicPr>
          <p:nvPr userDrawn="1"/>
        </p:nvPicPr>
        <p:blipFill>
          <a:blip r:embed="rId7">
            <a:clrChange>
              <a:clrFrom>
                <a:srgbClr val="0041C7"/>
              </a:clrFrom>
              <a:clrTo>
                <a:srgbClr val="0041C7">
                  <a:alpha val="0"/>
                </a:srgbClr>
              </a:clrTo>
            </a:clrChange>
            <a:extLst>
              <a:ext uri="{28A0092B-C50C-407E-A947-70E740481C1C}">
                <a14:useLocalDpi xmlns:a14="http://schemas.microsoft.com/office/drawing/2010/main" val="0"/>
              </a:ext>
            </a:extLst>
          </a:blip>
          <a:srcRect/>
          <a:stretch>
            <a:fillRect/>
          </a:stretch>
        </p:blipFill>
        <p:spPr bwMode="auto">
          <a:xfrm>
            <a:off x="1752233" y="1076503"/>
            <a:ext cx="5257800" cy="4638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3" name="Object 2" hidden="1"/>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2026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2026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2" name="Object 1" hidden="1"/>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Level six</a:t>
            </a:r>
          </a:p>
          <a:p>
            <a:pPr lvl="6"/>
            <a:r>
              <a:rPr lang="en-US" dirty="0"/>
              <a:t>Level seven</a:t>
            </a:r>
          </a:p>
          <a:p>
            <a:pPr lvl="7"/>
            <a:r>
              <a:rPr lang="en-US" dirty="0"/>
              <a:t>Level eight</a:t>
            </a:r>
          </a:p>
          <a:p>
            <a:pPr lvl="8"/>
            <a:r>
              <a:rPr lang="en-US" dirty="0"/>
              <a:t>Level nine</a:t>
            </a:r>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1.xml"/><Relationship Id="rId1" Type="http://schemas.openxmlformats.org/officeDocument/2006/relationships/tags" Target="../tags/tag30.xml"/><Relationship Id="rId4" Type="http://schemas.openxmlformats.org/officeDocument/2006/relationships/image" Target="../media/image11.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30.xml"/><Relationship Id="rId1" Type="http://schemas.openxmlformats.org/officeDocument/2006/relationships/tags" Target="../tags/tag31.xml"/><Relationship Id="rId4" Type="http://schemas.openxmlformats.org/officeDocument/2006/relationships/image" Target="../media/image11.e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F75A4B3B-307B-38A2-2F28-8F265685DAFE}"/>
              </a:ext>
            </a:extLst>
          </p:cNvPr>
          <p:cNvGraphicFramePr>
            <a:graphicFrameLocks noChangeAspect="1"/>
          </p:cNvGraphicFramePr>
          <p:nvPr>
            <p:custDataLst>
              <p:tags r:id="rId1"/>
            </p:custDataLst>
            <p:extLst>
              <p:ext uri="{D42A27DB-BD31-4B8C-83A1-F6EECF244321}">
                <p14:modId xmlns:p14="http://schemas.microsoft.com/office/powerpoint/2010/main" val="32470888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01" name="ph_ctrTitle"/>
          <p:cNvSpPr>
            <a:spLocks noGrp="1"/>
          </p:cNvSpPr>
          <p:nvPr>
            <p:ph type="ctrTitle"/>
          </p:nvPr>
        </p:nvSpPr>
        <p:spPr/>
        <p:txBody>
          <a:bodyPr vert="horz"/>
          <a:lstStyle/>
          <a:p>
            <a:r>
              <a:rPr lang="en-US" dirty="0"/>
              <a:t>Refund Root-Cause Analysis</a:t>
            </a:r>
          </a:p>
        </p:txBody>
      </p:sp>
      <p:sp>
        <p:nvSpPr>
          <p:cNvPr id="102" name="ph_subTitle"/>
          <p:cNvSpPr>
            <a:spLocks noGrp="1"/>
          </p:cNvSpPr>
          <p:nvPr>
            <p:ph type="subTitle" idx="1"/>
          </p:nvPr>
        </p:nvSpPr>
        <p:spPr/>
        <p:txBody>
          <a:bodyPr/>
          <a:lstStyle/>
          <a:p>
            <a:r>
              <a:rPr lang="en-US" dirty="0"/>
              <a:t>Academy Intake X | Take-home assessment for Scaler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ph_title"/>
          <p:cNvSpPr>
            <a:spLocks noGrp="1"/>
          </p:cNvSpPr>
          <p:nvPr>
            <p:ph type="title"/>
          </p:nvPr>
        </p:nvSpPr>
        <p:spPr/>
        <p:txBody>
          <a:bodyPr/>
          <a:lstStyle/>
          <a:p>
            <a:r>
              <a:rPr lang="en-US" dirty="0"/>
              <a:t>Refunds are an early-engagement problem masked as a course-quality problem</a:t>
            </a:r>
          </a:p>
        </p:txBody>
      </p:sp>
      <p:sp>
        <p:nvSpPr>
          <p:cNvPr id="105" name="TB105"/>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106" name="RR106"/>
          <p:cNvSpPr/>
          <p:nvPr/>
        </p:nvSpPr>
        <p:spPr>
          <a:xfrm>
            <a:off x="630936" y="2075688"/>
            <a:ext cx="10936224" cy="713232"/>
          </a:xfrm>
          <a:prstGeom prst="roundRect">
            <a:avLst>
              <a:gd name="adj" fmla="val 5000"/>
            </a:avLst>
          </a:prstGeom>
          <a:solidFill>
            <a:srgbClr val="F2F2F2"/>
          </a:solidFill>
          <a:ln>
            <a:noFill/>
          </a:ln>
        </p:spPr>
        <p:txBody>
          <a:bodyPr/>
          <a:lstStyle/>
          <a:p>
            <a:endParaRPr lang="en-US"/>
          </a:p>
        </p:txBody>
      </p:sp>
      <p:sp>
        <p:nvSpPr>
          <p:cNvPr id="107" name="TB107"/>
          <p:cNvSpPr txBox="1"/>
          <p:nvPr/>
        </p:nvSpPr>
        <p:spPr>
          <a:xfrm>
            <a:off x="813815" y="2167128"/>
            <a:ext cx="10570464" cy="219456"/>
          </a:xfrm>
          <a:prstGeom prst="rect">
            <a:avLst/>
          </a:prstGeom>
          <a:noFill/>
        </p:spPr>
        <p:txBody>
          <a:bodyPr wrap="square" rtlCol="0" anchor="t"/>
          <a:lstStyle/>
          <a:p>
            <a:r>
              <a:rPr lang="en-US" sz="1400" b="1" dirty="0">
                <a:solidFill>
                  <a:srgbClr val="575757"/>
                </a:solidFill>
                <a:latin typeface="Trebuchet MS"/>
              </a:rPr>
              <a:t>17% of the cohort refunded, but they look very different from stayers</a:t>
            </a:r>
          </a:p>
        </p:txBody>
      </p:sp>
      <p:sp>
        <p:nvSpPr>
          <p:cNvPr id="108" name="TB108"/>
          <p:cNvSpPr txBox="1"/>
          <p:nvPr/>
        </p:nvSpPr>
        <p:spPr>
          <a:xfrm>
            <a:off x="813815" y="2423160"/>
            <a:ext cx="10570464" cy="274319"/>
          </a:xfrm>
          <a:prstGeom prst="rect">
            <a:avLst/>
          </a:prstGeom>
          <a:noFill/>
        </p:spPr>
        <p:txBody>
          <a:bodyPr wrap="square" rtlCol="0" anchor="t"/>
          <a:lstStyle/>
          <a:p>
            <a:r>
              <a:rPr lang="en-US" sz="1200" dirty="0">
                <a:solidFill>
                  <a:srgbClr val="575757"/>
                </a:solidFill>
                <a:latin typeface="Trebuchet MS"/>
              </a:rPr>
              <a:t>281 of 1,649 learners refunded. Refunders averaged 24.6% attendance versus 82.6% for stayers, a 58-point gap.</a:t>
            </a:r>
          </a:p>
        </p:txBody>
      </p:sp>
      <p:sp>
        <p:nvSpPr>
          <p:cNvPr id="109" name="RR109"/>
          <p:cNvSpPr/>
          <p:nvPr/>
        </p:nvSpPr>
        <p:spPr>
          <a:xfrm>
            <a:off x="630936" y="2880360"/>
            <a:ext cx="10936224" cy="713232"/>
          </a:xfrm>
          <a:prstGeom prst="roundRect">
            <a:avLst>
              <a:gd name="adj" fmla="val 5000"/>
            </a:avLst>
          </a:prstGeom>
          <a:solidFill>
            <a:srgbClr val="F2F2F2"/>
          </a:solidFill>
          <a:ln>
            <a:noFill/>
          </a:ln>
        </p:spPr>
        <p:txBody>
          <a:bodyPr/>
          <a:lstStyle/>
          <a:p>
            <a:endParaRPr lang="en-US"/>
          </a:p>
        </p:txBody>
      </p:sp>
      <p:sp>
        <p:nvSpPr>
          <p:cNvPr id="110" name="TB110"/>
          <p:cNvSpPr txBox="1"/>
          <p:nvPr/>
        </p:nvSpPr>
        <p:spPr>
          <a:xfrm>
            <a:off x="813815" y="2971800"/>
            <a:ext cx="10570464" cy="219456"/>
          </a:xfrm>
          <a:prstGeom prst="rect">
            <a:avLst/>
          </a:prstGeom>
          <a:noFill/>
        </p:spPr>
        <p:txBody>
          <a:bodyPr wrap="square" rtlCol="0" anchor="t"/>
          <a:lstStyle/>
          <a:p>
            <a:r>
              <a:rPr lang="en-US" sz="1400" b="1" dirty="0">
                <a:solidFill>
                  <a:srgbClr val="575757"/>
                </a:solidFill>
                <a:latin typeface="Trebuchet MS"/>
              </a:rPr>
              <a:t>Three reason buckets cover two-thirds of refund cases</a:t>
            </a:r>
          </a:p>
        </p:txBody>
      </p:sp>
      <p:sp>
        <p:nvSpPr>
          <p:cNvPr id="111" name="TB111"/>
          <p:cNvSpPr txBox="1"/>
          <p:nvPr/>
        </p:nvSpPr>
        <p:spPr>
          <a:xfrm>
            <a:off x="813815" y="3227832"/>
            <a:ext cx="10570464" cy="274319"/>
          </a:xfrm>
          <a:prstGeom prst="rect">
            <a:avLst/>
          </a:prstGeom>
          <a:noFill/>
        </p:spPr>
        <p:txBody>
          <a:bodyPr wrap="square" rtlCol="0" anchor="t"/>
          <a:lstStyle/>
          <a:p>
            <a:r>
              <a:rPr lang="en-US" sz="1200" dirty="0">
                <a:solidFill>
                  <a:srgbClr val="575757"/>
                </a:solidFill>
                <a:latin typeface="Trebuchet MS"/>
              </a:rPr>
              <a:t>Personal/family/medical (26%), financial difficulty including loan rejection (21%), and career events (14%).</a:t>
            </a:r>
          </a:p>
        </p:txBody>
      </p:sp>
      <p:sp>
        <p:nvSpPr>
          <p:cNvPr id="112" name="RR112"/>
          <p:cNvSpPr/>
          <p:nvPr/>
        </p:nvSpPr>
        <p:spPr>
          <a:xfrm>
            <a:off x="630936" y="3685032"/>
            <a:ext cx="10936224" cy="713232"/>
          </a:xfrm>
          <a:prstGeom prst="roundRect">
            <a:avLst>
              <a:gd name="adj" fmla="val 5000"/>
            </a:avLst>
          </a:prstGeom>
          <a:solidFill>
            <a:srgbClr val="F2F2F2"/>
          </a:solidFill>
          <a:ln>
            <a:noFill/>
          </a:ln>
        </p:spPr>
        <p:txBody>
          <a:bodyPr/>
          <a:lstStyle/>
          <a:p>
            <a:endParaRPr lang="en-US"/>
          </a:p>
        </p:txBody>
      </p:sp>
      <p:sp>
        <p:nvSpPr>
          <p:cNvPr id="113" name="TB113"/>
          <p:cNvSpPr txBox="1"/>
          <p:nvPr/>
        </p:nvSpPr>
        <p:spPr>
          <a:xfrm>
            <a:off x="813815" y="3776472"/>
            <a:ext cx="10570464" cy="219456"/>
          </a:xfrm>
          <a:prstGeom prst="rect">
            <a:avLst/>
          </a:prstGeom>
          <a:noFill/>
        </p:spPr>
        <p:txBody>
          <a:bodyPr wrap="square" rtlCol="0" anchor="t"/>
          <a:lstStyle/>
          <a:p>
            <a:r>
              <a:rPr lang="en-US" sz="1400" b="1" dirty="0">
                <a:solidFill>
                  <a:srgbClr val="575757"/>
                </a:solidFill>
                <a:latin typeface="Trebuchet MS"/>
              </a:rPr>
              <a:t>The Dashboard Walkthrough is the strongest pre-class predictor</a:t>
            </a:r>
          </a:p>
        </p:txBody>
      </p:sp>
      <p:sp>
        <p:nvSpPr>
          <p:cNvPr id="114" name="TB114"/>
          <p:cNvSpPr txBox="1"/>
          <p:nvPr/>
        </p:nvSpPr>
        <p:spPr>
          <a:xfrm>
            <a:off x="813815" y="4032504"/>
            <a:ext cx="10570464" cy="274320"/>
          </a:xfrm>
          <a:prstGeom prst="rect">
            <a:avLst/>
          </a:prstGeom>
          <a:noFill/>
        </p:spPr>
        <p:txBody>
          <a:bodyPr wrap="square" rtlCol="0" anchor="t"/>
          <a:lstStyle/>
          <a:p>
            <a:r>
              <a:rPr lang="en-US" sz="1200" dirty="0">
                <a:solidFill>
                  <a:srgbClr val="575757"/>
                </a:solidFill>
                <a:latin typeface="Trebuchet MS"/>
              </a:rPr>
              <a:t>DBWT skippers refund at 43% vs 12% for completers. A 3.5x gap on a behaviour observable before Day 1.</a:t>
            </a:r>
          </a:p>
        </p:txBody>
      </p:sp>
      <p:sp>
        <p:nvSpPr>
          <p:cNvPr id="115" name="RR115"/>
          <p:cNvSpPr/>
          <p:nvPr/>
        </p:nvSpPr>
        <p:spPr>
          <a:xfrm>
            <a:off x="630936" y="4489704"/>
            <a:ext cx="10936224" cy="713232"/>
          </a:xfrm>
          <a:prstGeom prst="roundRect">
            <a:avLst>
              <a:gd name="adj" fmla="val 5000"/>
            </a:avLst>
          </a:prstGeom>
          <a:solidFill>
            <a:schemeClr val="tx2"/>
          </a:solidFill>
          <a:ln>
            <a:noFill/>
          </a:ln>
        </p:spPr>
        <p:txBody>
          <a:bodyPr/>
          <a:lstStyle/>
          <a:p>
            <a:endParaRPr lang="en-US"/>
          </a:p>
        </p:txBody>
      </p:sp>
      <p:sp>
        <p:nvSpPr>
          <p:cNvPr id="116" name="TB116"/>
          <p:cNvSpPr txBox="1"/>
          <p:nvPr/>
        </p:nvSpPr>
        <p:spPr>
          <a:xfrm>
            <a:off x="813815" y="4581144"/>
            <a:ext cx="10570464" cy="219456"/>
          </a:xfrm>
          <a:prstGeom prst="rect">
            <a:avLst/>
          </a:prstGeom>
          <a:noFill/>
        </p:spPr>
        <p:txBody>
          <a:bodyPr wrap="square" rtlCol="0" anchor="t"/>
          <a:lstStyle/>
          <a:p>
            <a:r>
              <a:rPr lang="en-US" sz="1400" b="1" dirty="0">
                <a:solidFill>
                  <a:srgbClr val="FFFFFF"/>
                </a:solidFill>
                <a:latin typeface="Trebuchet MS"/>
              </a:rPr>
              <a:t>Three priority moves reach 45% of refunders from under 5% of the cohort</a:t>
            </a:r>
          </a:p>
        </p:txBody>
      </p:sp>
      <p:sp>
        <p:nvSpPr>
          <p:cNvPr id="117" name="TB117"/>
          <p:cNvSpPr txBox="1"/>
          <p:nvPr/>
        </p:nvSpPr>
        <p:spPr>
          <a:xfrm>
            <a:off x="813815" y="4837176"/>
            <a:ext cx="10570464" cy="274320"/>
          </a:xfrm>
          <a:prstGeom prst="rect">
            <a:avLst/>
          </a:prstGeom>
          <a:noFill/>
        </p:spPr>
        <p:txBody>
          <a:bodyPr wrap="square" rtlCol="0" anchor="t"/>
          <a:lstStyle/>
          <a:p>
            <a:r>
              <a:rPr lang="en-US" sz="1200" dirty="0">
                <a:solidFill>
                  <a:srgbClr val="FFFFFF"/>
                </a:solidFill>
                <a:latin typeface="Trebuchet MS"/>
              </a:rPr>
              <a:t>DBWT non-skippable, Day-3 outreach on Critical segment, financial pre-qualification at sales.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ph_title"/>
          <p:cNvSpPr>
            <a:spLocks noGrp="1"/>
          </p:cNvSpPr>
          <p:nvPr>
            <p:ph type="title"/>
          </p:nvPr>
        </p:nvSpPr>
        <p:spPr/>
        <p:txBody>
          <a:bodyPr/>
          <a:lstStyle/>
          <a:p>
            <a:r>
              <a:rPr lang="en-US" dirty="0"/>
              <a:t>Academy Intake X had 1,649 learners and a 17% refund rate over the cohort</a:t>
            </a:r>
          </a:p>
        </p:txBody>
      </p:sp>
      <p:sp>
        <p:nvSpPr>
          <p:cNvPr id="119" name="TB119"/>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120" name="RR120"/>
          <p:cNvSpPr/>
          <p:nvPr/>
        </p:nvSpPr>
        <p:spPr>
          <a:xfrm>
            <a:off x="630936" y="2075688"/>
            <a:ext cx="2596896" cy="14630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21" name="R121"/>
          <p:cNvSpPr/>
          <p:nvPr/>
        </p:nvSpPr>
        <p:spPr>
          <a:xfrm>
            <a:off x="630936" y="2075688"/>
            <a:ext cx="2596896" cy="54864"/>
          </a:xfrm>
          <a:prstGeom prst="rect">
            <a:avLst/>
          </a:prstGeom>
          <a:solidFill>
            <a:schemeClr val="tx2"/>
          </a:solidFill>
          <a:ln>
            <a:noFill/>
          </a:ln>
        </p:spPr>
        <p:txBody>
          <a:bodyPr/>
          <a:lstStyle/>
          <a:p>
            <a:endParaRPr lang="en-US"/>
          </a:p>
        </p:txBody>
      </p:sp>
      <p:sp>
        <p:nvSpPr>
          <p:cNvPr id="122" name="TB122"/>
          <p:cNvSpPr txBox="1"/>
          <p:nvPr/>
        </p:nvSpPr>
        <p:spPr>
          <a:xfrm>
            <a:off x="740664" y="2240280"/>
            <a:ext cx="2377440" cy="502920"/>
          </a:xfrm>
          <a:prstGeom prst="rect">
            <a:avLst/>
          </a:prstGeom>
          <a:noFill/>
        </p:spPr>
        <p:txBody>
          <a:bodyPr wrap="square" rtlCol="0" anchor="ctr"/>
          <a:lstStyle/>
          <a:p>
            <a:pPr algn="ctr"/>
            <a:r>
              <a:rPr lang="en-US" sz="2800" b="1" dirty="0">
                <a:solidFill>
                  <a:schemeClr val="tx2"/>
                </a:solidFill>
                <a:latin typeface="Trebuchet MS"/>
              </a:rPr>
              <a:t>1,649</a:t>
            </a:r>
          </a:p>
        </p:txBody>
      </p:sp>
      <p:sp>
        <p:nvSpPr>
          <p:cNvPr id="123" name="TB123"/>
          <p:cNvSpPr txBox="1"/>
          <p:nvPr/>
        </p:nvSpPr>
        <p:spPr>
          <a:xfrm>
            <a:off x="740664" y="2761488"/>
            <a:ext cx="2377440" cy="274320"/>
          </a:xfrm>
          <a:prstGeom prst="rect">
            <a:avLst/>
          </a:prstGeom>
          <a:noFill/>
        </p:spPr>
        <p:txBody>
          <a:bodyPr wrap="square" rtlCol="0" anchor="ctr"/>
          <a:lstStyle/>
          <a:p>
            <a:pPr algn="ctr"/>
            <a:r>
              <a:rPr lang="en-US" sz="1200" dirty="0">
                <a:solidFill>
                  <a:srgbClr val="575757"/>
                </a:solidFill>
                <a:latin typeface="Trebuchet MS"/>
              </a:rPr>
              <a:t>Total learners</a:t>
            </a:r>
          </a:p>
        </p:txBody>
      </p:sp>
      <p:sp>
        <p:nvSpPr>
          <p:cNvPr id="124" name="TB124"/>
          <p:cNvSpPr txBox="1"/>
          <p:nvPr/>
        </p:nvSpPr>
        <p:spPr>
          <a:xfrm>
            <a:off x="740664" y="3081528"/>
            <a:ext cx="2377440" cy="228600"/>
          </a:xfrm>
          <a:prstGeom prst="rect">
            <a:avLst/>
          </a:prstGeom>
          <a:noFill/>
        </p:spPr>
        <p:txBody>
          <a:bodyPr wrap="square" rtlCol="0" anchor="ctr"/>
          <a:lstStyle/>
          <a:p>
            <a:pPr algn="ctr"/>
            <a:r>
              <a:rPr lang="en-US" sz="1100" b="1" dirty="0">
                <a:solidFill>
                  <a:schemeClr val="tx2"/>
                </a:solidFill>
                <a:latin typeface="Trebuchet MS"/>
              </a:rPr>
              <a:t>+Academy Intake X</a:t>
            </a:r>
          </a:p>
        </p:txBody>
      </p:sp>
      <p:sp>
        <p:nvSpPr>
          <p:cNvPr id="125" name="RR125"/>
          <p:cNvSpPr/>
          <p:nvPr/>
        </p:nvSpPr>
        <p:spPr>
          <a:xfrm>
            <a:off x="3410712" y="2075688"/>
            <a:ext cx="2596896" cy="14630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26" name="R126"/>
          <p:cNvSpPr/>
          <p:nvPr/>
        </p:nvSpPr>
        <p:spPr>
          <a:xfrm>
            <a:off x="3410712" y="2075688"/>
            <a:ext cx="2596896" cy="54864"/>
          </a:xfrm>
          <a:prstGeom prst="rect">
            <a:avLst/>
          </a:prstGeom>
          <a:solidFill>
            <a:schemeClr val="tx2"/>
          </a:solidFill>
          <a:ln>
            <a:noFill/>
          </a:ln>
        </p:spPr>
        <p:txBody>
          <a:bodyPr/>
          <a:lstStyle/>
          <a:p>
            <a:endParaRPr lang="en-US"/>
          </a:p>
        </p:txBody>
      </p:sp>
      <p:sp>
        <p:nvSpPr>
          <p:cNvPr id="127" name="TB127"/>
          <p:cNvSpPr txBox="1"/>
          <p:nvPr/>
        </p:nvSpPr>
        <p:spPr>
          <a:xfrm>
            <a:off x="3520440" y="2240280"/>
            <a:ext cx="2377440" cy="502920"/>
          </a:xfrm>
          <a:prstGeom prst="rect">
            <a:avLst/>
          </a:prstGeom>
          <a:noFill/>
        </p:spPr>
        <p:txBody>
          <a:bodyPr wrap="square" rtlCol="0" anchor="ctr"/>
          <a:lstStyle/>
          <a:p>
            <a:pPr algn="ctr"/>
            <a:r>
              <a:rPr lang="en-US" sz="2800" b="1" dirty="0">
                <a:solidFill>
                  <a:schemeClr val="tx2"/>
                </a:solidFill>
                <a:latin typeface="Trebuchet MS"/>
              </a:rPr>
              <a:t>304</a:t>
            </a:r>
          </a:p>
        </p:txBody>
      </p:sp>
      <p:sp>
        <p:nvSpPr>
          <p:cNvPr id="128" name="TB128"/>
          <p:cNvSpPr txBox="1"/>
          <p:nvPr/>
        </p:nvSpPr>
        <p:spPr>
          <a:xfrm>
            <a:off x="3520440" y="2761488"/>
            <a:ext cx="2377440" cy="274320"/>
          </a:xfrm>
          <a:prstGeom prst="rect">
            <a:avLst/>
          </a:prstGeom>
          <a:noFill/>
        </p:spPr>
        <p:txBody>
          <a:bodyPr wrap="square" rtlCol="0" anchor="ctr"/>
          <a:lstStyle/>
          <a:p>
            <a:pPr algn="ctr"/>
            <a:r>
              <a:rPr lang="en-US" sz="1200" dirty="0">
                <a:solidFill>
                  <a:srgbClr val="575757"/>
                </a:solidFill>
                <a:latin typeface="Trebuchet MS"/>
              </a:rPr>
              <a:t>Refund requests</a:t>
            </a:r>
          </a:p>
        </p:txBody>
      </p:sp>
      <p:sp>
        <p:nvSpPr>
          <p:cNvPr id="129" name="TB129"/>
          <p:cNvSpPr txBox="1"/>
          <p:nvPr/>
        </p:nvSpPr>
        <p:spPr>
          <a:xfrm>
            <a:off x="3520440" y="3081528"/>
            <a:ext cx="2377440" cy="228600"/>
          </a:xfrm>
          <a:prstGeom prst="rect">
            <a:avLst/>
          </a:prstGeom>
          <a:noFill/>
        </p:spPr>
        <p:txBody>
          <a:bodyPr wrap="square" rtlCol="0" anchor="ctr"/>
          <a:lstStyle/>
          <a:p>
            <a:pPr algn="ctr"/>
            <a:r>
              <a:rPr lang="en-US" sz="1100" b="1" dirty="0">
                <a:solidFill>
                  <a:schemeClr val="tx2"/>
                </a:solidFill>
                <a:latin typeface="Trebuchet MS"/>
              </a:rPr>
              <a:t>+in tracker</a:t>
            </a:r>
          </a:p>
        </p:txBody>
      </p:sp>
      <p:sp>
        <p:nvSpPr>
          <p:cNvPr id="130" name="RR130"/>
          <p:cNvSpPr/>
          <p:nvPr/>
        </p:nvSpPr>
        <p:spPr>
          <a:xfrm>
            <a:off x="6190488" y="2075688"/>
            <a:ext cx="2596896" cy="14630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31" name="R131"/>
          <p:cNvSpPr/>
          <p:nvPr/>
        </p:nvSpPr>
        <p:spPr>
          <a:xfrm>
            <a:off x="6190488" y="2075688"/>
            <a:ext cx="2596896" cy="54864"/>
          </a:xfrm>
          <a:prstGeom prst="rect">
            <a:avLst/>
          </a:prstGeom>
          <a:solidFill>
            <a:schemeClr val="tx2"/>
          </a:solidFill>
          <a:ln>
            <a:noFill/>
          </a:ln>
        </p:spPr>
        <p:txBody>
          <a:bodyPr/>
          <a:lstStyle/>
          <a:p>
            <a:endParaRPr lang="en-US"/>
          </a:p>
        </p:txBody>
      </p:sp>
      <p:sp>
        <p:nvSpPr>
          <p:cNvPr id="132" name="TB132"/>
          <p:cNvSpPr txBox="1"/>
          <p:nvPr/>
        </p:nvSpPr>
        <p:spPr>
          <a:xfrm>
            <a:off x="6300216" y="2240280"/>
            <a:ext cx="2377440" cy="502920"/>
          </a:xfrm>
          <a:prstGeom prst="rect">
            <a:avLst/>
          </a:prstGeom>
          <a:noFill/>
        </p:spPr>
        <p:txBody>
          <a:bodyPr wrap="square" rtlCol="0" anchor="ctr"/>
          <a:lstStyle/>
          <a:p>
            <a:pPr algn="ctr"/>
            <a:r>
              <a:rPr lang="en-US" sz="2800" b="1" dirty="0">
                <a:solidFill>
                  <a:schemeClr val="tx2"/>
                </a:solidFill>
                <a:latin typeface="Trebuchet MS"/>
              </a:rPr>
              <a:t>281</a:t>
            </a:r>
          </a:p>
        </p:txBody>
      </p:sp>
      <p:sp>
        <p:nvSpPr>
          <p:cNvPr id="133" name="TB133"/>
          <p:cNvSpPr txBox="1"/>
          <p:nvPr/>
        </p:nvSpPr>
        <p:spPr>
          <a:xfrm>
            <a:off x="6300216" y="2761488"/>
            <a:ext cx="2377440" cy="274320"/>
          </a:xfrm>
          <a:prstGeom prst="rect">
            <a:avLst/>
          </a:prstGeom>
          <a:noFill/>
        </p:spPr>
        <p:txBody>
          <a:bodyPr wrap="square" rtlCol="0" anchor="ctr"/>
          <a:lstStyle/>
          <a:p>
            <a:pPr algn="ctr"/>
            <a:r>
              <a:rPr lang="en-US" sz="1200" dirty="0">
                <a:solidFill>
                  <a:srgbClr val="575757"/>
                </a:solidFill>
                <a:latin typeface="Trebuchet MS"/>
              </a:rPr>
              <a:t>Refunds processed</a:t>
            </a:r>
          </a:p>
        </p:txBody>
      </p:sp>
      <p:sp>
        <p:nvSpPr>
          <p:cNvPr id="134" name="TB134"/>
          <p:cNvSpPr txBox="1"/>
          <p:nvPr/>
        </p:nvSpPr>
        <p:spPr>
          <a:xfrm>
            <a:off x="6300216" y="3081528"/>
            <a:ext cx="2377440" cy="228600"/>
          </a:xfrm>
          <a:prstGeom prst="rect">
            <a:avLst/>
          </a:prstGeom>
          <a:noFill/>
        </p:spPr>
        <p:txBody>
          <a:bodyPr wrap="square" rtlCol="0" anchor="ctr"/>
          <a:lstStyle/>
          <a:p>
            <a:pPr algn="ctr"/>
            <a:r>
              <a:rPr lang="en-US" sz="1100" b="1" dirty="0">
                <a:solidFill>
                  <a:schemeClr val="tx2"/>
                </a:solidFill>
                <a:latin typeface="Trebuchet MS"/>
              </a:rPr>
              <a:t>+92% of requests</a:t>
            </a:r>
          </a:p>
        </p:txBody>
      </p:sp>
      <p:sp>
        <p:nvSpPr>
          <p:cNvPr id="135" name="RR135"/>
          <p:cNvSpPr/>
          <p:nvPr/>
        </p:nvSpPr>
        <p:spPr>
          <a:xfrm>
            <a:off x="8970264" y="2075688"/>
            <a:ext cx="2596896" cy="14630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36" name="R136"/>
          <p:cNvSpPr/>
          <p:nvPr/>
        </p:nvSpPr>
        <p:spPr>
          <a:xfrm>
            <a:off x="8970264" y="2075688"/>
            <a:ext cx="2596896" cy="54864"/>
          </a:xfrm>
          <a:prstGeom prst="rect">
            <a:avLst/>
          </a:prstGeom>
          <a:solidFill>
            <a:schemeClr val="tx2"/>
          </a:solidFill>
          <a:ln>
            <a:noFill/>
          </a:ln>
        </p:spPr>
        <p:txBody>
          <a:bodyPr/>
          <a:lstStyle/>
          <a:p>
            <a:endParaRPr lang="en-US"/>
          </a:p>
        </p:txBody>
      </p:sp>
      <p:sp>
        <p:nvSpPr>
          <p:cNvPr id="137" name="TB137"/>
          <p:cNvSpPr txBox="1"/>
          <p:nvPr/>
        </p:nvSpPr>
        <p:spPr>
          <a:xfrm>
            <a:off x="9079992" y="2240280"/>
            <a:ext cx="2377440" cy="502920"/>
          </a:xfrm>
          <a:prstGeom prst="rect">
            <a:avLst/>
          </a:prstGeom>
          <a:noFill/>
        </p:spPr>
        <p:txBody>
          <a:bodyPr wrap="square" rtlCol="0" anchor="ctr"/>
          <a:lstStyle/>
          <a:p>
            <a:pPr algn="ctr"/>
            <a:r>
              <a:rPr lang="en-US" sz="2800" b="1" dirty="0">
                <a:solidFill>
                  <a:schemeClr val="tx2"/>
                </a:solidFill>
                <a:latin typeface="Trebuchet MS"/>
              </a:rPr>
              <a:t>17.0%</a:t>
            </a:r>
          </a:p>
        </p:txBody>
      </p:sp>
      <p:sp>
        <p:nvSpPr>
          <p:cNvPr id="138" name="TB138"/>
          <p:cNvSpPr txBox="1"/>
          <p:nvPr/>
        </p:nvSpPr>
        <p:spPr>
          <a:xfrm>
            <a:off x="9079992" y="2761488"/>
            <a:ext cx="2377440" cy="274320"/>
          </a:xfrm>
          <a:prstGeom prst="rect">
            <a:avLst/>
          </a:prstGeom>
          <a:noFill/>
        </p:spPr>
        <p:txBody>
          <a:bodyPr wrap="square" rtlCol="0" anchor="ctr"/>
          <a:lstStyle/>
          <a:p>
            <a:pPr algn="ctr"/>
            <a:r>
              <a:rPr lang="en-US" sz="1200" dirty="0">
                <a:solidFill>
                  <a:srgbClr val="575757"/>
                </a:solidFill>
                <a:latin typeface="Trebuchet MS"/>
              </a:rPr>
              <a:t>Headline refund rate</a:t>
            </a:r>
          </a:p>
        </p:txBody>
      </p:sp>
      <p:sp>
        <p:nvSpPr>
          <p:cNvPr id="139" name="TB139"/>
          <p:cNvSpPr txBox="1"/>
          <p:nvPr/>
        </p:nvSpPr>
        <p:spPr>
          <a:xfrm>
            <a:off x="9079992" y="3081528"/>
            <a:ext cx="2377440" cy="228600"/>
          </a:xfrm>
          <a:prstGeom prst="rect">
            <a:avLst/>
          </a:prstGeom>
          <a:noFill/>
        </p:spPr>
        <p:txBody>
          <a:bodyPr wrap="square" rtlCol="0" anchor="ctr"/>
          <a:lstStyle/>
          <a:p>
            <a:pPr algn="ctr"/>
            <a:r>
              <a:rPr lang="en-US" sz="1100" b="1" dirty="0">
                <a:solidFill>
                  <a:schemeClr val="tx2"/>
                </a:solidFill>
                <a:latin typeface="Trebuchet MS"/>
              </a:rPr>
              <a:t>+Refunds / total</a:t>
            </a:r>
          </a:p>
        </p:txBody>
      </p:sp>
      <p:sp>
        <p:nvSpPr>
          <p:cNvPr id="140" name="RR140"/>
          <p:cNvSpPr/>
          <p:nvPr/>
        </p:nvSpPr>
        <p:spPr>
          <a:xfrm>
            <a:off x="630936" y="4315968"/>
            <a:ext cx="10936224" cy="457200"/>
          </a:xfrm>
          <a:prstGeom prst="roundRect">
            <a:avLst>
              <a:gd name="adj" fmla="val 8000"/>
            </a:avLst>
          </a:prstGeom>
          <a:solidFill>
            <a:schemeClr val="tx2"/>
          </a:solidFill>
          <a:ln>
            <a:noFill/>
          </a:ln>
        </p:spPr>
        <p:txBody>
          <a:bodyPr/>
          <a:lstStyle/>
          <a:p>
            <a:endParaRPr lang="en-US"/>
          </a:p>
        </p:txBody>
      </p:sp>
      <p:sp>
        <p:nvSpPr>
          <p:cNvPr id="141" name="TB141"/>
          <p:cNvSpPr txBox="1"/>
          <p:nvPr/>
        </p:nvSpPr>
        <p:spPr>
          <a:xfrm>
            <a:off x="768096" y="4361688"/>
            <a:ext cx="10661904" cy="365760"/>
          </a:xfrm>
          <a:prstGeom prst="rect">
            <a:avLst/>
          </a:prstGeom>
          <a:noFill/>
        </p:spPr>
        <p:txBody>
          <a:bodyPr wrap="square" rtlCol="0" anchor="ctr"/>
          <a:lstStyle/>
          <a:p>
            <a:pPr algn="ctr"/>
            <a:r>
              <a:rPr lang="en-US" sz="1400" b="1" dirty="0">
                <a:solidFill>
                  <a:srgbClr val="FFFFFF"/>
                </a:solidFill>
                <a:latin typeface="Trebuchet MS"/>
              </a:rPr>
              <a:t>Refunders averaged 24.6% attendance versus 82.6% for stayers, a 58-point gap that holds across every cut of the data</a:t>
            </a:r>
          </a:p>
        </p:txBody>
      </p:sp>
      <p:sp>
        <p:nvSpPr>
          <p:cNvPr id="142" name="RR142"/>
          <p:cNvSpPr/>
          <p:nvPr/>
        </p:nvSpPr>
        <p:spPr>
          <a:xfrm>
            <a:off x="630936" y="4937760"/>
            <a:ext cx="3535680" cy="7772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43" name="R143"/>
          <p:cNvSpPr/>
          <p:nvPr/>
        </p:nvSpPr>
        <p:spPr>
          <a:xfrm>
            <a:off x="630936" y="4937760"/>
            <a:ext cx="3535680" cy="54864"/>
          </a:xfrm>
          <a:prstGeom prst="rect">
            <a:avLst/>
          </a:prstGeom>
          <a:solidFill>
            <a:schemeClr val="tx2"/>
          </a:solidFill>
          <a:ln>
            <a:noFill/>
          </a:ln>
        </p:spPr>
        <p:txBody>
          <a:bodyPr/>
          <a:lstStyle/>
          <a:p>
            <a:endParaRPr lang="en-US"/>
          </a:p>
        </p:txBody>
      </p:sp>
      <p:sp>
        <p:nvSpPr>
          <p:cNvPr id="144" name="TB144"/>
          <p:cNvSpPr txBox="1"/>
          <p:nvPr/>
        </p:nvSpPr>
        <p:spPr>
          <a:xfrm>
            <a:off x="768096" y="5001768"/>
            <a:ext cx="3261360" cy="329184"/>
          </a:xfrm>
          <a:prstGeom prst="rect">
            <a:avLst/>
          </a:prstGeom>
          <a:noFill/>
        </p:spPr>
        <p:txBody>
          <a:bodyPr wrap="square" rtlCol="0" anchor="ctr"/>
          <a:lstStyle/>
          <a:p>
            <a:pPr algn="ctr"/>
            <a:r>
              <a:rPr lang="en-US" sz="2000" b="1" dirty="0">
                <a:solidFill>
                  <a:schemeClr val="tx2"/>
                </a:solidFill>
                <a:latin typeface="Trebuchet MS"/>
              </a:rPr>
              <a:t>24.6%</a:t>
            </a:r>
          </a:p>
        </p:txBody>
      </p:sp>
      <p:sp>
        <p:nvSpPr>
          <p:cNvPr id="145" name="TB145"/>
          <p:cNvSpPr txBox="1"/>
          <p:nvPr/>
        </p:nvSpPr>
        <p:spPr>
          <a:xfrm>
            <a:off x="768096" y="5330952"/>
            <a:ext cx="3261360" cy="182880"/>
          </a:xfrm>
          <a:prstGeom prst="rect">
            <a:avLst/>
          </a:prstGeom>
          <a:noFill/>
        </p:spPr>
        <p:txBody>
          <a:bodyPr wrap="square" rtlCol="0" anchor="t"/>
          <a:lstStyle/>
          <a:p>
            <a:pPr algn="ctr"/>
            <a:r>
              <a:rPr lang="en-US" sz="1200" b="1" dirty="0">
                <a:solidFill>
                  <a:srgbClr val="575757"/>
                </a:solidFill>
                <a:latin typeface="Trebuchet MS"/>
              </a:rPr>
              <a:t>Refunder avg attendance</a:t>
            </a:r>
          </a:p>
        </p:txBody>
      </p:sp>
      <p:sp>
        <p:nvSpPr>
          <p:cNvPr id="146" name="TB146"/>
          <p:cNvSpPr txBox="1"/>
          <p:nvPr/>
        </p:nvSpPr>
        <p:spPr>
          <a:xfrm>
            <a:off x="768096" y="5504688"/>
            <a:ext cx="3261360" cy="182880"/>
          </a:xfrm>
          <a:prstGeom prst="rect">
            <a:avLst/>
          </a:prstGeom>
          <a:noFill/>
        </p:spPr>
        <p:txBody>
          <a:bodyPr wrap="square" rtlCol="0" anchor="t"/>
          <a:lstStyle/>
          <a:p>
            <a:pPr algn="ctr"/>
            <a:r>
              <a:rPr lang="en-US" sz="1200" dirty="0">
                <a:solidFill>
                  <a:srgbClr val="6E6F73"/>
                </a:solidFill>
                <a:latin typeface="Trebuchet MS"/>
              </a:rPr>
              <a:t>Across 281 refunders</a:t>
            </a:r>
          </a:p>
        </p:txBody>
      </p:sp>
      <p:sp>
        <p:nvSpPr>
          <p:cNvPr id="147" name="RR147"/>
          <p:cNvSpPr/>
          <p:nvPr/>
        </p:nvSpPr>
        <p:spPr>
          <a:xfrm>
            <a:off x="4331208" y="4937760"/>
            <a:ext cx="3535680" cy="7772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48" name="R148"/>
          <p:cNvSpPr/>
          <p:nvPr/>
        </p:nvSpPr>
        <p:spPr>
          <a:xfrm>
            <a:off x="4331208" y="4937760"/>
            <a:ext cx="3535680" cy="54864"/>
          </a:xfrm>
          <a:prstGeom prst="rect">
            <a:avLst/>
          </a:prstGeom>
          <a:solidFill>
            <a:schemeClr val="tx2"/>
          </a:solidFill>
          <a:ln>
            <a:noFill/>
          </a:ln>
        </p:spPr>
        <p:txBody>
          <a:bodyPr/>
          <a:lstStyle/>
          <a:p>
            <a:endParaRPr lang="en-US"/>
          </a:p>
        </p:txBody>
      </p:sp>
      <p:sp>
        <p:nvSpPr>
          <p:cNvPr id="149" name="TB149"/>
          <p:cNvSpPr txBox="1"/>
          <p:nvPr/>
        </p:nvSpPr>
        <p:spPr>
          <a:xfrm>
            <a:off x="4468368" y="5001768"/>
            <a:ext cx="3261360" cy="329184"/>
          </a:xfrm>
          <a:prstGeom prst="rect">
            <a:avLst/>
          </a:prstGeom>
          <a:noFill/>
        </p:spPr>
        <p:txBody>
          <a:bodyPr wrap="square" rtlCol="0" anchor="ctr"/>
          <a:lstStyle/>
          <a:p>
            <a:pPr algn="ctr"/>
            <a:r>
              <a:rPr lang="en-US" sz="2000" b="1" dirty="0">
                <a:solidFill>
                  <a:schemeClr val="tx2"/>
                </a:solidFill>
                <a:latin typeface="Trebuchet MS"/>
              </a:rPr>
              <a:t>82.6%</a:t>
            </a:r>
          </a:p>
        </p:txBody>
      </p:sp>
      <p:sp>
        <p:nvSpPr>
          <p:cNvPr id="150" name="TB150"/>
          <p:cNvSpPr txBox="1"/>
          <p:nvPr/>
        </p:nvSpPr>
        <p:spPr>
          <a:xfrm>
            <a:off x="4468368" y="5330952"/>
            <a:ext cx="3261360" cy="182880"/>
          </a:xfrm>
          <a:prstGeom prst="rect">
            <a:avLst/>
          </a:prstGeom>
          <a:noFill/>
        </p:spPr>
        <p:txBody>
          <a:bodyPr wrap="square" rtlCol="0" anchor="t"/>
          <a:lstStyle/>
          <a:p>
            <a:pPr algn="ctr"/>
            <a:r>
              <a:rPr lang="en-US" sz="1200" b="1" dirty="0">
                <a:solidFill>
                  <a:srgbClr val="575757"/>
                </a:solidFill>
                <a:latin typeface="Trebuchet MS"/>
              </a:rPr>
              <a:t>Non-refunder avg attendance</a:t>
            </a:r>
          </a:p>
        </p:txBody>
      </p:sp>
      <p:sp>
        <p:nvSpPr>
          <p:cNvPr id="151" name="TB151"/>
          <p:cNvSpPr txBox="1"/>
          <p:nvPr/>
        </p:nvSpPr>
        <p:spPr>
          <a:xfrm>
            <a:off x="4468368" y="5504688"/>
            <a:ext cx="3261360" cy="182880"/>
          </a:xfrm>
          <a:prstGeom prst="rect">
            <a:avLst/>
          </a:prstGeom>
          <a:noFill/>
        </p:spPr>
        <p:txBody>
          <a:bodyPr wrap="square" rtlCol="0" anchor="t"/>
          <a:lstStyle/>
          <a:p>
            <a:pPr algn="ctr"/>
            <a:r>
              <a:rPr lang="en-US" sz="1200" dirty="0">
                <a:solidFill>
                  <a:srgbClr val="6E6F73"/>
                </a:solidFill>
                <a:latin typeface="Trebuchet MS"/>
              </a:rPr>
              <a:t>Across 1,368 stayers</a:t>
            </a:r>
          </a:p>
        </p:txBody>
      </p:sp>
      <p:sp>
        <p:nvSpPr>
          <p:cNvPr id="152" name="RR152"/>
          <p:cNvSpPr/>
          <p:nvPr/>
        </p:nvSpPr>
        <p:spPr>
          <a:xfrm>
            <a:off x="8031480" y="4937760"/>
            <a:ext cx="3535680" cy="777240"/>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53" name="R153"/>
          <p:cNvSpPr/>
          <p:nvPr/>
        </p:nvSpPr>
        <p:spPr>
          <a:xfrm>
            <a:off x="8031480" y="4937760"/>
            <a:ext cx="3535680" cy="54864"/>
          </a:xfrm>
          <a:prstGeom prst="rect">
            <a:avLst/>
          </a:prstGeom>
          <a:solidFill>
            <a:schemeClr val="tx2"/>
          </a:solidFill>
          <a:ln>
            <a:noFill/>
          </a:ln>
        </p:spPr>
        <p:txBody>
          <a:bodyPr/>
          <a:lstStyle/>
          <a:p>
            <a:endParaRPr lang="en-US"/>
          </a:p>
        </p:txBody>
      </p:sp>
      <p:sp>
        <p:nvSpPr>
          <p:cNvPr id="154" name="TB154"/>
          <p:cNvSpPr txBox="1"/>
          <p:nvPr/>
        </p:nvSpPr>
        <p:spPr>
          <a:xfrm>
            <a:off x="8168640" y="5001768"/>
            <a:ext cx="3261360" cy="329184"/>
          </a:xfrm>
          <a:prstGeom prst="rect">
            <a:avLst/>
          </a:prstGeom>
          <a:noFill/>
        </p:spPr>
        <p:txBody>
          <a:bodyPr wrap="square" rtlCol="0" anchor="ctr"/>
          <a:lstStyle/>
          <a:p>
            <a:pPr algn="ctr"/>
            <a:r>
              <a:rPr lang="en-US" sz="2000" b="1" dirty="0">
                <a:solidFill>
                  <a:schemeClr val="tx2"/>
                </a:solidFill>
                <a:latin typeface="Trebuchet MS"/>
              </a:rPr>
              <a:t>58 pts</a:t>
            </a:r>
          </a:p>
        </p:txBody>
      </p:sp>
      <p:sp>
        <p:nvSpPr>
          <p:cNvPr id="155" name="TB155"/>
          <p:cNvSpPr txBox="1"/>
          <p:nvPr/>
        </p:nvSpPr>
        <p:spPr>
          <a:xfrm>
            <a:off x="8168640" y="5330952"/>
            <a:ext cx="3261360" cy="182880"/>
          </a:xfrm>
          <a:prstGeom prst="rect">
            <a:avLst/>
          </a:prstGeom>
          <a:noFill/>
        </p:spPr>
        <p:txBody>
          <a:bodyPr wrap="square" rtlCol="0" anchor="t"/>
          <a:lstStyle/>
          <a:p>
            <a:pPr algn="ctr"/>
            <a:r>
              <a:rPr lang="en-US" sz="1200" b="1" dirty="0">
                <a:solidFill>
                  <a:srgbClr val="575757"/>
                </a:solidFill>
                <a:latin typeface="Trebuchet MS"/>
              </a:rPr>
              <a:t>Attendance gap</a:t>
            </a:r>
          </a:p>
        </p:txBody>
      </p:sp>
      <p:sp>
        <p:nvSpPr>
          <p:cNvPr id="156" name="TB156"/>
          <p:cNvSpPr txBox="1"/>
          <p:nvPr/>
        </p:nvSpPr>
        <p:spPr>
          <a:xfrm>
            <a:off x="8168640" y="5504688"/>
            <a:ext cx="3261360" cy="182880"/>
          </a:xfrm>
          <a:prstGeom prst="rect">
            <a:avLst/>
          </a:prstGeom>
          <a:noFill/>
        </p:spPr>
        <p:txBody>
          <a:bodyPr wrap="square" rtlCol="0" anchor="t"/>
          <a:lstStyle/>
          <a:p>
            <a:pPr algn="ctr"/>
            <a:r>
              <a:rPr lang="en-US" sz="1200" dirty="0">
                <a:solidFill>
                  <a:srgbClr val="6E6F73"/>
                </a:solidFill>
                <a:latin typeface="Trebuchet MS"/>
              </a:rPr>
              <a:t>Largest single signal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ph_title"/>
          <p:cNvSpPr>
            <a:spLocks noGrp="1"/>
          </p:cNvSpPr>
          <p:nvPr>
            <p:ph type="title"/>
          </p:nvPr>
        </p:nvSpPr>
        <p:spPr/>
        <p:txBody>
          <a:bodyPr/>
          <a:lstStyle/>
          <a:p>
            <a:r>
              <a:rPr lang="en-US" dirty="0"/>
              <a:t>Why are learners requesting refunds?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ph_title"/>
          <p:cNvSpPr>
            <a:spLocks noGrp="1"/>
          </p:cNvSpPr>
          <p:nvPr>
            <p:ph type="title"/>
          </p:nvPr>
        </p:nvSpPr>
        <p:spPr/>
        <p:txBody>
          <a:bodyPr/>
          <a:lstStyle/>
          <a:p>
            <a:r>
              <a:rPr lang="en-US" dirty="0"/>
              <a:t>Three reason buckets cover two-thirds of refund cases</a:t>
            </a:r>
          </a:p>
        </p:txBody>
      </p:sp>
      <p:sp>
        <p:nvSpPr>
          <p:cNvPr id="159" name="TB159"/>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 | n=281 with recorded reason text</a:t>
            </a:r>
          </a:p>
        </p:txBody>
      </p:sp>
      <p:sp>
        <p:nvSpPr>
          <p:cNvPr id="160" name="R160"/>
          <p:cNvSpPr/>
          <p:nvPr/>
        </p:nvSpPr>
        <p:spPr>
          <a:xfrm>
            <a:off x="5934455" y="2075688"/>
            <a:ext cx="91440" cy="777240"/>
          </a:xfrm>
          <a:prstGeom prst="rect">
            <a:avLst/>
          </a:prstGeom>
          <a:solidFill>
            <a:schemeClr val="tx2"/>
          </a:solidFill>
          <a:ln>
            <a:noFill/>
          </a:ln>
        </p:spPr>
        <p:txBody>
          <a:bodyPr/>
          <a:lstStyle/>
          <a:p>
            <a:endParaRPr lang="en-US"/>
          </a:p>
        </p:txBody>
      </p:sp>
      <p:sp>
        <p:nvSpPr>
          <p:cNvPr id="161" name="R161"/>
          <p:cNvSpPr/>
          <p:nvPr/>
        </p:nvSpPr>
        <p:spPr>
          <a:xfrm>
            <a:off x="6025895" y="2075688"/>
            <a:ext cx="5541264" cy="777240"/>
          </a:xfrm>
          <a:prstGeom prst="rect">
            <a:avLst/>
          </a:prstGeom>
          <a:solidFill>
            <a:srgbClr val="F2F2F2"/>
          </a:solidFill>
          <a:ln w="9525">
            <a:solidFill>
              <a:srgbClr val="F2F2F2"/>
            </a:solidFill>
          </a:ln>
        </p:spPr>
        <p:txBody>
          <a:bodyPr/>
          <a:lstStyle/>
          <a:p>
            <a:endParaRPr lang="en-US"/>
          </a:p>
        </p:txBody>
      </p:sp>
      <p:sp>
        <p:nvSpPr>
          <p:cNvPr id="162" name="TB162"/>
          <p:cNvSpPr txBox="1"/>
          <p:nvPr/>
        </p:nvSpPr>
        <p:spPr>
          <a:xfrm>
            <a:off x="6117335" y="2121408"/>
            <a:ext cx="914400" cy="457200"/>
          </a:xfrm>
          <a:prstGeom prst="rect">
            <a:avLst/>
          </a:prstGeom>
          <a:noFill/>
        </p:spPr>
        <p:txBody>
          <a:bodyPr wrap="square" rtlCol="0" anchor="ctr"/>
          <a:lstStyle/>
          <a:p>
            <a:r>
              <a:rPr lang="en-US" sz="2200" b="1" dirty="0">
                <a:solidFill>
                  <a:srgbClr val="0C2036"/>
                </a:solidFill>
                <a:latin typeface="Trebuchet MS"/>
              </a:rPr>
              <a:t>26%</a:t>
            </a:r>
          </a:p>
        </p:txBody>
      </p:sp>
      <p:sp>
        <p:nvSpPr>
          <p:cNvPr id="163" name="TB163"/>
          <p:cNvSpPr txBox="1"/>
          <p:nvPr/>
        </p:nvSpPr>
        <p:spPr>
          <a:xfrm>
            <a:off x="7077455" y="2121408"/>
            <a:ext cx="4398264" cy="292608"/>
          </a:xfrm>
          <a:prstGeom prst="rect">
            <a:avLst/>
          </a:prstGeom>
          <a:noFill/>
        </p:spPr>
        <p:txBody>
          <a:bodyPr wrap="square" rtlCol="0" anchor="ctr"/>
          <a:lstStyle/>
          <a:p>
            <a:r>
              <a:rPr lang="en-US" sz="1600" b="1" dirty="0">
                <a:solidFill>
                  <a:srgbClr val="575757"/>
                </a:solidFill>
                <a:latin typeface="Trebuchet MS"/>
              </a:rPr>
              <a:t>Personal / Family / Medical</a:t>
            </a:r>
          </a:p>
        </p:txBody>
      </p:sp>
      <p:sp>
        <p:nvSpPr>
          <p:cNvPr id="164" name="TB164"/>
          <p:cNvSpPr txBox="1"/>
          <p:nvPr/>
        </p:nvSpPr>
        <p:spPr>
          <a:xfrm>
            <a:off x="7077455" y="2441448"/>
            <a:ext cx="4398264" cy="365759"/>
          </a:xfrm>
          <a:prstGeom prst="rect">
            <a:avLst/>
          </a:prstGeom>
          <a:noFill/>
        </p:spPr>
        <p:txBody>
          <a:bodyPr wrap="square" rtlCol="0" anchor="t"/>
          <a:lstStyle/>
          <a:p>
            <a:r>
              <a:rPr lang="en-US" sz="1200" dirty="0">
                <a:solidFill>
                  <a:srgbClr val="575757"/>
                </a:solidFill>
                <a:latin typeface="Trebuchet MS"/>
              </a:rPr>
              <a:t>73 cases. Marriage, surgery, family emergency. Mostly outside Scaler's control.</a:t>
            </a:r>
          </a:p>
        </p:txBody>
      </p:sp>
      <p:sp>
        <p:nvSpPr>
          <p:cNvPr id="165" name="R165"/>
          <p:cNvSpPr/>
          <p:nvPr/>
        </p:nvSpPr>
        <p:spPr>
          <a:xfrm>
            <a:off x="5934455" y="2962656"/>
            <a:ext cx="91440" cy="777240"/>
          </a:xfrm>
          <a:prstGeom prst="rect">
            <a:avLst/>
          </a:prstGeom>
          <a:solidFill>
            <a:srgbClr val="448AD7"/>
          </a:solidFill>
          <a:ln>
            <a:noFill/>
          </a:ln>
        </p:spPr>
        <p:txBody>
          <a:bodyPr/>
          <a:lstStyle/>
          <a:p>
            <a:endParaRPr lang="en-US"/>
          </a:p>
        </p:txBody>
      </p:sp>
      <p:sp>
        <p:nvSpPr>
          <p:cNvPr id="166" name="R166"/>
          <p:cNvSpPr/>
          <p:nvPr/>
        </p:nvSpPr>
        <p:spPr>
          <a:xfrm>
            <a:off x="6025895" y="2962656"/>
            <a:ext cx="5541264" cy="777240"/>
          </a:xfrm>
          <a:prstGeom prst="rect">
            <a:avLst/>
          </a:prstGeom>
          <a:solidFill>
            <a:srgbClr val="F2F2F2"/>
          </a:solidFill>
          <a:ln w="9525">
            <a:solidFill>
              <a:srgbClr val="F2F2F2"/>
            </a:solidFill>
          </a:ln>
        </p:spPr>
        <p:txBody>
          <a:bodyPr/>
          <a:lstStyle/>
          <a:p>
            <a:endParaRPr lang="en-US"/>
          </a:p>
        </p:txBody>
      </p:sp>
      <p:sp>
        <p:nvSpPr>
          <p:cNvPr id="167" name="TB167"/>
          <p:cNvSpPr txBox="1"/>
          <p:nvPr/>
        </p:nvSpPr>
        <p:spPr>
          <a:xfrm>
            <a:off x="6117335" y="3008376"/>
            <a:ext cx="914400" cy="457200"/>
          </a:xfrm>
          <a:prstGeom prst="rect">
            <a:avLst/>
          </a:prstGeom>
          <a:noFill/>
        </p:spPr>
        <p:txBody>
          <a:bodyPr wrap="square" rtlCol="0" anchor="ctr"/>
          <a:lstStyle/>
          <a:p>
            <a:r>
              <a:rPr lang="en-US" sz="2200" b="1" dirty="0">
                <a:solidFill>
                  <a:srgbClr val="448AD7"/>
                </a:solidFill>
                <a:latin typeface="Trebuchet MS"/>
              </a:rPr>
              <a:t>21%</a:t>
            </a:r>
          </a:p>
        </p:txBody>
      </p:sp>
      <p:sp>
        <p:nvSpPr>
          <p:cNvPr id="168" name="TB168"/>
          <p:cNvSpPr txBox="1"/>
          <p:nvPr/>
        </p:nvSpPr>
        <p:spPr>
          <a:xfrm>
            <a:off x="7077455" y="3008376"/>
            <a:ext cx="4398264" cy="292608"/>
          </a:xfrm>
          <a:prstGeom prst="rect">
            <a:avLst/>
          </a:prstGeom>
          <a:noFill/>
        </p:spPr>
        <p:txBody>
          <a:bodyPr wrap="square" rtlCol="0" anchor="ctr"/>
          <a:lstStyle/>
          <a:p>
            <a:r>
              <a:rPr lang="en-US" sz="1600" b="1" dirty="0">
                <a:solidFill>
                  <a:srgbClr val="575757"/>
                </a:solidFill>
                <a:latin typeface="Trebuchet MS"/>
              </a:rPr>
              <a:t>Financial barriers</a:t>
            </a:r>
          </a:p>
        </p:txBody>
      </p:sp>
      <p:sp>
        <p:nvSpPr>
          <p:cNvPr id="169" name="TB169"/>
          <p:cNvSpPr txBox="1"/>
          <p:nvPr/>
        </p:nvSpPr>
        <p:spPr>
          <a:xfrm>
            <a:off x="7077455" y="3328416"/>
            <a:ext cx="4398264" cy="365759"/>
          </a:xfrm>
          <a:prstGeom prst="rect">
            <a:avLst/>
          </a:prstGeom>
          <a:noFill/>
        </p:spPr>
        <p:txBody>
          <a:bodyPr wrap="square" rtlCol="0" anchor="t"/>
          <a:lstStyle/>
          <a:p>
            <a:r>
              <a:rPr lang="en-US" sz="1200" dirty="0">
                <a:solidFill>
                  <a:srgbClr val="575757"/>
                </a:solidFill>
                <a:latin typeface="Trebuchet MS"/>
              </a:rPr>
              <a:t>60 cases. Loan rejection, affordability, pricing concerns. Preventable upstream.</a:t>
            </a:r>
          </a:p>
        </p:txBody>
      </p:sp>
      <p:sp>
        <p:nvSpPr>
          <p:cNvPr id="170" name="R170"/>
          <p:cNvSpPr/>
          <p:nvPr/>
        </p:nvSpPr>
        <p:spPr>
          <a:xfrm>
            <a:off x="5934455" y="3849624"/>
            <a:ext cx="91440" cy="777240"/>
          </a:xfrm>
          <a:prstGeom prst="rect">
            <a:avLst/>
          </a:prstGeom>
          <a:solidFill>
            <a:srgbClr val="C1D8F2"/>
          </a:solidFill>
          <a:ln>
            <a:solidFill>
              <a:srgbClr val="C1D8F2"/>
            </a:solidFill>
          </a:ln>
        </p:spPr>
        <p:txBody>
          <a:bodyPr/>
          <a:lstStyle/>
          <a:p>
            <a:endParaRPr lang="en-US"/>
          </a:p>
        </p:txBody>
      </p:sp>
      <p:sp>
        <p:nvSpPr>
          <p:cNvPr id="171" name="R171"/>
          <p:cNvSpPr/>
          <p:nvPr/>
        </p:nvSpPr>
        <p:spPr>
          <a:xfrm>
            <a:off x="6025895" y="3849624"/>
            <a:ext cx="5541264" cy="777240"/>
          </a:xfrm>
          <a:prstGeom prst="rect">
            <a:avLst/>
          </a:prstGeom>
          <a:solidFill>
            <a:srgbClr val="F2F2F2"/>
          </a:solidFill>
          <a:ln w="9525">
            <a:solidFill>
              <a:srgbClr val="F2F2F2"/>
            </a:solidFill>
          </a:ln>
        </p:spPr>
        <p:txBody>
          <a:bodyPr/>
          <a:lstStyle/>
          <a:p>
            <a:endParaRPr lang="en-US"/>
          </a:p>
        </p:txBody>
      </p:sp>
      <p:sp>
        <p:nvSpPr>
          <p:cNvPr id="172" name="TB172"/>
          <p:cNvSpPr txBox="1"/>
          <p:nvPr/>
        </p:nvSpPr>
        <p:spPr>
          <a:xfrm>
            <a:off x="6117335" y="3895344"/>
            <a:ext cx="914400" cy="457200"/>
          </a:xfrm>
          <a:prstGeom prst="rect">
            <a:avLst/>
          </a:prstGeom>
          <a:noFill/>
        </p:spPr>
        <p:txBody>
          <a:bodyPr wrap="square" rtlCol="0" anchor="ctr"/>
          <a:lstStyle/>
          <a:p>
            <a:r>
              <a:rPr lang="en-US" sz="2200" b="1" dirty="0">
                <a:solidFill>
                  <a:srgbClr val="C1D8F2"/>
                </a:solidFill>
                <a:latin typeface="Trebuchet MS"/>
              </a:rPr>
              <a:t>14%</a:t>
            </a:r>
          </a:p>
        </p:txBody>
      </p:sp>
      <p:sp>
        <p:nvSpPr>
          <p:cNvPr id="173" name="TB173"/>
          <p:cNvSpPr txBox="1"/>
          <p:nvPr/>
        </p:nvSpPr>
        <p:spPr>
          <a:xfrm>
            <a:off x="7077455" y="3895344"/>
            <a:ext cx="4398264" cy="292608"/>
          </a:xfrm>
          <a:prstGeom prst="rect">
            <a:avLst/>
          </a:prstGeom>
          <a:noFill/>
        </p:spPr>
        <p:txBody>
          <a:bodyPr wrap="square" rtlCol="0" anchor="ctr"/>
          <a:lstStyle/>
          <a:p>
            <a:r>
              <a:rPr lang="en-US" sz="1600" b="1" dirty="0">
                <a:solidFill>
                  <a:srgbClr val="575757"/>
                </a:solidFill>
                <a:latin typeface="Trebuchet MS"/>
              </a:rPr>
              <a:t>Career events</a:t>
            </a:r>
          </a:p>
        </p:txBody>
      </p:sp>
      <p:sp>
        <p:nvSpPr>
          <p:cNvPr id="174" name="TB174"/>
          <p:cNvSpPr txBox="1"/>
          <p:nvPr/>
        </p:nvSpPr>
        <p:spPr>
          <a:xfrm>
            <a:off x="7077455" y="4215384"/>
            <a:ext cx="4398264" cy="365759"/>
          </a:xfrm>
          <a:prstGeom prst="rect">
            <a:avLst/>
          </a:prstGeom>
          <a:noFill/>
        </p:spPr>
        <p:txBody>
          <a:bodyPr wrap="square" rtlCol="0" anchor="t"/>
          <a:lstStyle/>
          <a:p>
            <a:r>
              <a:rPr lang="en-US" sz="1200" dirty="0">
                <a:solidFill>
                  <a:srgbClr val="575757"/>
                </a:solidFill>
                <a:latin typeface="Trebuchet MS"/>
              </a:rPr>
              <a:t>38 cases. New job, relocation, promotions changing the calculus.</a:t>
            </a:r>
          </a:p>
        </p:txBody>
      </p:sp>
      <p:sp>
        <p:nvSpPr>
          <p:cNvPr id="175" name="R175"/>
          <p:cNvSpPr/>
          <p:nvPr/>
        </p:nvSpPr>
        <p:spPr>
          <a:xfrm>
            <a:off x="5934455" y="4736592"/>
            <a:ext cx="91440" cy="777240"/>
          </a:xfrm>
          <a:prstGeom prst="rect">
            <a:avLst/>
          </a:prstGeom>
          <a:solidFill>
            <a:srgbClr val="6E6F73"/>
          </a:solidFill>
          <a:ln>
            <a:noFill/>
          </a:ln>
        </p:spPr>
        <p:txBody>
          <a:bodyPr/>
          <a:lstStyle/>
          <a:p>
            <a:endParaRPr lang="en-US"/>
          </a:p>
        </p:txBody>
      </p:sp>
      <p:sp>
        <p:nvSpPr>
          <p:cNvPr id="176" name="R176"/>
          <p:cNvSpPr/>
          <p:nvPr/>
        </p:nvSpPr>
        <p:spPr>
          <a:xfrm>
            <a:off x="6025895" y="4736592"/>
            <a:ext cx="5541264" cy="777240"/>
          </a:xfrm>
          <a:prstGeom prst="rect">
            <a:avLst/>
          </a:prstGeom>
          <a:solidFill>
            <a:srgbClr val="F2F2F2"/>
          </a:solidFill>
          <a:ln w="9525">
            <a:solidFill>
              <a:srgbClr val="F2F2F2"/>
            </a:solidFill>
          </a:ln>
        </p:spPr>
        <p:txBody>
          <a:bodyPr/>
          <a:lstStyle/>
          <a:p>
            <a:endParaRPr lang="en-US"/>
          </a:p>
        </p:txBody>
      </p:sp>
      <p:sp>
        <p:nvSpPr>
          <p:cNvPr id="177" name="TB177"/>
          <p:cNvSpPr txBox="1"/>
          <p:nvPr/>
        </p:nvSpPr>
        <p:spPr>
          <a:xfrm>
            <a:off x="6117335" y="4782312"/>
            <a:ext cx="914400" cy="457200"/>
          </a:xfrm>
          <a:prstGeom prst="rect">
            <a:avLst/>
          </a:prstGeom>
          <a:noFill/>
        </p:spPr>
        <p:txBody>
          <a:bodyPr wrap="square" rtlCol="0" anchor="ctr"/>
          <a:lstStyle/>
          <a:p>
            <a:r>
              <a:rPr lang="en-US" sz="2200" b="1" dirty="0">
                <a:solidFill>
                  <a:srgbClr val="6E6F73"/>
                </a:solidFill>
                <a:latin typeface="Trebuchet MS"/>
              </a:rPr>
              <a:t>39%</a:t>
            </a:r>
          </a:p>
        </p:txBody>
      </p:sp>
      <p:sp>
        <p:nvSpPr>
          <p:cNvPr id="178" name="TB178"/>
          <p:cNvSpPr txBox="1"/>
          <p:nvPr/>
        </p:nvSpPr>
        <p:spPr>
          <a:xfrm>
            <a:off x="7077455" y="4782312"/>
            <a:ext cx="4398264" cy="292608"/>
          </a:xfrm>
          <a:prstGeom prst="rect">
            <a:avLst/>
          </a:prstGeom>
          <a:noFill/>
        </p:spPr>
        <p:txBody>
          <a:bodyPr wrap="square" rtlCol="0" anchor="ctr"/>
          <a:lstStyle/>
          <a:p>
            <a:r>
              <a:rPr lang="en-US" sz="1600" b="1" dirty="0">
                <a:solidFill>
                  <a:srgbClr val="575757"/>
                </a:solidFill>
                <a:latin typeface="Trebuchet MS"/>
              </a:rPr>
              <a:t>Operational &amp; other</a:t>
            </a:r>
          </a:p>
        </p:txBody>
      </p:sp>
      <p:sp>
        <p:nvSpPr>
          <p:cNvPr id="179" name="TB179"/>
          <p:cNvSpPr txBox="1"/>
          <p:nvPr/>
        </p:nvSpPr>
        <p:spPr>
          <a:xfrm>
            <a:off x="7077455" y="5102352"/>
            <a:ext cx="4398264" cy="365759"/>
          </a:xfrm>
          <a:prstGeom prst="rect">
            <a:avLst/>
          </a:prstGeom>
          <a:noFill/>
        </p:spPr>
        <p:txBody>
          <a:bodyPr wrap="square" rtlCol="0" anchor="t"/>
          <a:lstStyle/>
          <a:p>
            <a:r>
              <a:rPr lang="en-US" sz="1200" dirty="0">
                <a:solidFill>
                  <a:srgbClr val="575757"/>
                </a:solidFill>
                <a:latin typeface="Trebuchet MS"/>
              </a:rPr>
              <a:t>110 cases. Course expectation mismatch, time pressure, service issues. The lever.</a:t>
            </a:r>
          </a:p>
        </p:txBody>
      </p:sp>
      <p:graphicFrame>
        <p:nvGraphicFramePr>
          <p:cNvPr id="180" name="Chart 179"/>
          <p:cNvGraphicFramePr>
            <a:graphicFrameLocks noGrp="1"/>
          </p:cNvGraphicFramePr>
          <p:nvPr>
            <p:extLst>
              <p:ext uri="{D42A27DB-BD31-4B8C-83A1-F6EECF244321}">
                <p14:modId xmlns:p14="http://schemas.microsoft.com/office/powerpoint/2010/main" val="798706503"/>
              </p:ext>
            </p:extLst>
          </p:nvPr>
        </p:nvGraphicFramePr>
        <p:xfrm>
          <a:off x="630936" y="2075688"/>
          <a:ext cx="5029200" cy="368503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 name="ph_title"/>
          <p:cNvSpPr>
            <a:spLocks noGrp="1"/>
          </p:cNvSpPr>
          <p:nvPr>
            <p:ph type="title"/>
          </p:nvPr>
        </p:nvSpPr>
        <p:spPr/>
        <p:txBody>
          <a:bodyPr/>
          <a:lstStyle/>
          <a:p>
            <a:r>
              <a:rPr lang="en-US" dirty="0"/>
              <a:t>Roughly half of refund reasons are addressable through process or sales-stage changes</a:t>
            </a:r>
          </a:p>
        </p:txBody>
      </p:sp>
      <p:sp>
        <p:nvSpPr>
          <p:cNvPr id="181" name="TB181"/>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 | n=281 with recorded reason text</a:t>
            </a:r>
          </a:p>
        </p:txBody>
      </p:sp>
      <p:sp>
        <p:nvSpPr>
          <p:cNvPr id="182" name="RR182"/>
          <p:cNvSpPr/>
          <p:nvPr/>
        </p:nvSpPr>
        <p:spPr>
          <a:xfrm>
            <a:off x="630936" y="2075688"/>
            <a:ext cx="352348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83" name="R183"/>
          <p:cNvSpPr/>
          <p:nvPr/>
        </p:nvSpPr>
        <p:spPr>
          <a:xfrm>
            <a:off x="630936" y="2075688"/>
            <a:ext cx="3523488" cy="54864"/>
          </a:xfrm>
          <a:prstGeom prst="rect">
            <a:avLst/>
          </a:prstGeom>
          <a:solidFill>
            <a:srgbClr val="6E6F73"/>
          </a:solidFill>
          <a:ln>
            <a:noFill/>
          </a:ln>
        </p:spPr>
        <p:txBody>
          <a:bodyPr/>
          <a:lstStyle/>
          <a:p>
            <a:endParaRPr lang="en-US"/>
          </a:p>
        </p:txBody>
      </p:sp>
      <p:sp>
        <p:nvSpPr>
          <p:cNvPr id="184" name="R184"/>
          <p:cNvSpPr/>
          <p:nvPr/>
        </p:nvSpPr>
        <p:spPr>
          <a:xfrm>
            <a:off x="630936" y="2075688"/>
            <a:ext cx="3523488" cy="292608"/>
          </a:xfrm>
          <a:prstGeom prst="rect">
            <a:avLst/>
          </a:prstGeom>
          <a:solidFill>
            <a:srgbClr val="6E6F73"/>
          </a:solidFill>
          <a:ln>
            <a:noFill/>
          </a:ln>
        </p:spPr>
        <p:txBody>
          <a:bodyPr/>
          <a:lstStyle/>
          <a:p>
            <a:endParaRPr lang="en-US"/>
          </a:p>
        </p:txBody>
      </p:sp>
      <p:sp>
        <p:nvSpPr>
          <p:cNvPr id="185" name="TB185"/>
          <p:cNvSpPr txBox="1"/>
          <p:nvPr/>
        </p:nvSpPr>
        <p:spPr>
          <a:xfrm>
            <a:off x="768096" y="2075688"/>
            <a:ext cx="3249168" cy="292608"/>
          </a:xfrm>
          <a:prstGeom prst="rect">
            <a:avLst/>
          </a:prstGeom>
          <a:noFill/>
        </p:spPr>
        <p:txBody>
          <a:bodyPr wrap="square" rtlCol="0" anchor="ctr"/>
          <a:lstStyle/>
          <a:p>
            <a:pPr algn="ctr"/>
            <a:r>
              <a:rPr lang="en-US" sz="1200" b="1" dirty="0">
                <a:solidFill>
                  <a:srgbClr val="FFFFFF"/>
                </a:solidFill>
                <a:latin typeface="Trebuchet MS"/>
              </a:rPr>
              <a:t>EXTERNAL</a:t>
            </a:r>
          </a:p>
        </p:txBody>
      </p:sp>
      <p:sp>
        <p:nvSpPr>
          <p:cNvPr id="186" name="TB186"/>
          <p:cNvSpPr txBox="1"/>
          <p:nvPr/>
        </p:nvSpPr>
        <p:spPr>
          <a:xfrm>
            <a:off x="768096" y="2487168"/>
            <a:ext cx="3249168" cy="640080"/>
          </a:xfrm>
          <a:prstGeom prst="rect">
            <a:avLst/>
          </a:prstGeom>
          <a:noFill/>
        </p:spPr>
        <p:txBody>
          <a:bodyPr wrap="square" rtlCol="0" anchor="ctr"/>
          <a:lstStyle/>
          <a:p>
            <a:pPr algn="ctr"/>
            <a:r>
              <a:rPr lang="en-US" sz="4400" b="1" dirty="0">
                <a:solidFill>
                  <a:srgbClr val="6E6F73"/>
                </a:solidFill>
                <a:latin typeface="Trebuchet MS"/>
              </a:rPr>
              <a:t>40%</a:t>
            </a:r>
          </a:p>
        </p:txBody>
      </p:sp>
      <p:sp>
        <p:nvSpPr>
          <p:cNvPr id="187" name="TB187"/>
          <p:cNvSpPr txBox="1"/>
          <p:nvPr/>
        </p:nvSpPr>
        <p:spPr>
          <a:xfrm>
            <a:off x="768096" y="3127248"/>
            <a:ext cx="3249168" cy="274320"/>
          </a:xfrm>
          <a:prstGeom prst="rect">
            <a:avLst/>
          </a:prstGeom>
          <a:noFill/>
        </p:spPr>
        <p:txBody>
          <a:bodyPr wrap="square" rtlCol="0" anchor="ctr"/>
          <a:lstStyle/>
          <a:p>
            <a:pPr algn="ctr"/>
            <a:r>
              <a:rPr lang="en-US" sz="1400" b="1" dirty="0">
                <a:solidFill>
                  <a:srgbClr val="575757"/>
                </a:solidFill>
                <a:latin typeface="Trebuchet MS"/>
              </a:rPr>
              <a:t>Outside Scaler's control</a:t>
            </a:r>
          </a:p>
        </p:txBody>
      </p:sp>
      <p:sp>
        <p:nvSpPr>
          <p:cNvPr id="188" name="TB188"/>
          <p:cNvSpPr txBox="1"/>
          <p:nvPr/>
        </p:nvSpPr>
        <p:spPr>
          <a:xfrm>
            <a:off x="813815" y="3493008"/>
            <a:ext cx="2380488" cy="320040"/>
          </a:xfrm>
          <a:prstGeom prst="rect">
            <a:avLst/>
          </a:prstGeom>
          <a:noFill/>
        </p:spPr>
        <p:txBody>
          <a:bodyPr wrap="square" rtlCol="0" anchor="ctr"/>
          <a:lstStyle/>
          <a:p>
            <a:r>
              <a:rPr lang="en-US" sz="1200" dirty="0">
                <a:solidFill>
                  <a:srgbClr val="575757"/>
                </a:solidFill>
                <a:latin typeface="Trebuchet MS"/>
              </a:rPr>
              <a:t>Personal / Family / Medical</a:t>
            </a:r>
          </a:p>
        </p:txBody>
      </p:sp>
      <p:sp>
        <p:nvSpPr>
          <p:cNvPr id="189" name="TB189"/>
          <p:cNvSpPr txBox="1"/>
          <p:nvPr/>
        </p:nvSpPr>
        <p:spPr>
          <a:xfrm>
            <a:off x="3285743" y="3493008"/>
            <a:ext cx="685800" cy="320040"/>
          </a:xfrm>
          <a:prstGeom prst="rect">
            <a:avLst/>
          </a:prstGeom>
          <a:noFill/>
        </p:spPr>
        <p:txBody>
          <a:bodyPr wrap="square" rtlCol="0" anchor="ctr"/>
          <a:lstStyle/>
          <a:p>
            <a:pPr algn="r"/>
            <a:r>
              <a:rPr lang="en-US" sz="1200" b="1" dirty="0">
                <a:solidFill>
                  <a:srgbClr val="575757"/>
                </a:solidFill>
                <a:latin typeface="Trebuchet MS"/>
              </a:rPr>
              <a:t>26%</a:t>
            </a:r>
          </a:p>
        </p:txBody>
      </p:sp>
      <p:sp>
        <p:nvSpPr>
          <p:cNvPr id="190" name="TB190"/>
          <p:cNvSpPr txBox="1"/>
          <p:nvPr/>
        </p:nvSpPr>
        <p:spPr>
          <a:xfrm>
            <a:off x="813815" y="3785616"/>
            <a:ext cx="2380488" cy="320040"/>
          </a:xfrm>
          <a:prstGeom prst="rect">
            <a:avLst/>
          </a:prstGeom>
          <a:noFill/>
        </p:spPr>
        <p:txBody>
          <a:bodyPr wrap="square" rtlCol="0" anchor="ctr"/>
          <a:lstStyle/>
          <a:p>
            <a:r>
              <a:rPr lang="en-US" sz="1200" dirty="0">
                <a:solidFill>
                  <a:srgbClr val="575757"/>
                </a:solidFill>
                <a:latin typeface="Trebuchet MS"/>
              </a:rPr>
              <a:t>Career events (job, relocation)</a:t>
            </a:r>
          </a:p>
        </p:txBody>
      </p:sp>
      <p:sp>
        <p:nvSpPr>
          <p:cNvPr id="191" name="TB191"/>
          <p:cNvSpPr txBox="1"/>
          <p:nvPr/>
        </p:nvSpPr>
        <p:spPr>
          <a:xfrm>
            <a:off x="3285743" y="3785616"/>
            <a:ext cx="685800" cy="320040"/>
          </a:xfrm>
          <a:prstGeom prst="rect">
            <a:avLst/>
          </a:prstGeom>
          <a:noFill/>
        </p:spPr>
        <p:txBody>
          <a:bodyPr wrap="square" rtlCol="0" anchor="ctr"/>
          <a:lstStyle/>
          <a:p>
            <a:pPr algn="r"/>
            <a:r>
              <a:rPr lang="en-US" sz="1200" b="1" dirty="0">
                <a:solidFill>
                  <a:srgbClr val="575757"/>
                </a:solidFill>
                <a:latin typeface="Trebuchet MS"/>
              </a:rPr>
              <a:t>14%</a:t>
            </a:r>
          </a:p>
        </p:txBody>
      </p:sp>
      <p:sp>
        <p:nvSpPr>
          <p:cNvPr id="192" name="TB192"/>
          <p:cNvSpPr txBox="1"/>
          <p:nvPr/>
        </p:nvSpPr>
        <p:spPr>
          <a:xfrm>
            <a:off x="813815" y="5257800"/>
            <a:ext cx="3157728" cy="502920"/>
          </a:xfrm>
          <a:prstGeom prst="rect">
            <a:avLst/>
          </a:prstGeom>
          <a:noFill/>
        </p:spPr>
        <p:txBody>
          <a:bodyPr wrap="square" rtlCol="0" anchor="ctr"/>
          <a:lstStyle/>
          <a:p>
            <a:pPr algn="ctr"/>
            <a:r>
              <a:rPr lang="en-US" sz="1200" dirty="0">
                <a:solidFill>
                  <a:srgbClr val="6E6F73"/>
                </a:solidFill>
                <a:latin typeface="Trebuchet MS"/>
              </a:rPr>
              <a:t>Acknowledge, support, but do not over-engineer for this slice</a:t>
            </a:r>
          </a:p>
        </p:txBody>
      </p:sp>
      <p:sp>
        <p:nvSpPr>
          <p:cNvPr id="193" name="RR193"/>
          <p:cNvSpPr/>
          <p:nvPr/>
        </p:nvSpPr>
        <p:spPr>
          <a:xfrm>
            <a:off x="4337304" y="2075688"/>
            <a:ext cx="352348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194" name="R194"/>
          <p:cNvSpPr/>
          <p:nvPr/>
        </p:nvSpPr>
        <p:spPr>
          <a:xfrm>
            <a:off x="4337304" y="2075688"/>
            <a:ext cx="3523488" cy="54864"/>
          </a:xfrm>
          <a:prstGeom prst="rect">
            <a:avLst/>
          </a:prstGeom>
          <a:solidFill>
            <a:srgbClr val="29BA74"/>
          </a:solidFill>
          <a:ln>
            <a:noFill/>
          </a:ln>
        </p:spPr>
        <p:txBody>
          <a:bodyPr/>
          <a:lstStyle/>
          <a:p>
            <a:endParaRPr lang="en-US"/>
          </a:p>
        </p:txBody>
      </p:sp>
      <p:sp>
        <p:nvSpPr>
          <p:cNvPr id="195" name="R195"/>
          <p:cNvSpPr/>
          <p:nvPr/>
        </p:nvSpPr>
        <p:spPr>
          <a:xfrm>
            <a:off x="4337304" y="2075688"/>
            <a:ext cx="3523488" cy="292608"/>
          </a:xfrm>
          <a:prstGeom prst="rect">
            <a:avLst/>
          </a:prstGeom>
          <a:solidFill>
            <a:schemeClr val="tx2"/>
          </a:solidFill>
          <a:ln>
            <a:noFill/>
          </a:ln>
        </p:spPr>
        <p:txBody>
          <a:bodyPr/>
          <a:lstStyle/>
          <a:p>
            <a:endParaRPr lang="en-US"/>
          </a:p>
        </p:txBody>
      </p:sp>
      <p:sp>
        <p:nvSpPr>
          <p:cNvPr id="196" name="TB196"/>
          <p:cNvSpPr txBox="1"/>
          <p:nvPr/>
        </p:nvSpPr>
        <p:spPr>
          <a:xfrm>
            <a:off x="4474464" y="2075688"/>
            <a:ext cx="3249168" cy="292608"/>
          </a:xfrm>
          <a:prstGeom prst="rect">
            <a:avLst/>
          </a:prstGeom>
          <a:solidFill>
            <a:schemeClr val="tx2"/>
          </a:solidFill>
        </p:spPr>
        <p:txBody>
          <a:bodyPr wrap="square" rtlCol="0" anchor="ctr"/>
          <a:lstStyle/>
          <a:p>
            <a:pPr algn="ctr"/>
            <a:r>
              <a:rPr lang="en-US" sz="1200" b="1" dirty="0">
                <a:solidFill>
                  <a:srgbClr val="FFFFFF"/>
                </a:solidFill>
                <a:latin typeface="Trebuchet MS"/>
              </a:rPr>
              <a:t>ADDRESSABLE</a:t>
            </a:r>
          </a:p>
        </p:txBody>
      </p:sp>
      <p:sp>
        <p:nvSpPr>
          <p:cNvPr id="197" name="TB197"/>
          <p:cNvSpPr txBox="1"/>
          <p:nvPr/>
        </p:nvSpPr>
        <p:spPr>
          <a:xfrm>
            <a:off x="4474464" y="2487168"/>
            <a:ext cx="3249168" cy="640080"/>
          </a:xfrm>
          <a:prstGeom prst="rect">
            <a:avLst/>
          </a:prstGeom>
          <a:noFill/>
        </p:spPr>
        <p:txBody>
          <a:bodyPr wrap="square" rtlCol="0" anchor="ctr"/>
          <a:lstStyle/>
          <a:p>
            <a:pPr algn="ctr"/>
            <a:r>
              <a:rPr lang="en-US" sz="4400" b="1" dirty="0">
                <a:solidFill>
                  <a:srgbClr val="17406D"/>
                </a:solidFill>
                <a:latin typeface="Trebuchet MS"/>
              </a:rPr>
              <a:t>48%</a:t>
            </a:r>
          </a:p>
        </p:txBody>
      </p:sp>
      <p:sp>
        <p:nvSpPr>
          <p:cNvPr id="198" name="TB198"/>
          <p:cNvSpPr txBox="1"/>
          <p:nvPr/>
        </p:nvSpPr>
        <p:spPr>
          <a:xfrm>
            <a:off x="4474464" y="3127248"/>
            <a:ext cx="3249168" cy="274320"/>
          </a:xfrm>
          <a:prstGeom prst="rect">
            <a:avLst/>
          </a:prstGeom>
          <a:noFill/>
        </p:spPr>
        <p:txBody>
          <a:bodyPr wrap="square" rtlCol="0" anchor="ctr"/>
          <a:lstStyle/>
          <a:p>
            <a:pPr algn="ctr"/>
            <a:r>
              <a:rPr lang="en-US" sz="1400" b="1" dirty="0">
                <a:solidFill>
                  <a:srgbClr val="575757"/>
                </a:solidFill>
                <a:latin typeface="Trebuchet MS"/>
              </a:rPr>
              <a:t>The lever Scaler can pull</a:t>
            </a:r>
          </a:p>
        </p:txBody>
      </p:sp>
      <p:sp>
        <p:nvSpPr>
          <p:cNvPr id="199" name="TB199"/>
          <p:cNvSpPr txBox="1"/>
          <p:nvPr/>
        </p:nvSpPr>
        <p:spPr>
          <a:xfrm>
            <a:off x="4520184" y="3493008"/>
            <a:ext cx="2380488" cy="320040"/>
          </a:xfrm>
          <a:prstGeom prst="rect">
            <a:avLst/>
          </a:prstGeom>
          <a:noFill/>
        </p:spPr>
        <p:txBody>
          <a:bodyPr wrap="square" rtlCol="0" anchor="ctr"/>
          <a:lstStyle/>
          <a:p>
            <a:r>
              <a:rPr lang="en-US" sz="1200" dirty="0">
                <a:solidFill>
                  <a:srgbClr val="575757"/>
                </a:solidFill>
                <a:latin typeface="Trebuchet MS"/>
              </a:rPr>
              <a:t>Financial barriers (loan, affordability)</a:t>
            </a:r>
          </a:p>
        </p:txBody>
      </p:sp>
      <p:sp>
        <p:nvSpPr>
          <p:cNvPr id="200" name="TB200"/>
          <p:cNvSpPr txBox="1"/>
          <p:nvPr/>
        </p:nvSpPr>
        <p:spPr>
          <a:xfrm>
            <a:off x="6992112" y="3493008"/>
            <a:ext cx="685800" cy="320040"/>
          </a:xfrm>
          <a:prstGeom prst="rect">
            <a:avLst/>
          </a:prstGeom>
          <a:noFill/>
        </p:spPr>
        <p:txBody>
          <a:bodyPr wrap="square" rtlCol="0" anchor="ctr"/>
          <a:lstStyle/>
          <a:p>
            <a:pPr algn="r"/>
            <a:r>
              <a:rPr lang="en-US" sz="1200" b="1" dirty="0">
                <a:solidFill>
                  <a:srgbClr val="575757"/>
                </a:solidFill>
                <a:latin typeface="Trebuchet MS"/>
              </a:rPr>
              <a:t>21%</a:t>
            </a:r>
          </a:p>
        </p:txBody>
      </p:sp>
      <p:sp>
        <p:nvSpPr>
          <p:cNvPr id="201" name="TB201"/>
          <p:cNvSpPr txBox="1"/>
          <p:nvPr/>
        </p:nvSpPr>
        <p:spPr>
          <a:xfrm>
            <a:off x="4520184" y="3785616"/>
            <a:ext cx="2380488" cy="320040"/>
          </a:xfrm>
          <a:prstGeom prst="rect">
            <a:avLst/>
          </a:prstGeom>
          <a:noFill/>
        </p:spPr>
        <p:txBody>
          <a:bodyPr wrap="square" rtlCol="0" anchor="ctr"/>
          <a:lstStyle/>
          <a:p>
            <a:r>
              <a:rPr lang="en-US" sz="1200" dirty="0">
                <a:solidFill>
                  <a:srgbClr val="575757"/>
                </a:solidFill>
                <a:latin typeface="Trebuchet MS"/>
              </a:rPr>
              <a:t>Course expectation mismatch</a:t>
            </a:r>
          </a:p>
        </p:txBody>
      </p:sp>
      <p:sp>
        <p:nvSpPr>
          <p:cNvPr id="202" name="TB202"/>
          <p:cNvSpPr txBox="1"/>
          <p:nvPr/>
        </p:nvSpPr>
        <p:spPr>
          <a:xfrm>
            <a:off x="6992112" y="3785616"/>
            <a:ext cx="685800" cy="320040"/>
          </a:xfrm>
          <a:prstGeom prst="rect">
            <a:avLst/>
          </a:prstGeom>
          <a:noFill/>
        </p:spPr>
        <p:txBody>
          <a:bodyPr wrap="square" rtlCol="0" anchor="ctr"/>
          <a:lstStyle/>
          <a:p>
            <a:pPr algn="r"/>
            <a:r>
              <a:rPr lang="en-US" sz="1200" b="1" dirty="0">
                <a:solidFill>
                  <a:srgbClr val="575757"/>
                </a:solidFill>
                <a:latin typeface="Trebuchet MS"/>
              </a:rPr>
              <a:t>11%</a:t>
            </a:r>
          </a:p>
        </p:txBody>
      </p:sp>
      <p:sp>
        <p:nvSpPr>
          <p:cNvPr id="203" name="TB203"/>
          <p:cNvSpPr txBox="1"/>
          <p:nvPr/>
        </p:nvSpPr>
        <p:spPr>
          <a:xfrm>
            <a:off x="4520184" y="4078224"/>
            <a:ext cx="2380488" cy="320040"/>
          </a:xfrm>
          <a:prstGeom prst="rect">
            <a:avLst/>
          </a:prstGeom>
          <a:noFill/>
        </p:spPr>
        <p:txBody>
          <a:bodyPr wrap="square" rtlCol="0" anchor="ctr"/>
          <a:lstStyle/>
          <a:p>
            <a:r>
              <a:rPr lang="en-US" sz="1200" dirty="0">
                <a:solidFill>
                  <a:srgbClr val="575757"/>
                </a:solidFill>
                <a:latin typeface="Trebuchet MS"/>
              </a:rPr>
              <a:t>Time / work pressure</a:t>
            </a:r>
          </a:p>
        </p:txBody>
      </p:sp>
      <p:sp>
        <p:nvSpPr>
          <p:cNvPr id="204" name="TB204"/>
          <p:cNvSpPr txBox="1"/>
          <p:nvPr/>
        </p:nvSpPr>
        <p:spPr>
          <a:xfrm>
            <a:off x="6992112" y="4078224"/>
            <a:ext cx="685800" cy="320040"/>
          </a:xfrm>
          <a:prstGeom prst="rect">
            <a:avLst/>
          </a:prstGeom>
          <a:noFill/>
        </p:spPr>
        <p:txBody>
          <a:bodyPr wrap="square" rtlCol="0" anchor="ctr"/>
          <a:lstStyle/>
          <a:p>
            <a:pPr algn="r"/>
            <a:r>
              <a:rPr lang="en-US" sz="1200" b="1" dirty="0">
                <a:solidFill>
                  <a:srgbClr val="575757"/>
                </a:solidFill>
                <a:latin typeface="Trebuchet MS"/>
              </a:rPr>
              <a:t>11%</a:t>
            </a:r>
          </a:p>
        </p:txBody>
      </p:sp>
      <p:sp>
        <p:nvSpPr>
          <p:cNvPr id="205" name="TB205"/>
          <p:cNvSpPr txBox="1"/>
          <p:nvPr/>
        </p:nvSpPr>
        <p:spPr>
          <a:xfrm>
            <a:off x="4520184" y="4370832"/>
            <a:ext cx="2380488" cy="320040"/>
          </a:xfrm>
          <a:prstGeom prst="rect">
            <a:avLst/>
          </a:prstGeom>
          <a:noFill/>
        </p:spPr>
        <p:txBody>
          <a:bodyPr wrap="square" rtlCol="0" anchor="ctr"/>
          <a:lstStyle/>
          <a:p>
            <a:r>
              <a:rPr lang="en-US" sz="1200" dirty="0">
                <a:solidFill>
                  <a:srgbClr val="575757"/>
                </a:solidFill>
                <a:latin typeface="Trebuchet MS"/>
              </a:rPr>
              <a:t>Sales / service process failures</a:t>
            </a:r>
          </a:p>
        </p:txBody>
      </p:sp>
      <p:sp>
        <p:nvSpPr>
          <p:cNvPr id="206" name="TB206"/>
          <p:cNvSpPr txBox="1"/>
          <p:nvPr/>
        </p:nvSpPr>
        <p:spPr>
          <a:xfrm>
            <a:off x="6992112" y="4370832"/>
            <a:ext cx="685800" cy="320040"/>
          </a:xfrm>
          <a:prstGeom prst="rect">
            <a:avLst/>
          </a:prstGeom>
          <a:noFill/>
        </p:spPr>
        <p:txBody>
          <a:bodyPr wrap="square" rtlCol="0" anchor="ctr"/>
          <a:lstStyle/>
          <a:p>
            <a:pPr algn="r"/>
            <a:r>
              <a:rPr lang="en-US" sz="1200" b="1" dirty="0">
                <a:solidFill>
                  <a:srgbClr val="575757"/>
                </a:solidFill>
                <a:latin typeface="Trebuchet MS"/>
              </a:rPr>
              <a:t>5%</a:t>
            </a:r>
          </a:p>
        </p:txBody>
      </p:sp>
      <p:sp>
        <p:nvSpPr>
          <p:cNvPr id="207" name="TB207"/>
          <p:cNvSpPr txBox="1"/>
          <p:nvPr/>
        </p:nvSpPr>
        <p:spPr>
          <a:xfrm>
            <a:off x="4520184" y="5257800"/>
            <a:ext cx="3157728" cy="502920"/>
          </a:xfrm>
          <a:prstGeom prst="rect">
            <a:avLst/>
          </a:prstGeom>
          <a:noFill/>
        </p:spPr>
        <p:txBody>
          <a:bodyPr wrap="square" rtlCol="0" anchor="ctr"/>
          <a:lstStyle/>
          <a:p>
            <a:pPr algn="ctr"/>
            <a:r>
              <a:rPr lang="en-US" sz="1200" dirty="0">
                <a:solidFill>
                  <a:srgbClr val="6E6F73"/>
                </a:solidFill>
                <a:latin typeface="Trebuchet MS"/>
              </a:rPr>
              <a:t>Process changes at sales, onboarding, and SLA can move this</a:t>
            </a:r>
          </a:p>
        </p:txBody>
      </p:sp>
      <p:sp>
        <p:nvSpPr>
          <p:cNvPr id="208" name="RR208"/>
          <p:cNvSpPr/>
          <p:nvPr/>
        </p:nvSpPr>
        <p:spPr>
          <a:xfrm>
            <a:off x="8043672" y="2075688"/>
            <a:ext cx="352348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09" name="R209"/>
          <p:cNvSpPr/>
          <p:nvPr/>
        </p:nvSpPr>
        <p:spPr>
          <a:xfrm>
            <a:off x="8043672" y="2075688"/>
            <a:ext cx="3523488" cy="54864"/>
          </a:xfrm>
          <a:prstGeom prst="rect">
            <a:avLst/>
          </a:prstGeom>
          <a:solidFill>
            <a:srgbClr val="6E6F73"/>
          </a:solidFill>
          <a:ln>
            <a:noFill/>
          </a:ln>
        </p:spPr>
        <p:txBody>
          <a:bodyPr/>
          <a:lstStyle/>
          <a:p>
            <a:endParaRPr lang="en-US"/>
          </a:p>
        </p:txBody>
      </p:sp>
      <p:sp>
        <p:nvSpPr>
          <p:cNvPr id="210" name="R210"/>
          <p:cNvSpPr/>
          <p:nvPr/>
        </p:nvSpPr>
        <p:spPr>
          <a:xfrm>
            <a:off x="8043672" y="2075688"/>
            <a:ext cx="3523488" cy="292608"/>
          </a:xfrm>
          <a:prstGeom prst="rect">
            <a:avLst/>
          </a:prstGeom>
          <a:solidFill>
            <a:srgbClr val="6E6F73"/>
          </a:solidFill>
          <a:ln>
            <a:noFill/>
          </a:ln>
        </p:spPr>
        <p:txBody>
          <a:bodyPr/>
          <a:lstStyle/>
          <a:p>
            <a:endParaRPr lang="en-US"/>
          </a:p>
        </p:txBody>
      </p:sp>
      <p:sp>
        <p:nvSpPr>
          <p:cNvPr id="211" name="TB211"/>
          <p:cNvSpPr txBox="1"/>
          <p:nvPr/>
        </p:nvSpPr>
        <p:spPr>
          <a:xfrm>
            <a:off x="8180832" y="2075688"/>
            <a:ext cx="3249168" cy="292608"/>
          </a:xfrm>
          <a:prstGeom prst="rect">
            <a:avLst/>
          </a:prstGeom>
          <a:noFill/>
        </p:spPr>
        <p:txBody>
          <a:bodyPr wrap="square" rtlCol="0" anchor="ctr"/>
          <a:lstStyle/>
          <a:p>
            <a:pPr algn="ctr"/>
            <a:r>
              <a:rPr lang="en-US" sz="1200" b="1" dirty="0">
                <a:solidFill>
                  <a:srgbClr val="FFFFFF"/>
                </a:solidFill>
                <a:latin typeface="Trebuchet MS"/>
              </a:rPr>
              <a:t>UNCLEAR</a:t>
            </a:r>
          </a:p>
        </p:txBody>
      </p:sp>
      <p:sp>
        <p:nvSpPr>
          <p:cNvPr id="212" name="TB212"/>
          <p:cNvSpPr txBox="1"/>
          <p:nvPr/>
        </p:nvSpPr>
        <p:spPr>
          <a:xfrm>
            <a:off x="8180832" y="2487168"/>
            <a:ext cx="3249168" cy="640080"/>
          </a:xfrm>
          <a:prstGeom prst="rect">
            <a:avLst/>
          </a:prstGeom>
          <a:noFill/>
        </p:spPr>
        <p:txBody>
          <a:bodyPr wrap="square" rtlCol="0" anchor="ctr"/>
          <a:lstStyle/>
          <a:p>
            <a:pPr algn="ctr"/>
            <a:r>
              <a:rPr lang="en-US" sz="4400" b="1" dirty="0">
                <a:solidFill>
                  <a:srgbClr val="6E6F73"/>
                </a:solidFill>
                <a:latin typeface="Trebuchet MS"/>
              </a:rPr>
              <a:t>12%</a:t>
            </a:r>
          </a:p>
        </p:txBody>
      </p:sp>
      <p:sp>
        <p:nvSpPr>
          <p:cNvPr id="213" name="TB213"/>
          <p:cNvSpPr txBox="1"/>
          <p:nvPr/>
        </p:nvSpPr>
        <p:spPr>
          <a:xfrm>
            <a:off x="8180832" y="3127248"/>
            <a:ext cx="3249168" cy="274320"/>
          </a:xfrm>
          <a:prstGeom prst="rect">
            <a:avLst/>
          </a:prstGeom>
          <a:noFill/>
        </p:spPr>
        <p:txBody>
          <a:bodyPr wrap="square" rtlCol="0" anchor="ctr"/>
          <a:lstStyle/>
          <a:p>
            <a:pPr algn="ctr"/>
            <a:r>
              <a:rPr lang="en-US" sz="1400" b="1" dirty="0">
                <a:solidFill>
                  <a:srgbClr val="575757"/>
                </a:solidFill>
                <a:latin typeface="Trebuchet MS"/>
              </a:rPr>
              <a:t>Other or unrecorded</a:t>
            </a:r>
          </a:p>
        </p:txBody>
      </p:sp>
      <p:sp>
        <p:nvSpPr>
          <p:cNvPr id="214" name="TB214"/>
          <p:cNvSpPr txBox="1"/>
          <p:nvPr/>
        </p:nvSpPr>
        <p:spPr>
          <a:xfrm>
            <a:off x="8226551" y="3493008"/>
            <a:ext cx="2380488" cy="320040"/>
          </a:xfrm>
          <a:prstGeom prst="rect">
            <a:avLst/>
          </a:prstGeom>
          <a:noFill/>
        </p:spPr>
        <p:txBody>
          <a:bodyPr wrap="square" rtlCol="0" anchor="ctr"/>
          <a:lstStyle/>
          <a:p>
            <a:r>
              <a:rPr lang="en-US" sz="1200" dirty="0">
                <a:solidFill>
                  <a:srgbClr val="575757"/>
                </a:solidFill>
                <a:latin typeface="Trebuchet MS"/>
              </a:rPr>
              <a:t>Other / unclear notes</a:t>
            </a:r>
          </a:p>
        </p:txBody>
      </p:sp>
      <p:sp>
        <p:nvSpPr>
          <p:cNvPr id="215" name="TB215"/>
          <p:cNvSpPr txBox="1"/>
          <p:nvPr/>
        </p:nvSpPr>
        <p:spPr>
          <a:xfrm>
            <a:off x="10698480" y="3493008"/>
            <a:ext cx="685800" cy="320040"/>
          </a:xfrm>
          <a:prstGeom prst="rect">
            <a:avLst/>
          </a:prstGeom>
          <a:noFill/>
        </p:spPr>
        <p:txBody>
          <a:bodyPr wrap="square" rtlCol="0" anchor="ctr"/>
          <a:lstStyle/>
          <a:p>
            <a:pPr algn="r"/>
            <a:r>
              <a:rPr lang="en-US" sz="1200" b="1" dirty="0">
                <a:solidFill>
                  <a:srgbClr val="575757"/>
                </a:solidFill>
                <a:latin typeface="Trebuchet MS"/>
              </a:rPr>
              <a:t>10%</a:t>
            </a:r>
          </a:p>
        </p:txBody>
      </p:sp>
      <p:sp>
        <p:nvSpPr>
          <p:cNvPr id="216" name="TB216"/>
          <p:cNvSpPr txBox="1"/>
          <p:nvPr/>
        </p:nvSpPr>
        <p:spPr>
          <a:xfrm>
            <a:off x="8226551" y="3785616"/>
            <a:ext cx="2380488" cy="320040"/>
          </a:xfrm>
          <a:prstGeom prst="rect">
            <a:avLst/>
          </a:prstGeom>
          <a:noFill/>
        </p:spPr>
        <p:txBody>
          <a:bodyPr wrap="square" rtlCol="0" anchor="ctr"/>
          <a:lstStyle/>
          <a:p>
            <a:r>
              <a:rPr lang="en-US" sz="1200" dirty="0">
                <a:solidFill>
                  <a:srgbClr val="575757"/>
                </a:solidFill>
                <a:latin typeface="Trebuchet MS"/>
              </a:rPr>
              <a:t>Higher studies / govt career</a:t>
            </a:r>
          </a:p>
        </p:txBody>
      </p:sp>
      <p:sp>
        <p:nvSpPr>
          <p:cNvPr id="217" name="TB217"/>
          <p:cNvSpPr txBox="1"/>
          <p:nvPr/>
        </p:nvSpPr>
        <p:spPr>
          <a:xfrm>
            <a:off x="10698480" y="3785616"/>
            <a:ext cx="685800" cy="320040"/>
          </a:xfrm>
          <a:prstGeom prst="rect">
            <a:avLst/>
          </a:prstGeom>
          <a:noFill/>
        </p:spPr>
        <p:txBody>
          <a:bodyPr wrap="square" rtlCol="0" anchor="ctr"/>
          <a:lstStyle/>
          <a:p>
            <a:pPr algn="r"/>
            <a:r>
              <a:rPr lang="en-US" sz="1200" b="1" dirty="0">
                <a:solidFill>
                  <a:srgbClr val="575757"/>
                </a:solidFill>
                <a:latin typeface="Trebuchet MS"/>
              </a:rPr>
              <a:t>1%</a:t>
            </a:r>
          </a:p>
        </p:txBody>
      </p:sp>
      <p:sp>
        <p:nvSpPr>
          <p:cNvPr id="218" name="TB218"/>
          <p:cNvSpPr txBox="1"/>
          <p:nvPr/>
        </p:nvSpPr>
        <p:spPr>
          <a:xfrm>
            <a:off x="8226551" y="5257800"/>
            <a:ext cx="3157728" cy="502920"/>
          </a:xfrm>
          <a:prstGeom prst="rect">
            <a:avLst/>
          </a:prstGeom>
          <a:noFill/>
        </p:spPr>
        <p:txBody>
          <a:bodyPr wrap="square" rtlCol="0" anchor="ctr"/>
          <a:lstStyle/>
          <a:p>
            <a:pPr algn="ctr"/>
            <a:r>
              <a:rPr lang="en-US" sz="1200" dirty="0">
                <a:solidFill>
                  <a:srgbClr val="6E6F73"/>
                </a:solidFill>
                <a:latin typeface="Trebuchet MS"/>
              </a:rPr>
              <a:t>Tag improvements at refund logging would shrink this bucket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h_title"/>
          <p:cNvSpPr>
            <a:spLocks noGrp="1"/>
          </p:cNvSpPr>
          <p:nvPr>
            <p:ph type="title"/>
          </p:nvPr>
        </p:nvSpPr>
        <p:spPr/>
        <p:txBody>
          <a:bodyPr/>
          <a:lstStyle/>
          <a:p>
            <a:r>
              <a:rPr lang="en-US" dirty="0"/>
              <a:t>Can we reduce the refund rate, and how?</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 name="ph_title"/>
          <p:cNvSpPr>
            <a:spLocks noGrp="1"/>
          </p:cNvSpPr>
          <p:nvPr>
            <p:ph type="title"/>
          </p:nvPr>
        </p:nvSpPr>
        <p:spPr/>
        <p:txBody>
          <a:bodyPr/>
          <a:lstStyle/>
          <a:p>
            <a:r>
              <a:rPr lang="en-US" dirty="0"/>
              <a:t>Attendance and refund rate are almost perfectly inversely correlated</a:t>
            </a:r>
          </a:p>
        </p:txBody>
      </p:sp>
      <p:sp>
        <p:nvSpPr>
          <p:cNvPr id="221" name="TB221"/>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222" name="RR222"/>
          <p:cNvSpPr/>
          <p:nvPr/>
        </p:nvSpPr>
        <p:spPr>
          <a:xfrm>
            <a:off x="630936" y="5138928"/>
            <a:ext cx="10936224" cy="804671"/>
          </a:xfrm>
          <a:prstGeom prst="roundRect">
            <a:avLst>
              <a:gd name="adj" fmla="val 8000"/>
            </a:avLst>
          </a:prstGeom>
          <a:solidFill>
            <a:schemeClr val="tx2"/>
          </a:solidFill>
          <a:ln>
            <a:noFill/>
          </a:ln>
        </p:spPr>
        <p:txBody>
          <a:bodyPr/>
          <a:lstStyle/>
          <a:p>
            <a:endParaRPr lang="en-US"/>
          </a:p>
        </p:txBody>
      </p:sp>
      <p:sp>
        <p:nvSpPr>
          <p:cNvPr id="223" name="TB223"/>
          <p:cNvSpPr txBox="1"/>
          <p:nvPr/>
        </p:nvSpPr>
        <p:spPr>
          <a:xfrm>
            <a:off x="859536" y="5212080"/>
            <a:ext cx="10479024" cy="658367"/>
          </a:xfrm>
          <a:prstGeom prst="rect">
            <a:avLst/>
          </a:prstGeom>
          <a:noFill/>
        </p:spPr>
        <p:txBody>
          <a:bodyPr wrap="square" rtlCol="0" anchor="ctr"/>
          <a:lstStyle/>
          <a:p>
            <a:pPr algn="ctr"/>
            <a:r>
              <a:rPr lang="en-US" sz="1400" b="1" dirty="0">
                <a:solidFill>
                  <a:srgbClr val="FFFFFF"/>
                </a:solidFill>
                <a:latin typeface="Trebuchet MS"/>
              </a:rPr>
              <a:t>Learners with 0% attendance refund at 80%, those with 90%+ refund at under 1%, a 90x spread on a single signal that becomes visible within the first two weeks</a:t>
            </a:r>
          </a:p>
        </p:txBody>
      </p:sp>
      <p:graphicFrame>
        <p:nvGraphicFramePr>
          <p:cNvPr id="224" name="Chart 223"/>
          <p:cNvGraphicFramePr>
            <a:graphicFrameLocks noGrp="1"/>
          </p:cNvGraphicFramePr>
          <p:nvPr>
            <p:extLst>
              <p:ext uri="{D42A27DB-BD31-4B8C-83A1-F6EECF244321}">
                <p14:modId xmlns:p14="http://schemas.microsoft.com/office/powerpoint/2010/main" val="2098536439"/>
              </p:ext>
            </p:extLst>
          </p:nvPr>
        </p:nvGraphicFramePr>
        <p:xfrm>
          <a:off x="630936" y="2075688"/>
          <a:ext cx="10936224" cy="2926080"/>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h_title"/>
          <p:cNvSpPr>
            <a:spLocks noGrp="1"/>
          </p:cNvSpPr>
          <p:nvPr>
            <p:ph type="title"/>
          </p:nvPr>
        </p:nvSpPr>
        <p:spPr/>
        <p:txBody>
          <a:bodyPr/>
          <a:lstStyle/>
          <a:p>
            <a:r>
              <a:rPr lang="en-US" dirty="0"/>
              <a:t>Skipping the Dashboard Walkthrough triples a learner's refund probability</a:t>
            </a:r>
          </a:p>
        </p:txBody>
      </p:sp>
      <p:sp>
        <p:nvSpPr>
          <p:cNvPr id="225" name="TB225"/>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226" name="RR226"/>
          <p:cNvSpPr/>
          <p:nvPr/>
        </p:nvSpPr>
        <p:spPr>
          <a:xfrm>
            <a:off x="6803136" y="2075688"/>
            <a:ext cx="4764024" cy="119786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27" name="R227"/>
          <p:cNvSpPr/>
          <p:nvPr/>
        </p:nvSpPr>
        <p:spPr>
          <a:xfrm>
            <a:off x="6803136" y="2075688"/>
            <a:ext cx="73152" cy="1197864"/>
          </a:xfrm>
          <a:prstGeom prst="rect">
            <a:avLst/>
          </a:prstGeom>
          <a:solidFill>
            <a:schemeClr val="tx2">
              <a:lumMod val="60000"/>
              <a:lumOff val="40000"/>
            </a:schemeClr>
          </a:solidFill>
          <a:ln>
            <a:noFill/>
          </a:ln>
        </p:spPr>
        <p:txBody>
          <a:bodyPr/>
          <a:lstStyle/>
          <a:p>
            <a:endParaRPr lang="en-US"/>
          </a:p>
        </p:txBody>
      </p:sp>
      <p:sp>
        <p:nvSpPr>
          <p:cNvPr id="228" name="TB228"/>
          <p:cNvSpPr txBox="1"/>
          <p:nvPr/>
        </p:nvSpPr>
        <p:spPr>
          <a:xfrm>
            <a:off x="6986016" y="2148840"/>
            <a:ext cx="1554480" cy="1051560"/>
          </a:xfrm>
          <a:prstGeom prst="rect">
            <a:avLst/>
          </a:prstGeom>
          <a:noFill/>
        </p:spPr>
        <p:txBody>
          <a:bodyPr wrap="square" rtlCol="0" anchor="ctr"/>
          <a:lstStyle/>
          <a:p>
            <a:r>
              <a:rPr lang="en-US" sz="3200" b="1" dirty="0">
                <a:solidFill>
                  <a:schemeClr val="tx2">
                    <a:lumMod val="60000"/>
                    <a:lumOff val="40000"/>
                  </a:schemeClr>
                </a:solidFill>
                <a:latin typeface="Trebuchet MS"/>
              </a:rPr>
              <a:t>3.5x</a:t>
            </a:r>
          </a:p>
        </p:txBody>
      </p:sp>
      <p:sp>
        <p:nvSpPr>
          <p:cNvPr id="229" name="TB229"/>
          <p:cNvSpPr txBox="1"/>
          <p:nvPr/>
        </p:nvSpPr>
        <p:spPr>
          <a:xfrm>
            <a:off x="8586215" y="2167128"/>
            <a:ext cx="2843784" cy="1014984"/>
          </a:xfrm>
          <a:prstGeom prst="rect">
            <a:avLst/>
          </a:prstGeom>
          <a:noFill/>
        </p:spPr>
        <p:txBody>
          <a:bodyPr wrap="square" rtlCol="0" anchor="ctr"/>
          <a:lstStyle/>
          <a:p>
            <a:r>
              <a:rPr lang="en-US" sz="1400" dirty="0">
                <a:solidFill>
                  <a:srgbClr val="575757"/>
                </a:solidFill>
                <a:latin typeface="Trebuchet MS"/>
              </a:rPr>
              <a:t>Refund rate gap between completers and skippers</a:t>
            </a:r>
          </a:p>
        </p:txBody>
      </p:sp>
      <p:sp>
        <p:nvSpPr>
          <p:cNvPr id="230" name="RR230"/>
          <p:cNvSpPr/>
          <p:nvPr/>
        </p:nvSpPr>
        <p:spPr>
          <a:xfrm>
            <a:off x="6803136" y="3410712"/>
            <a:ext cx="4764024" cy="119786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31" name="R231"/>
          <p:cNvSpPr/>
          <p:nvPr/>
        </p:nvSpPr>
        <p:spPr>
          <a:xfrm>
            <a:off x="6803136" y="3410712"/>
            <a:ext cx="73152" cy="1197864"/>
          </a:xfrm>
          <a:prstGeom prst="rect">
            <a:avLst/>
          </a:prstGeom>
          <a:solidFill>
            <a:srgbClr val="295E7E"/>
          </a:solidFill>
          <a:ln>
            <a:noFill/>
          </a:ln>
        </p:spPr>
        <p:txBody>
          <a:bodyPr/>
          <a:lstStyle/>
          <a:p>
            <a:endParaRPr lang="en-US"/>
          </a:p>
        </p:txBody>
      </p:sp>
      <p:sp>
        <p:nvSpPr>
          <p:cNvPr id="232" name="TB232"/>
          <p:cNvSpPr txBox="1"/>
          <p:nvPr/>
        </p:nvSpPr>
        <p:spPr>
          <a:xfrm>
            <a:off x="6986016" y="3483864"/>
            <a:ext cx="1554480" cy="1051560"/>
          </a:xfrm>
          <a:prstGeom prst="rect">
            <a:avLst/>
          </a:prstGeom>
          <a:noFill/>
        </p:spPr>
        <p:txBody>
          <a:bodyPr wrap="square" rtlCol="0" anchor="ctr"/>
          <a:lstStyle/>
          <a:p>
            <a:r>
              <a:rPr lang="en-US" sz="3200" b="1" dirty="0">
                <a:solidFill>
                  <a:srgbClr val="295E7E"/>
                </a:solidFill>
                <a:latin typeface="Trebuchet MS"/>
              </a:rPr>
              <a:t>295</a:t>
            </a:r>
          </a:p>
        </p:txBody>
      </p:sp>
      <p:sp>
        <p:nvSpPr>
          <p:cNvPr id="233" name="TB233"/>
          <p:cNvSpPr txBox="1"/>
          <p:nvPr/>
        </p:nvSpPr>
        <p:spPr>
          <a:xfrm>
            <a:off x="8586215" y="3502152"/>
            <a:ext cx="2843784" cy="1014984"/>
          </a:xfrm>
          <a:prstGeom prst="rect">
            <a:avLst/>
          </a:prstGeom>
          <a:noFill/>
        </p:spPr>
        <p:txBody>
          <a:bodyPr wrap="square" rtlCol="0" anchor="ctr"/>
          <a:lstStyle/>
          <a:p>
            <a:r>
              <a:rPr lang="en-US" sz="1400" dirty="0">
                <a:solidFill>
                  <a:srgbClr val="575757"/>
                </a:solidFill>
                <a:latin typeface="Trebuchet MS"/>
              </a:rPr>
              <a:t>Learners scheduled DBWT but did not show or declined</a:t>
            </a:r>
          </a:p>
        </p:txBody>
      </p:sp>
      <p:sp>
        <p:nvSpPr>
          <p:cNvPr id="234" name="RR234"/>
          <p:cNvSpPr/>
          <p:nvPr/>
        </p:nvSpPr>
        <p:spPr>
          <a:xfrm>
            <a:off x="6803136" y="4745736"/>
            <a:ext cx="4764024" cy="1197864"/>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35" name="R235"/>
          <p:cNvSpPr/>
          <p:nvPr/>
        </p:nvSpPr>
        <p:spPr>
          <a:xfrm>
            <a:off x="6803136" y="4745736"/>
            <a:ext cx="73152" cy="1197864"/>
          </a:xfrm>
          <a:prstGeom prst="rect">
            <a:avLst/>
          </a:prstGeom>
          <a:solidFill>
            <a:srgbClr val="295E7E"/>
          </a:solidFill>
          <a:ln>
            <a:noFill/>
          </a:ln>
        </p:spPr>
        <p:txBody>
          <a:bodyPr/>
          <a:lstStyle/>
          <a:p>
            <a:endParaRPr lang="en-US"/>
          </a:p>
        </p:txBody>
      </p:sp>
      <p:sp>
        <p:nvSpPr>
          <p:cNvPr id="236" name="TB236"/>
          <p:cNvSpPr txBox="1"/>
          <p:nvPr/>
        </p:nvSpPr>
        <p:spPr>
          <a:xfrm>
            <a:off x="6986016" y="4818888"/>
            <a:ext cx="1554480" cy="1051560"/>
          </a:xfrm>
          <a:prstGeom prst="rect">
            <a:avLst/>
          </a:prstGeom>
          <a:noFill/>
        </p:spPr>
        <p:txBody>
          <a:bodyPr wrap="square" rtlCol="0" anchor="ctr"/>
          <a:lstStyle/>
          <a:p>
            <a:r>
              <a:rPr lang="en-US" sz="3200" b="1" dirty="0">
                <a:solidFill>
                  <a:srgbClr val="295E7E"/>
                </a:solidFill>
                <a:latin typeface="Trebuchet MS"/>
              </a:rPr>
              <a:t>127</a:t>
            </a:r>
          </a:p>
        </p:txBody>
      </p:sp>
      <p:sp>
        <p:nvSpPr>
          <p:cNvPr id="237" name="TB237"/>
          <p:cNvSpPr txBox="1"/>
          <p:nvPr/>
        </p:nvSpPr>
        <p:spPr>
          <a:xfrm>
            <a:off x="8586215" y="4837176"/>
            <a:ext cx="2843784" cy="1014984"/>
          </a:xfrm>
          <a:prstGeom prst="rect">
            <a:avLst/>
          </a:prstGeom>
          <a:noFill/>
        </p:spPr>
        <p:txBody>
          <a:bodyPr wrap="square" rtlCol="0" anchor="ctr"/>
          <a:lstStyle/>
          <a:p>
            <a:r>
              <a:rPr lang="en-US" sz="1400" dirty="0">
                <a:solidFill>
                  <a:srgbClr val="575757"/>
                </a:solidFill>
                <a:latin typeface="Trebuchet MS"/>
              </a:rPr>
              <a:t>Of those skippers ultimately refunded (43% of 295)</a:t>
            </a:r>
          </a:p>
        </p:txBody>
      </p:sp>
      <p:graphicFrame>
        <p:nvGraphicFramePr>
          <p:cNvPr id="238" name="Chart 237"/>
          <p:cNvGraphicFramePr>
            <a:graphicFrameLocks noGrp="1"/>
          </p:cNvGraphicFramePr>
          <p:nvPr>
            <p:extLst>
              <p:ext uri="{D42A27DB-BD31-4B8C-83A1-F6EECF244321}">
                <p14:modId xmlns:p14="http://schemas.microsoft.com/office/powerpoint/2010/main" val="3441316897"/>
              </p:ext>
            </p:extLst>
          </p:nvPr>
        </p:nvGraphicFramePr>
        <p:xfrm>
          <a:off x="630936" y="2212848"/>
          <a:ext cx="5943600" cy="3593592"/>
        </p:xfrm>
        <a:graphic>
          <a:graphicData uri="http://schemas.openxmlformats.org/drawingml/2006/chart">
            <c:chart xmlns:c="http://schemas.openxmlformats.org/drawingml/2006/chart" xmlns:r="http://schemas.openxmlformats.org/officeDocument/2006/relationships" r:id="rId2"/>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h_title"/>
          <p:cNvSpPr>
            <a:spLocks noGrp="1"/>
          </p:cNvSpPr>
          <p:nvPr>
            <p:ph type="title"/>
          </p:nvPr>
        </p:nvSpPr>
        <p:spPr/>
        <p:txBody>
          <a:bodyPr/>
          <a:lstStyle/>
          <a:p>
            <a:r>
              <a:rPr lang="en-US" dirty="0"/>
              <a:t>5% of the cohort accounts for 20% of refunders, and they are visible before Day 1</a:t>
            </a:r>
          </a:p>
        </p:txBody>
      </p:sp>
      <p:sp>
        <p:nvSpPr>
          <p:cNvPr id="239" name="TB239"/>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 | Risk segment = (DBWT done?) x (Week 0 attendance?)</a:t>
            </a:r>
          </a:p>
        </p:txBody>
      </p:sp>
      <p:sp>
        <p:nvSpPr>
          <p:cNvPr id="240" name="RR240"/>
          <p:cNvSpPr/>
          <p:nvPr/>
        </p:nvSpPr>
        <p:spPr>
          <a:xfrm>
            <a:off x="630936" y="2075688"/>
            <a:ext cx="5330952" cy="14081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41" name="R241"/>
          <p:cNvSpPr/>
          <p:nvPr/>
        </p:nvSpPr>
        <p:spPr>
          <a:xfrm>
            <a:off x="630936" y="2075688"/>
            <a:ext cx="5330952" cy="54864"/>
          </a:xfrm>
          <a:prstGeom prst="rect">
            <a:avLst/>
          </a:prstGeom>
          <a:solidFill>
            <a:srgbClr val="295E7E"/>
          </a:solidFill>
          <a:ln>
            <a:noFill/>
          </a:ln>
        </p:spPr>
        <p:txBody>
          <a:bodyPr/>
          <a:lstStyle/>
          <a:p>
            <a:endParaRPr lang="en-US"/>
          </a:p>
        </p:txBody>
      </p:sp>
      <p:sp>
        <p:nvSpPr>
          <p:cNvPr id="242" name="R242"/>
          <p:cNvSpPr/>
          <p:nvPr/>
        </p:nvSpPr>
        <p:spPr>
          <a:xfrm>
            <a:off x="630936" y="2075688"/>
            <a:ext cx="5330952" cy="365760"/>
          </a:xfrm>
          <a:prstGeom prst="rect">
            <a:avLst/>
          </a:prstGeom>
          <a:solidFill>
            <a:srgbClr val="295E7E"/>
          </a:solidFill>
          <a:ln>
            <a:noFill/>
          </a:ln>
        </p:spPr>
        <p:txBody>
          <a:bodyPr/>
          <a:lstStyle/>
          <a:p>
            <a:endParaRPr lang="en-US"/>
          </a:p>
        </p:txBody>
      </p:sp>
      <p:sp>
        <p:nvSpPr>
          <p:cNvPr id="243" name="TB243"/>
          <p:cNvSpPr txBox="1"/>
          <p:nvPr/>
        </p:nvSpPr>
        <p:spPr>
          <a:xfrm>
            <a:off x="795527" y="2075688"/>
            <a:ext cx="2743200" cy="365760"/>
          </a:xfrm>
          <a:prstGeom prst="rect">
            <a:avLst/>
          </a:prstGeom>
          <a:noFill/>
        </p:spPr>
        <p:txBody>
          <a:bodyPr wrap="square" rtlCol="0" anchor="ctr"/>
          <a:lstStyle/>
          <a:p>
            <a:r>
              <a:rPr lang="en-US" sz="1400" b="1" dirty="0">
                <a:solidFill>
                  <a:srgbClr val="FFFFFF"/>
                </a:solidFill>
                <a:latin typeface="Trebuchet MS"/>
              </a:rPr>
              <a:t>CRITICAL</a:t>
            </a:r>
          </a:p>
        </p:txBody>
      </p:sp>
      <p:sp>
        <p:nvSpPr>
          <p:cNvPr id="244" name="TB244"/>
          <p:cNvSpPr txBox="1"/>
          <p:nvPr/>
        </p:nvSpPr>
        <p:spPr>
          <a:xfrm>
            <a:off x="3374136" y="2075688"/>
            <a:ext cx="2450592" cy="365760"/>
          </a:xfrm>
          <a:prstGeom prst="rect">
            <a:avLst/>
          </a:prstGeom>
          <a:noFill/>
        </p:spPr>
        <p:txBody>
          <a:bodyPr wrap="square" rtlCol="0" anchor="ctr"/>
          <a:lstStyle/>
          <a:p>
            <a:pPr algn="r"/>
            <a:r>
              <a:rPr lang="en-US" sz="1200" dirty="0">
                <a:solidFill>
                  <a:srgbClr val="FFFFFF"/>
                </a:solidFill>
                <a:latin typeface="Trebuchet MS"/>
              </a:rPr>
              <a:t>No DBWT + No Week 0</a:t>
            </a:r>
          </a:p>
        </p:txBody>
      </p:sp>
      <p:sp>
        <p:nvSpPr>
          <p:cNvPr id="245" name="TB245"/>
          <p:cNvSpPr txBox="1"/>
          <p:nvPr/>
        </p:nvSpPr>
        <p:spPr>
          <a:xfrm>
            <a:off x="813815" y="2578608"/>
            <a:ext cx="2194560" cy="777240"/>
          </a:xfrm>
          <a:prstGeom prst="rect">
            <a:avLst/>
          </a:prstGeom>
          <a:noFill/>
        </p:spPr>
        <p:txBody>
          <a:bodyPr wrap="square" rtlCol="0" anchor="ctr"/>
          <a:lstStyle/>
          <a:p>
            <a:r>
              <a:rPr lang="en-US" sz="4200" b="1" dirty="0">
                <a:solidFill>
                  <a:srgbClr val="295E7E"/>
                </a:solidFill>
                <a:latin typeface="Trebuchet MS"/>
              </a:rPr>
              <a:t>73.7%</a:t>
            </a:r>
          </a:p>
        </p:txBody>
      </p:sp>
      <p:sp>
        <p:nvSpPr>
          <p:cNvPr id="246" name="TB246"/>
          <p:cNvSpPr txBox="1"/>
          <p:nvPr/>
        </p:nvSpPr>
        <p:spPr>
          <a:xfrm>
            <a:off x="859536" y="3374136"/>
            <a:ext cx="2194560" cy="201168"/>
          </a:xfrm>
          <a:prstGeom prst="rect">
            <a:avLst/>
          </a:prstGeom>
          <a:noFill/>
        </p:spPr>
        <p:txBody>
          <a:bodyPr wrap="square" rtlCol="0" anchor="t"/>
          <a:lstStyle/>
          <a:p>
            <a:r>
              <a:rPr lang="en-US" sz="1200" dirty="0">
                <a:solidFill>
                  <a:srgbClr val="6E6F73"/>
                </a:solidFill>
                <a:latin typeface="Trebuchet MS"/>
              </a:rPr>
              <a:t>refund rate</a:t>
            </a:r>
          </a:p>
        </p:txBody>
      </p:sp>
      <p:sp>
        <p:nvSpPr>
          <p:cNvPr id="247" name="TB247"/>
          <p:cNvSpPr txBox="1"/>
          <p:nvPr/>
        </p:nvSpPr>
        <p:spPr>
          <a:xfrm>
            <a:off x="3191256" y="2578608"/>
            <a:ext cx="2633472" cy="274320"/>
          </a:xfrm>
          <a:prstGeom prst="rect">
            <a:avLst/>
          </a:prstGeom>
          <a:noFill/>
        </p:spPr>
        <p:txBody>
          <a:bodyPr wrap="square" rtlCol="0" anchor="ctr"/>
          <a:lstStyle/>
          <a:p>
            <a:r>
              <a:rPr lang="en-US" sz="1400" b="1" dirty="0">
                <a:solidFill>
                  <a:srgbClr val="575757"/>
                </a:solidFill>
                <a:latin typeface="Trebuchet MS"/>
              </a:rPr>
              <a:t>76 learners</a:t>
            </a:r>
          </a:p>
        </p:txBody>
      </p:sp>
      <p:sp>
        <p:nvSpPr>
          <p:cNvPr id="248" name="TB248"/>
          <p:cNvSpPr txBox="1"/>
          <p:nvPr/>
        </p:nvSpPr>
        <p:spPr>
          <a:xfrm>
            <a:off x="3191256" y="2852928"/>
            <a:ext cx="2633472" cy="274320"/>
          </a:xfrm>
          <a:prstGeom prst="rect">
            <a:avLst/>
          </a:prstGeom>
          <a:noFill/>
        </p:spPr>
        <p:txBody>
          <a:bodyPr wrap="square" rtlCol="0" anchor="ctr"/>
          <a:lstStyle/>
          <a:p>
            <a:r>
              <a:rPr lang="en-US" sz="1400" dirty="0">
                <a:solidFill>
                  <a:srgbClr val="575757"/>
                </a:solidFill>
                <a:latin typeface="Trebuchet MS"/>
              </a:rPr>
              <a:t>56 refunded</a:t>
            </a:r>
          </a:p>
        </p:txBody>
      </p:sp>
      <p:sp>
        <p:nvSpPr>
          <p:cNvPr id="249" name="TB249"/>
          <p:cNvSpPr txBox="1"/>
          <p:nvPr/>
        </p:nvSpPr>
        <p:spPr>
          <a:xfrm>
            <a:off x="3191256" y="3172968"/>
            <a:ext cx="2633472" cy="411480"/>
          </a:xfrm>
          <a:prstGeom prst="rect">
            <a:avLst/>
          </a:prstGeom>
          <a:noFill/>
        </p:spPr>
        <p:txBody>
          <a:bodyPr wrap="square" rtlCol="0" anchor="t"/>
          <a:lstStyle/>
          <a:p>
            <a:r>
              <a:rPr lang="en-US" sz="1200" b="1" dirty="0">
                <a:solidFill>
                  <a:srgbClr val="295E7E"/>
                </a:solidFill>
                <a:latin typeface="Trebuchet MS"/>
              </a:rPr>
              <a:t>20% of all refunders</a:t>
            </a:r>
          </a:p>
        </p:txBody>
      </p:sp>
      <p:sp>
        <p:nvSpPr>
          <p:cNvPr id="250" name="RR250"/>
          <p:cNvSpPr/>
          <p:nvPr/>
        </p:nvSpPr>
        <p:spPr>
          <a:xfrm>
            <a:off x="6236208" y="2075688"/>
            <a:ext cx="5330952" cy="14081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51" name="R251"/>
          <p:cNvSpPr/>
          <p:nvPr/>
        </p:nvSpPr>
        <p:spPr>
          <a:xfrm>
            <a:off x="6236208" y="2075688"/>
            <a:ext cx="5330952" cy="54864"/>
          </a:xfrm>
          <a:prstGeom prst="rect">
            <a:avLst/>
          </a:prstGeom>
          <a:solidFill>
            <a:srgbClr val="6E6F73"/>
          </a:solidFill>
          <a:ln>
            <a:noFill/>
          </a:ln>
        </p:spPr>
        <p:txBody>
          <a:bodyPr/>
          <a:lstStyle/>
          <a:p>
            <a:endParaRPr lang="en-US"/>
          </a:p>
        </p:txBody>
      </p:sp>
      <p:sp>
        <p:nvSpPr>
          <p:cNvPr id="252" name="R252"/>
          <p:cNvSpPr/>
          <p:nvPr/>
        </p:nvSpPr>
        <p:spPr>
          <a:xfrm>
            <a:off x="6236208" y="2075688"/>
            <a:ext cx="5330952" cy="365760"/>
          </a:xfrm>
          <a:prstGeom prst="rect">
            <a:avLst/>
          </a:prstGeom>
          <a:solidFill>
            <a:srgbClr val="6E6F73"/>
          </a:solidFill>
          <a:ln>
            <a:noFill/>
          </a:ln>
        </p:spPr>
        <p:txBody>
          <a:bodyPr/>
          <a:lstStyle/>
          <a:p>
            <a:endParaRPr lang="en-US"/>
          </a:p>
        </p:txBody>
      </p:sp>
      <p:sp>
        <p:nvSpPr>
          <p:cNvPr id="253" name="TB253"/>
          <p:cNvSpPr txBox="1"/>
          <p:nvPr/>
        </p:nvSpPr>
        <p:spPr>
          <a:xfrm>
            <a:off x="6400800" y="2075688"/>
            <a:ext cx="2743200" cy="365760"/>
          </a:xfrm>
          <a:prstGeom prst="rect">
            <a:avLst/>
          </a:prstGeom>
          <a:noFill/>
        </p:spPr>
        <p:txBody>
          <a:bodyPr wrap="square" rtlCol="0" anchor="ctr"/>
          <a:lstStyle/>
          <a:p>
            <a:r>
              <a:rPr lang="en-US" sz="1400" b="1" dirty="0">
                <a:solidFill>
                  <a:srgbClr val="FFFFFF"/>
                </a:solidFill>
                <a:latin typeface="Trebuchet MS"/>
              </a:rPr>
              <a:t>ELEVATED</a:t>
            </a:r>
          </a:p>
        </p:txBody>
      </p:sp>
      <p:sp>
        <p:nvSpPr>
          <p:cNvPr id="254" name="TB254"/>
          <p:cNvSpPr txBox="1"/>
          <p:nvPr/>
        </p:nvSpPr>
        <p:spPr>
          <a:xfrm>
            <a:off x="8979408" y="2075688"/>
            <a:ext cx="2450592" cy="365760"/>
          </a:xfrm>
          <a:prstGeom prst="rect">
            <a:avLst/>
          </a:prstGeom>
          <a:noFill/>
        </p:spPr>
        <p:txBody>
          <a:bodyPr wrap="square" rtlCol="0" anchor="ctr"/>
          <a:lstStyle/>
          <a:p>
            <a:pPr algn="r"/>
            <a:r>
              <a:rPr lang="en-US" sz="1200" dirty="0">
                <a:solidFill>
                  <a:srgbClr val="FFFFFF"/>
                </a:solidFill>
                <a:latin typeface="Trebuchet MS"/>
              </a:rPr>
              <a:t>Did DBWT, missed Week 0</a:t>
            </a:r>
          </a:p>
        </p:txBody>
      </p:sp>
      <p:sp>
        <p:nvSpPr>
          <p:cNvPr id="255" name="TB255"/>
          <p:cNvSpPr txBox="1"/>
          <p:nvPr/>
        </p:nvSpPr>
        <p:spPr>
          <a:xfrm>
            <a:off x="6419088" y="2578608"/>
            <a:ext cx="2194560" cy="777240"/>
          </a:xfrm>
          <a:prstGeom prst="rect">
            <a:avLst/>
          </a:prstGeom>
          <a:noFill/>
        </p:spPr>
        <p:txBody>
          <a:bodyPr wrap="square" rtlCol="0" anchor="ctr"/>
          <a:lstStyle/>
          <a:p>
            <a:r>
              <a:rPr lang="en-US" sz="4200" b="1" dirty="0">
                <a:solidFill>
                  <a:srgbClr val="6E6F73"/>
                </a:solidFill>
                <a:latin typeface="Trebuchet MS"/>
              </a:rPr>
              <a:t>42.0%</a:t>
            </a:r>
          </a:p>
        </p:txBody>
      </p:sp>
      <p:sp>
        <p:nvSpPr>
          <p:cNvPr id="256" name="TB256"/>
          <p:cNvSpPr txBox="1"/>
          <p:nvPr/>
        </p:nvSpPr>
        <p:spPr>
          <a:xfrm>
            <a:off x="6464808" y="3374136"/>
            <a:ext cx="2194560" cy="201168"/>
          </a:xfrm>
          <a:prstGeom prst="rect">
            <a:avLst/>
          </a:prstGeom>
          <a:noFill/>
        </p:spPr>
        <p:txBody>
          <a:bodyPr wrap="square" rtlCol="0" anchor="t"/>
          <a:lstStyle/>
          <a:p>
            <a:r>
              <a:rPr lang="en-US" sz="1200" dirty="0">
                <a:solidFill>
                  <a:srgbClr val="6E6F73"/>
                </a:solidFill>
                <a:latin typeface="Trebuchet MS"/>
              </a:rPr>
              <a:t>refund rate</a:t>
            </a:r>
          </a:p>
        </p:txBody>
      </p:sp>
      <p:sp>
        <p:nvSpPr>
          <p:cNvPr id="257" name="TB257"/>
          <p:cNvSpPr txBox="1"/>
          <p:nvPr/>
        </p:nvSpPr>
        <p:spPr>
          <a:xfrm>
            <a:off x="8796528" y="2578608"/>
            <a:ext cx="2633472" cy="274320"/>
          </a:xfrm>
          <a:prstGeom prst="rect">
            <a:avLst/>
          </a:prstGeom>
          <a:noFill/>
        </p:spPr>
        <p:txBody>
          <a:bodyPr wrap="square" rtlCol="0" anchor="ctr"/>
          <a:lstStyle/>
          <a:p>
            <a:r>
              <a:rPr lang="en-US" sz="1400" b="1" dirty="0">
                <a:solidFill>
                  <a:srgbClr val="575757"/>
                </a:solidFill>
                <a:latin typeface="Trebuchet MS"/>
              </a:rPr>
              <a:t>88 learners</a:t>
            </a:r>
          </a:p>
        </p:txBody>
      </p:sp>
      <p:sp>
        <p:nvSpPr>
          <p:cNvPr id="258" name="TB258"/>
          <p:cNvSpPr txBox="1"/>
          <p:nvPr/>
        </p:nvSpPr>
        <p:spPr>
          <a:xfrm>
            <a:off x="8796528" y="2852928"/>
            <a:ext cx="2633472" cy="274320"/>
          </a:xfrm>
          <a:prstGeom prst="rect">
            <a:avLst/>
          </a:prstGeom>
          <a:noFill/>
        </p:spPr>
        <p:txBody>
          <a:bodyPr wrap="square" rtlCol="0" anchor="ctr"/>
          <a:lstStyle/>
          <a:p>
            <a:r>
              <a:rPr lang="en-US" sz="1400" dirty="0">
                <a:solidFill>
                  <a:srgbClr val="575757"/>
                </a:solidFill>
                <a:latin typeface="Trebuchet MS"/>
              </a:rPr>
              <a:t>37 refunded</a:t>
            </a:r>
          </a:p>
        </p:txBody>
      </p:sp>
      <p:sp>
        <p:nvSpPr>
          <p:cNvPr id="259" name="TB259"/>
          <p:cNvSpPr txBox="1"/>
          <p:nvPr/>
        </p:nvSpPr>
        <p:spPr>
          <a:xfrm>
            <a:off x="8796528" y="3172968"/>
            <a:ext cx="2633472" cy="411480"/>
          </a:xfrm>
          <a:prstGeom prst="rect">
            <a:avLst/>
          </a:prstGeom>
          <a:noFill/>
        </p:spPr>
        <p:txBody>
          <a:bodyPr wrap="square" rtlCol="0" anchor="t"/>
          <a:lstStyle/>
          <a:p>
            <a:r>
              <a:rPr lang="en-US" sz="1200" b="1" dirty="0">
                <a:solidFill>
                  <a:srgbClr val="6E6F73"/>
                </a:solidFill>
                <a:latin typeface="Trebuchet MS"/>
              </a:rPr>
              <a:t>13% of all refunders</a:t>
            </a:r>
          </a:p>
        </p:txBody>
      </p:sp>
      <p:sp>
        <p:nvSpPr>
          <p:cNvPr id="260" name="RR260"/>
          <p:cNvSpPr/>
          <p:nvPr/>
        </p:nvSpPr>
        <p:spPr>
          <a:xfrm>
            <a:off x="630936" y="3758184"/>
            <a:ext cx="5330952" cy="14081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61" name="R261"/>
          <p:cNvSpPr/>
          <p:nvPr/>
        </p:nvSpPr>
        <p:spPr>
          <a:xfrm>
            <a:off x="630936" y="3758184"/>
            <a:ext cx="5330952" cy="54864"/>
          </a:xfrm>
          <a:prstGeom prst="rect">
            <a:avLst/>
          </a:prstGeom>
          <a:solidFill>
            <a:srgbClr val="197A56"/>
          </a:solidFill>
          <a:ln>
            <a:noFill/>
          </a:ln>
        </p:spPr>
        <p:txBody>
          <a:bodyPr/>
          <a:lstStyle/>
          <a:p>
            <a:endParaRPr lang="en-US"/>
          </a:p>
        </p:txBody>
      </p:sp>
      <p:sp>
        <p:nvSpPr>
          <p:cNvPr id="262" name="R262"/>
          <p:cNvSpPr/>
          <p:nvPr/>
        </p:nvSpPr>
        <p:spPr>
          <a:xfrm>
            <a:off x="630936" y="3758184"/>
            <a:ext cx="5330952" cy="365760"/>
          </a:xfrm>
          <a:prstGeom prst="rect">
            <a:avLst/>
          </a:prstGeom>
          <a:solidFill>
            <a:schemeClr val="tx2">
              <a:lumMod val="40000"/>
              <a:lumOff val="60000"/>
            </a:schemeClr>
          </a:solidFill>
          <a:ln>
            <a:noFill/>
          </a:ln>
        </p:spPr>
        <p:txBody>
          <a:bodyPr/>
          <a:lstStyle/>
          <a:p>
            <a:endParaRPr lang="en-US"/>
          </a:p>
        </p:txBody>
      </p:sp>
      <p:sp>
        <p:nvSpPr>
          <p:cNvPr id="263" name="TB263"/>
          <p:cNvSpPr txBox="1"/>
          <p:nvPr/>
        </p:nvSpPr>
        <p:spPr>
          <a:xfrm>
            <a:off x="795527" y="3758184"/>
            <a:ext cx="2743200" cy="365760"/>
          </a:xfrm>
          <a:prstGeom prst="rect">
            <a:avLst/>
          </a:prstGeom>
          <a:noFill/>
        </p:spPr>
        <p:txBody>
          <a:bodyPr wrap="square" rtlCol="0" anchor="ctr"/>
          <a:lstStyle/>
          <a:p>
            <a:r>
              <a:rPr lang="en-US" sz="1400" b="1" dirty="0">
                <a:solidFill>
                  <a:srgbClr val="FFFFFF"/>
                </a:solidFill>
                <a:latin typeface="Trebuchet MS"/>
              </a:rPr>
              <a:t>HIGH</a:t>
            </a:r>
          </a:p>
        </p:txBody>
      </p:sp>
      <p:sp>
        <p:nvSpPr>
          <p:cNvPr id="264" name="TB264"/>
          <p:cNvSpPr txBox="1"/>
          <p:nvPr/>
        </p:nvSpPr>
        <p:spPr>
          <a:xfrm>
            <a:off x="3374136" y="3758184"/>
            <a:ext cx="2450592" cy="365760"/>
          </a:xfrm>
          <a:prstGeom prst="rect">
            <a:avLst/>
          </a:prstGeom>
          <a:noFill/>
        </p:spPr>
        <p:txBody>
          <a:bodyPr wrap="square" rtlCol="0" anchor="ctr"/>
          <a:lstStyle/>
          <a:p>
            <a:pPr algn="r"/>
            <a:r>
              <a:rPr lang="en-US" sz="1200" dirty="0">
                <a:solidFill>
                  <a:srgbClr val="FFFFFF"/>
                </a:solidFill>
                <a:latin typeface="Trebuchet MS"/>
              </a:rPr>
              <a:t>Skipped DBWT, attended Week 0</a:t>
            </a:r>
          </a:p>
        </p:txBody>
      </p:sp>
      <p:sp>
        <p:nvSpPr>
          <p:cNvPr id="265" name="TB265"/>
          <p:cNvSpPr txBox="1"/>
          <p:nvPr/>
        </p:nvSpPr>
        <p:spPr>
          <a:xfrm>
            <a:off x="813815" y="4261104"/>
            <a:ext cx="2194560" cy="777240"/>
          </a:xfrm>
          <a:prstGeom prst="rect">
            <a:avLst/>
          </a:prstGeom>
          <a:noFill/>
        </p:spPr>
        <p:txBody>
          <a:bodyPr wrap="square" rtlCol="0" anchor="ctr"/>
          <a:lstStyle/>
          <a:p>
            <a:r>
              <a:rPr lang="en-US" sz="4200" b="1" dirty="0">
                <a:solidFill>
                  <a:srgbClr val="82B1E5"/>
                </a:solidFill>
                <a:latin typeface="Trebuchet MS"/>
              </a:rPr>
              <a:t>32.4%</a:t>
            </a:r>
          </a:p>
        </p:txBody>
      </p:sp>
      <p:sp>
        <p:nvSpPr>
          <p:cNvPr id="266" name="TB266"/>
          <p:cNvSpPr txBox="1"/>
          <p:nvPr/>
        </p:nvSpPr>
        <p:spPr>
          <a:xfrm>
            <a:off x="859536" y="5056632"/>
            <a:ext cx="2194560" cy="201168"/>
          </a:xfrm>
          <a:prstGeom prst="rect">
            <a:avLst/>
          </a:prstGeom>
          <a:noFill/>
        </p:spPr>
        <p:txBody>
          <a:bodyPr wrap="square" rtlCol="0" anchor="t"/>
          <a:lstStyle/>
          <a:p>
            <a:r>
              <a:rPr lang="en-US" sz="1200" dirty="0">
                <a:solidFill>
                  <a:srgbClr val="6E6F73"/>
                </a:solidFill>
                <a:latin typeface="Trebuchet MS"/>
              </a:rPr>
              <a:t>refund rate</a:t>
            </a:r>
          </a:p>
        </p:txBody>
      </p:sp>
      <p:sp>
        <p:nvSpPr>
          <p:cNvPr id="267" name="TB267"/>
          <p:cNvSpPr txBox="1"/>
          <p:nvPr/>
        </p:nvSpPr>
        <p:spPr>
          <a:xfrm>
            <a:off x="3191256" y="4261104"/>
            <a:ext cx="2633472" cy="274320"/>
          </a:xfrm>
          <a:prstGeom prst="rect">
            <a:avLst/>
          </a:prstGeom>
          <a:noFill/>
        </p:spPr>
        <p:txBody>
          <a:bodyPr wrap="square" rtlCol="0" anchor="ctr"/>
          <a:lstStyle/>
          <a:p>
            <a:r>
              <a:rPr lang="en-US" sz="1400" b="1" dirty="0">
                <a:solidFill>
                  <a:srgbClr val="575757"/>
                </a:solidFill>
                <a:latin typeface="Trebuchet MS"/>
              </a:rPr>
              <a:t>219 learners</a:t>
            </a:r>
          </a:p>
        </p:txBody>
      </p:sp>
      <p:sp>
        <p:nvSpPr>
          <p:cNvPr id="268" name="TB268"/>
          <p:cNvSpPr txBox="1"/>
          <p:nvPr/>
        </p:nvSpPr>
        <p:spPr>
          <a:xfrm>
            <a:off x="3191256" y="4535424"/>
            <a:ext cx="2633472" cy="274320"/>
          </a:xfrm>
          <a:prstGeom prst="rect">
            <a:avLst/>
          </a:prstGeom>
          <a:noFill/>
        </p:spPr>
        <p:txBody>
          <a:bodyPr wrap="square" rtlCol="0" anchor="ctr"/>
          <a:lstStyle/>
          <a:p>
            <a:r>
              <a:rPr lang="en-US" sz="1400" dirty="0">
                <a:solidFill>
                  <a:srgbClr val="575757"/>
                </a:solidFill>
                <a:latin typeface="Trebuchet MS"/>
              </a:rPr>
              <a:t>71 refunded</a:t>
            </a:r>
          </a:p>
        </p:txBody>
      </p:sp>
      <p:sp>
        <p:nvSpPr>
          <p:cNvPr id="269" name="TB269"/>
          <p:cNvSpPr txBox="1"/>
          <p:nvPr/>
        </p:nvSpPr>
        <p:spPr>
          <a:xfrm>
            <a:off x="3191256" y="4855464"/>
            <a:ext cx="2633472" cy="411480"/>
          </a:xfrm>
          <a:prstGeom prst="rect">
            <a:avLst/>
          </a:prstGeom>
          <a:noFill/>
        </p:spPr>
        <p:txBody>
          <a:bodyPr wrap="square" rtlCol="0" anchor="t"/>
          <a:lstStyle/>
          <a:p>
            <a:r>
              <a:rPr lang="en-US" sz="1200" b="1" dirty="0">
                <a:solidFill>
                  <a:srgbClr val="82B1E5"/>
                </a:solidFill>
                <a:latin typeface="Trebuchet MS"/>
              </a:rPr>
              <a:t>25% of all refunders</a:t>
            </a:r>
          </a:p>
        </p:txBody>
      </p:sp>
      <p:sp>
        <p:nvSpPr>
          <p:cNvPr id="270" name="RR270"/>
          <p:cNvSpPr/>
          <p:nvPr/>
        </p:nvSpPr>
        <p:spPr>
          <a:xfrm>
            <a:off x="6236208" y="3758184"/>
            <a:ext cx="5330952" cy="1408176"/>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71" name="R271"/>
          <p:cNvSpPr/>
          <p:nvPr/>
        </p:nvSpPr>
        <p:spPr>
          <a:xfrm>
            <a:off x="6236208" y="3758184"/>
            <a:ext cx="5330952" cy="54864"/>
          </a:xfrm>
          <a:prstGeom prst="rect">
            <a:avLst/>
          </a:prstGeom>
          <a:solidFill>
            <a:srgbClr val="29BA74"/>
          </a:solidFill>
          <a:ln>
            <a:noFill/>
          </a:ln>
        </p:spPr>
        <p:txBody>
          <a:bodyPr/>
          <a:lstStyle/>
          <a:p>
            <a:endParaRPr lang="en-US"/>
          </a:p>
        </p:txBody>
      </p:sp>
      <p:sp>
        <p:nvSpPr>
          <p:cNvPr id="272" name="R272"/>
          <p:cNvSpPr/>
          <p:nvPr/>
        </p:nvSpPr>
        <p:spPr>
          <a:xfrm>
            <a:off x="6236208" y="3758184"/>
            <a:ext cx="5330952" cy="365760"/>
          </a:xfrm>
          <a:prstGeom prst="rect">
            <a:avLst/>
          </a:prstGeom>
          <a:solidFill>
            <a:schemeClr val="accent1">
              <a:lumMod val="75000"/>
            </a:schemeClr>
          </a:solidFill>
          <a:ln>
            <a:noFill/>
          </a:ln>
        </p:spPr>
        <p:txBody>
          <a:bodyPr/>
          <a:lstStyle/>
          <a:p>
            <a:endParaRPr lang="en-US"/>
          </a:p>
        </p:txBody>
      </p:sp>
      <p:sp>
        <p:nvSpPr>
          <p:cNvPr id="273" name="TB273"/>
          <p:cNvSpPr txBox="1"/>
          <p:nvPr/>
        </p:nvSpPr>
        <p:spPr>
          <a:xfrm>
            <a:off x="6400800" y="3758184"/>
            <a:ext cx="2743200" cy="365760"/>
          </a:xfrm>
          <a:prstGeom prst="rect">
            <a:avLst/>
          </a:prstGeom>
          <a:noFill/>
        </p:spPr>
        <p:txBody>
          <a:bodyPr wrap="square" rtlCol="0" anchor="ctr"/>
          <a:lstStyle/>
          <a:p>
            <a:r>
              <a:rPr lang="en-US" sz="1400" b="1" dirty="0">
                <a:solidFill>
                  <a:srgbClr val="FFFFFF"/>
                </a:solidFill>
                <a:latin typeface="Trebuchet MS"/>
              </a:rPr>
              <a:t>ENGAGED EARLY</a:t>
            </a:r>
          </a:p>
        </p:txBody>
      </p:sp>
      <p:sp>
        <p:nvSpPr>
          <p:cNvPr id="274" name="TB274"/>
          <p:cNvSpPr txBox="1"/>
          <p:nvPr/>
        </p:nvSpPr>
        <p:spPr>
          <a:xfrm>
            <a:off x="8979408" y="3758184"/>
            <a:ext cx="2450592" cy="365760"/>
          </a:xfrm>
          <a:prstGeom prst="rect">
            <a:avLst/>
          </a:prstGeom>
          <a:noFill/>
        </p:spPr>
        <p:txBody>
          <a:bodyPr wrap="square" rtlCol="0" anchor="ctr"/>
          <a:lstStyle/>
          <a:p>
            <a:pPr algn="r"/>
            <a:r>
              <a:rPr lang="en-US" sz="1200" dirty="0">
                <a:solidFill>
                  <a:srgbClr val="FFFFFF"/>
                </a:solidFill>
                <a:latin typeface="Trebuchet MS"/>
              </a:rPr>
              <a:t>Did DBWT and Week 0</a:t>
            </a:r>
          </a:p>
        </p:txBody>
      </p:sp>
      <p:sp>
        <p:nvSpPr>
          <p:cNvPr id="275" name="TB275"/>
          <p:cNvSpPr txBox="1"/>
          <p:nvPr/>
        </p:nvSpPr>
        <p:spPr>
          <a:xfrm>
            <a:off x="6419088" y="4261104"/>
            <a:ext cx="2194560" cy="777240"/>
          </a:xfrm>
          <a:prstGeom prst="rect">
            <a:avLst/>
          </a:prstGeom>
          <a:noFill/>
        </p:spPr>
        <p:txBody>
          <a:bodyPr wrap="square" rtlCol="0" anchor="ctr"/>
          <a:lstStyle/>
          <a:p>
            <a:r>
              <a:rPr lang="en-US" sz="4200" b="1" dirty="0">
                <a:solidFill>
                  <a:srgbClr val="0B5395"/>
                </a:solidFill>
                <a:latin typeface="Trebuchet MS"/>
              </a:rPr>
              <a:t>9.2%</a:t>
            </a:r>
          </a:p>
        </p:txBody>
      </p:sp>
      <p:sp>
        <p:nvSpPr>
          <p:cNvPr id="276" name="TB276"/>
          <p:cNvSpPr txBox="1"/>
          <p:nvPr/>
        </p:nvSpPr>
        <p:spPr>
          <a:xfrm>
            <a:off x="6464808" y="5056632"/>
            <a:ext cx="2194560" cy="201168"/>
          </a:xfrm>
          <a:prstGeom prst="rect">
            <a:avLst/>
          </a:prstGeom>
          <a:noFill/>
        </p:spPr>
        <p:txBody>
          <a:bodyPr wrap="square" rtlCol="0" anchor="t"/>
          <a:lstStyle/>
          <a:p>
            <a:r>
              <a:rPr lang="en-US" sz="1200" dirty="0">
                <a:solidFill>
                  <a:srgbClr val="6E6F73"/>
                </a:solidFill>
                <a:latin typeface="Trebuchet MS"/>
              </a:rPr>
              <a:t>refund rate</a:t>
            </a:r>
          </a:p>
        </p:txBody>
      </p:sp>
      <p:sp>
        <p:nvSpPr>
          <p:cNvPr id="277" name="TB277"/>
          <p:cNvSpPr txBox="1"/>
          <p:nvPr/>
        </p:nvSpPr>
        <p:spPr>
          <a:xfrm>
            <a:off x="8796528" y="4261104"/>
            <a:ext cx="2633472" cy="274320"/>
          </a:xfrm>
          <a:prstGeom prst="rect">
            <a:avLst/>
          </a:prstGeom>
          <a:noFill/>
        </p:spPr>
        <p:txBody>
          <a:bodyPr wrap="square" rtlCol="0" anchor="ctr"/>
          <a:lstStyle/>
          <a:p>
            <a:r>
              <a:rPr lang="en-US" sz="1400" b="1" dirty="0">
                <a:solidFill>
                  <a:srgbClr val="575757"/>
                </a:solidFill>
                <a:latin typeface="Trebuchet MS"/>
              </a:rPr>
              <a:t>1,266 learners</a:t>
            </a:r>
          </a:p>
        </p:txBody>
      </p:sp>
      <p:sp>
        <p:nvSpPr>
          <p:cNvPr id="278" name="TB278"/>
          <p:cNvSpPr txBox="1"/>
          <p:nvPr/>
        </p:nvSpPr>
        <p:spPr>
          <a:xfrm>
            <a:off x="8796528" y="4535424"/>
            <a:ext cx="2633472" cy="274320"/>
          </a:xfrm>
          <a:prstGeom prst="rect">
            <a:avLst/>
          </a:prstGeom>
          <a:noFill/>
        </p:spPr>
        <p:txBody>
          <a:bodyPr wrap="square" rtlCol="0" anchor="ctr"/>
          <a:lstStyle/>
          <a:p>
            <a:r>
              <a:rPr lang="en-US" sz="1400" dirty="0">
                <a:solidFill>
                  <a:srgbClr val="575757"/>
                </a:solidFill>
                <a:latin typeface="Trebuchet MS"/>
              </a:rPr>
              <a:t>117 refunded</a:t>
            </a:r>
          </a:p>
        </p:txBody>
      </p:sp>
      <p:sp>
        <p:nvSpPr>
          <p:cNvPr id="279" name="TB279"/>
          <p:cNvSpPr txBox="1"/>
          <p:nvPr/>
        </p:nvSpPr>
        <p:spPr>
          <a:xfrm>
            <a:off x="8796528" y="4855464"/>
            <a:ext cx="2633472" cy="411480"/>
          </a:xfrm>
          <a:prstGeom prst="rect">
            <a:avLst/>
          </a:prstGeom>
          <a:noFill/>
        </p:spPr>
        <p:txBody>
          <a:bodyPr wrap="square" rtlCol="0" anchor="t"/>
          <a:lstStyle/>
          <a:p>
            <a:r>
              <a:rPr lang="en-US" sz="1200" b="1" dirty="0">
                <a:solidFill>
                  <a:srgbClr val="0B5395"/>
                </a:solidFill>
                <a:latin typeface="Trebuchet MS"/>
              </a:rPr>
              <a:t>42% of refunders, 77% of cohort</a:t>
            </a:r>
          </a:p>
        </p:txBody>
      </p:sp>
      <p:sp>
        <p:nvSpPr>
          <p:cNvPr id="280" name="RR280"/>
          <p:cNvSpPr/>
          <p:nvPr/>
        </p:nvSpPr>
        <p:spPr>
          <a:xfrm>
            <a:off x="630936" y="5349240"/>
            <a:ext cx="10936224" cy="594360"/>
          </a:xfrm>
          <a:prstGeom prst="roundRect">
            <a:avLst>
              <a:gd name="adj" fmla="val 8000"/>
            </a:avLst>
          </a:prstGeom>
          <a:solidFill>
            <a:schemeClr val="tx2"/>
          </a:solidFill>
          <a:ln>
            <a:noFill/>
          </a:ln>
        </p:spPr>
        <p:txBody>
          <a:bodyPr/>
          <a:lstStyle/>
          <a:p>
            <a:endParaRPr lang="en-US"/>
          </a:p>
        </p:txBody>
      </p:sp>
      <p:sp>
        <p:nvSpPr>
          <p:cNvPr id="281" name="TB281"/>
          <p:cNvSpPr txBox="1"/>
          <p:nvPr/>
        </p:nvSpPr>
        <p:spPr>
          <a:xfrm>
            <a:off x="859536" y="5404103"/>
            <a:ext cx="10479024" cy="484632"/>
          </a:xfrm>
          <a:prstGeom prst="rect">
            <a:avLst/>
          </a:prstGeom>
          <a:noFill/>
        </p:spPr>
        <p:txBody>
          <a:bodyPr wrap="square" rtlCol="0" anchor="ctr"/>
          <a:lstStyle/>
          <a:p>
            <a:pPr algn="ctr"/>
            <a:r>
              <a:rPr lang="en-US" sz="1400" b="1" dirty="0">
                <a:solidFill>
                  <a:srgbClr val="FFFFFF"/>
                </a:solidFill>
                <a:latin typeface="Trebuchet MS"/>
              </a:rPr>
              <a:t>Combining DBWT skip + Week 0 miss identifies 45% of all future refunders before the course even begins, from just 23% of the cohort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6D0B38C-23DE-8DBE-A131-DF05A81F5503}"/>
              </a:ext>
            </a:extLst>
          </p:cNvPr>
          <p:cNvGraphicFramePr>
            <a:graphicFrameLocks noChangeAspect="1"/>
          </p:cNvGraphicFramePr>
          <p:nvPr>
            <p:custDataLst>
              <p:tags r:id="rId1"/>
            </p:custDataLst>
            <p:extLst>
              <p:ext uri="{D42A27DB-BD31-4B8C-83A1-F6EECF244321}">
                <p14:modId xmlns:p14="http://schemas.microsoft.com/office/powerpoint/2010/main" val="2434571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73" imgH="473" progId="TCLayout.ActiveDocument.1">
                  <p:embed/>
                </p:oleObj>
              </mc:Choice>
              <mc:Fallback>
                <p:oleObj name="think-cell Slide" r:id="rId3" imgW="473" imgH="473" progId="TCLayout.ActiveDocument.1">
                  <p:embed/>
                  <p:pic>
                    <p:nvPicPr>
                      <p:cNvPr id="0" name=""/>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18" name="RR318"/>
          <p:cNvSpPr/>
          <p:nvPr/>
        </p:nvSpPr>
        <p:spPr>
          <a:xfrm>
            <a:off x="8074152" y="2075688"/>
            <a:ext cx="349300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20" name="O320"/>
          <p:cNvSpPr/>
          <p:nvPr/>
        </p:nvSpPr>
        <p:spPr>
          <a:xfrm>
            <a:off x="8257031" y="2240280"/>
            <a:ext cx="502920" cy="502920"/>
          </a:xfrm>
          <a:prstGeom prst="ellipse">
            <a:avLst/>
          </a:prstGeom>
          <a:solidFill>
            <a:schemeClr val="tx2">
              <a:lumMod val="50000"/>
            </a:schemeClr>
          </a:solidFill>
          <a:ln>
            <a:noFill/>
          </a:ln>
        </p:spPr>
        <p:txBody>
          <a:bodyPr/>
          <a:lstStyle/>
          <a:p>
            <a:endParaRPr lang="en-US"/>
          </a:p>
        </p:txBody>
      </p:sp>
      <p:sp>
        <p:nvSpPr>
          <p:cNvPr id="321" name="TB321"/>
          <p:cNvSpPr txBox="1"/>
          <p:nvPr/>
        </p:nvSpPr>
        <p:spPr>
          <a:xfrm>
            <a:off x="8257031" y="2240280"/>
            <a:ext cx="502920" cy="502920"/>
          </a:xfrm>
          <a:prstGeom prst="rect">
            <a:avLst/>
          </a:prstGeom>
          <a:noFill/>
        </p:spPr>
        <p:txBody>
          <a:bodyPr wrap="square" rtlCol="0" anchor="ctr"/>
          <a:lstStyle/>
          <a:p>
            <a:pPr algn="ctr"/>
            <a:r>
              <a:rPr lang="en-US" sz="2200" b="1" dirty="0">
                <a:solidFill>
                  <a:srgbClr val="FFFFFF"/>
                </a:solidFill>
                <a:latin typeface="Trebuchet MS"/>
              </a:rPr>
              <a:t>3</a:t>
            </a:r>
          </a:p>
        </p:txBody>
      </p:sp>
      <p:sp>
        <p:nvSpPr>
          <p:cNvPr id="282" name="ph_title"/>
          <p:cNvSpPr>
            <a:spLocks noGrp="1"/>
          </p:cNvSpPr>
          <p:nvPr>
            <p:ph type="title"/>
          </p:nvPr>
        </p:nvSpPr>
        <p:spPr/>
        <p:txBody>
          <a:bodyPr vert="horz"/>
          <a:lstStyle/>
          <a:p>
            <a:r>
              <a:rPr lang="en-US" dirty="0"/>
              <a:t>Three priority moves can compress the refund rate meaningfully</a:t>
            </a:r>
          </a:p>
        </p:txBody>
      </p:sp>
      <p:sp>
        <p:nvSpPr>
          <p:cNvPr id="283" name="TB283"/>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284" name="RR284"/>
          <p:cNvSpPr/>
          <p:nvPr/>
        </p:nvSpPr>
        <p:spPr>
          <a:xfrm>
            <a:off x="630936" y="2075688"/>
            <a:ext cx="349300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285" name="R285"/>
          <p:cNvSpPr/>
          <p:nvPr/>
        </p:nvSpPr>
        <p:spPr>
          <a:xfrm>
            <a:off x="630936" y="2075688"/>
            <a:ext cx="3493008" cy="54864"/>
          </a:xfrm>
          <a:prstGeom prst="rect">
            <a:avLst/>
          </a:prstGeom>
          <a:solidFill>
            <a:schemeClr val="tx2">
              <a:lumMod val="40000"/>
              <a:lumOff val="60000"/>
            </a:schemeClr>
          </a:solidFill>
          <a:ln>
            <a:noFill/>
          </a:ln>
        </p:spPr>
        <p:txBody>
          <a:bodyPr/>
          <a:lstStyle/>
          <a:p>
            <a:endParaRPr lang="en-US"/>
          </a:p>
        </p:txBody>
      </p:sp>
      <p:sp>
        <p:nvSpPr>
          <p:cNvPr id="286" name="O286"/>
          <p:cNvSpPr/>
          <p:nvPr/>
        </p:nvSpPr>
        <p:spPr>
          <a:xfrm>
            <a:off x="813815" y="2240280"/>
            <a:ext cx="502920" cy="502920"/>
          </a:xfrm>
          <a:prstGeom prst="ellipse">
            <a:avLst/>
          </a:prstGeom>
          <a:solidFill>
            <a:schemeClr val="tx2">
              <a:lumMod val="40000"/>
              <a:lumOff val="60000"/>
            </a:schemeClr>
          </a:solidFill>
          <a:ln>
            <a:noFill/>
          </a:ln>
        </p:spPr>
        <p:txBody>
          <a:bodyPr/>
          <a:lstStyle/>
          <a:p>
            <a:endParaRPr lang="en-US"/>
          </a:p>
        </p:txBody>
      </p:sp>
      <p:sp>
        <p:nvSpPr>
          <p:cNvPr id="287" name="TB287"/>
          <p:cNvSpPr txBox="1"/>
          <p:nvPr/>
        </p:nvSpPr>
        <p:spPr>
          <a:xfrm>
            <a:off x="790956" y="2235707"/>
            <a:ext cx="502920" cy="502920"/>
          </a:xfrm>
          <a:prstGeom prst="rect">
            <a:avLst/>
          </a:prstGeom>
          <a:noFill/>
        </p:spPr>
        <p:txBody>
          <a:bodyPr wrap="square" rtlCol="0" anchor="ctr"/>
          <a:lstStyle/>
          <a:p>
            <a:pPr algn="ctr"/>
            <a:r>
              <a:rPr lang="en-US" sz="2200" b="1" dirty="0">
                <a:solidFill>
                  <a:srgbClr val="FFFFFF"/>
                </a:solidFill>
                <a:latin typeface="Trebuchet MS"/>
              </a:rPr>
              <a:t>1</a:t>
            </a:r>
          </a:p>
        </p:txBody>
      </p:sp>
      <p:sp>
        <p:nvSpPr>
          <p:cNvPr id="288" name="TB288"/>
          <p:cNvSpPr txBox="1"/>
          <p:nvPr/>
        </p:nvSpPr>
        <p:spPr>
          <a:xfrm>
            <a:off x="1408176" y="2240280"/>
            <a:ext cx="2578608" cy="777240"/>
          </a:xfrm>
          <a:prstGeom prst="rect">
            <a:avLst/>
          </a:prstGeom>
          <a:noFill/>
        </p:spPr>
        <p:txBody>
          <a:bodyPr wrap="square" rtlCol="0" anchor="t"/>
          <a:lstStyle/>
          <a:p>
            <a:r>
              <a:rPr lang="en-US" sz="1600" b="1" dirty="0">
                <a:solidFill>
                  <a:srgbClr val="575757"/>
                </a:solidFill>
                <a:latin typeface="Trebuchet MS"/>
              </a:rPr>
              <a:t>Make DBWT effectively non-skippable</a:t>
            </a:r>
          </a:p>
        </p:txBody>
      </p:sp>
      <p:sp>
        <p:nvSpPr>
          <p:cNvPr id="289" name="R289"/>
          <p:cNvSpPr/>
          <p:nvPr/>
        </p:nvSpPr>
        <p:spPr>
          <a:xfrm>
            <a:off x="813815" y="3127248"/>
            <a:ext cx="3127248" cy="18288"/>
          </a:xfrm>
          <a:prstGeom prst="rect">
            <a:avLst/>
          </a:prstGeom>
          <a:solidFill>
            <a:srgbClr val="29BA74"/>
          </a:solidFill>
          <a:ln>
            <a:noFill/>
          </a:ln>
        </p:spPr>
        <p:txBody>
          <a:bodyPr/>
          <a:lstStyle/>
          <a:p>
            <a:endParaRPr lang="en-US"/>
          </a:p>
        </p:txBody>
      </p:sp>
      <p:sp>
        <p:nvSpPr>
          <p:cNvPr id="290" name="TB290"/>
          <p:cNvSpPr txBox="1"/>
          <p:nvPr/>
        </p:nvSpPr>
        <p:spPr>
          <a:xfrm>
            <a:off x="813815" y="3218688"/>
            <a:ext cx="3127248" cy="594360"/>
          </a:xfrm>
          <a:prstGeom prst="rect">
            <a:avLst/>
          </a:prstGeom>
          <a:noFill/>
        </p:spPr>
        <p:txBody>
          <a:bodyPr wrap="square" rtlCol="0" anchor="t"/>
          <a:lstStyle/>
          <a:p>
            <a:r>
              <a:rPr lang="en-US" sz="1200" dirty="0">
                <a:solidFill>
                  <a:srgbClr val="575757"/>
                </a:solidFill>
                <a:latin typeface="Trebuchet MS"/>
              </a:rPr>
              <a:t>12% vs 43% refund gap; the strongest single pre-class predictor in the data</a:t>
            </a:r>
          </a:p>
        </p:txBody>
      </p:sp>
      <p:sp>
        <p:nvSpPr>
          <p:cNvPr id="291" name="TB291"/>
          <p:cNvSpPr txBox="1"/>
          <p:nvPr/>
        </p:nvSpPr>
        <p:spPr>
          <a:xfrm>
            <a:off x="813815" y="3904487"/>
            <a:ext cx="3127248" cy="201168"/>
          </a:xfrm>
          <a:prstGeom prst="rect">
            <a:avLst/>
          </a:prstGeom>
          <a:noFill/>
        </p:spPr>
        <p:txBody>
          <a:bodyPr wrap="square" rtlCol="0" anchor="t"/>
          <a:lstStyle/>
          <a:p>
            <a:r>
              <a:rPr lang="en-US" sz="1200" b="1" dirty="0">
                <a:solidFill>
                  <a:schemeClr val="tx2">
                    <a:lumMod val="40000"/>
                    <a:lumOff val="60000"/>
                  </a:schemeClr>
                </a:solidFill>
                <a:latin typeface="Trebuchet MS"/>
              </a:rPr>
              <a:t>ACTIONS</a:t>
            </a:r>
          </a:p>
        </p:txBody>
      </p:sp>
      <p:sp>
        <p:nvSpPr>
          <p:cNvPr id="292" name="O292"/>
          <p:cNvSpPr/>
          <p:nvPr/>
        </p:nvSpPr>
        <p:spPr>
          <a:xfrm>
            <a:off x="832103" y="4215383"/>
            <a:ext cx="91440" cy="91440"/>
          </a:xfrm>
          <a:prstGeom prst="ellipse">
            <a:avLst/>
          </a:prstGeom>
          <a:solidFill>
            <a:schemeClr val="tx2">
              <a:lumMod val="40000"/>
              <a:lumOff val="60000"/>
            </a:schemeClr>
          </a:solidFill>
          <a:ln>
            <a:noFill/>
          </a:ln>
        </p:spPr>
        <p:txBody>
          <a:bodyPr/>
          <a:lstStyle/>
          <a:p>
            <a:endParaRPr lang="en-US">
              <a:solidFill>
                <a:schemeClr val="tx2">
                  <a:lumMod val="40000"/>
                  <a:lumOff val="60000"/>
                </a:schemeClr>
              </a:solidFill>
            </a:endParaRPr>
          </a:p>
        </p:txBody>
      </p:sp>
      <p:sp>
        <p:nvSpPr>
          <p:cNvPr id="293" name="TB293"/>
          <p:cNvSpPr txBox="1"/>
          <p:nvPr/>
        </p:nvSpPr>
        <p:spPr>
          <a:xfrm>
            <a:off x="996695" y="4160520"/>
            <a:ext cx="2944368" cy="329184"/>
          </a:xfrm>
          <a:prstGeom prst="rect">
            <a:avLst/>
          </a:prstGeom>
          <a:noFill/>
        </p:spPr>
        <p:txBody>
          <a:bodyPr wrap="square" rtlCol="0" anchor="t"/>
          <a:lstStyle/>
          <a:p>
            <a:r>
              <a:rPr lang="en-US" sz="1200" dirty="0">
                <a:solidFill>
                  <a:srgbClr val="575757"/>
                </a:solidFill>
                <a:latin typeface="Trebuchet MS"/>
              </a:rPr>
              <a:t>Gate first live class on DBWT completion</a:t>
            </a:r>
          </a:p>
        </p:txBody>
      </p:sp>
      <p:sp>
        <p:nvSpPr>
          <p:cNvPr id="294" name="O294"/>
          <p:cNvSpPr/>
          <p:nvPr/>
        </p:nvSpPr>
        <p:spPr>
          <a:xfrm>
            <a:off x="832103" y="4544568"/>
            <a:ext cx="91440" cy="91440"/>
          </a:xfrm>
          <a:prstGeom prst="ellipse">
            <a:avLst/>
          </a:prstGeom>
          <a:solidFill>
            <a:schemeClr val="tx2">
              <a:lumMod val="40000"/>
              <a:lumOff val="60000"/>
            </a:schemeClr>
          </a:solidFill>
          <a:ln>
            <a:noFill/>
          </a:ln>
        </p:spPr>
        <p:txBody>
          <a:bodyPr/>
          <a:lstStyle/>
          <a:p>
            <a:endParaRPr lang="en-US">
              <a:solidFill>
                <a:schemeClr val="tx2">
                  <a:lumMod val="40000"/>
                  <a:lumOff val="60000"/>
                </a:schemeClr>
              </a:solidFill>
            </a:endParaRPr>
          </a:p>
        </p:txBody>
      </p:sp>
      <p:sp>
        <p:nvSpPr>
          <p:cNvPr id="295" name="TB295"/>
          <p:cNvSpPr txBox="1"/>
          <p:nvPr/>
        </p:nvSpPr>
        <p:spPr>
          <a:xfrm>
            <a:off x="996695" y="4489704"/>
            <a:ext cx="2944368" cy="329184"/>
          </a:xfrm>
          <a:prstGeom prst="rect">
            <a:avLst/>
          </a:prstGeom>
          <a:noFill/>
        </p:spPr>
        <p:txBody>
          <a:bodyPr wrap="square" rtlCol="0" anchor="t"/>
          <a:lstStyle/>
          <a:p>
            <a:r>
              <a:rPr lang="en-US" sz="1200" dirty="0">
                <a:solidFill>
                  <a:srgbClr val="575757"/>
                </a:solidFill>
                <a:latin typeface="Trebuchet MS"/>
              </a:rPr>
              <a:t>Convert DBWT from webinar to scheduled 1:1</a:t>
            </a:r>
          </a:p>
        </p:txBody>
      </p:sp>
      <p:sp>
        <p:nvSpPr>
          <p:cNvPr id="296" name="O296"/>
          <p:cNvSpPr/>
          <p:nvPr/>
        </p:nvSpPr>
        <p:spPr>
          <a:xfrm>
            <a:off x="832103" y="4873752"/>
            <a:ext cx="91440" cy="91440"/>
          </a:xfrm>
          <a:prstGeom prst="ellipse">
            <a:avLst/>
          </a:prstGeom>
          <a:solidFill>
            <a:schemeClr val="tx2">
              <a:lumMod val="40000"/>
              <a:lumOff val="60000"/>
            </a:schemeClr>
          </a:solidFill>
          <a:ln>
            <a:noFill/>
          </a:ln>
        </p:spPr>
        <p:txBody>
          <a:bodyPr/>
          <a:lstStyle/>
          <a:p>
            <a:endParaRPr lang="en-US">
              <a:solidFill>
                <a:schemeClr val="tx2">
                  <a:lumMod val="40000"/>
                  <a:lumOff val="60000"/>
                </a:schemeClr>
              </a:solidFill>
            </a:endParaRPr>
          </a:p>
        </p:txBody>
      </p:sp>
      <p:sp>
        <p:nvSpPr>
          <p:cNvPr id="297" name="TB297"/>
          <p:cNvSpPr txBox="1"/>
          <p:nvPr/>
        </p:nvSpPr>
        <p:spPr>
          <a:xfrm>
            <a:off x="996695" y="4818888"/>
            <a:ext cx="2944368" cy="329184"/>
          </a:xfrm>
          <a:prstGeom prst="rect">
            <a:avLst/>
          </a:prstGeom>
          <a:noFill/>
        </p:spPr>
        <p:txBody>
          <a:bodyPr wrap="square" rtlCol="0" anchor="t"/>
          <a:lstStyle/>
          <a:p>
            <a:r>
              <a:rPr lang="en-US" sz="1200" dirty="0">
                <a:solidFill>
                  <a:srgbClr val="575757"/>
                </a:solidFill>
                <a:latin typeface="Trebuchet MS"/>
              </a:rPr>
              <a:t>Auto-reschedule no-shows within 48 hours</a:t>
            </a:r>
          </a:p>
        </p:txBody>
      </p:sp>
      <p:sp>
        <p:nvSpPr>
          <p:cNvPr id="298" name="R298"/>
          <p:cNvSpPr/>
          <p:nvPr/>
        </p:nvSpPr>
        <p:spPr>
          <a:xfrm>
            <a:off x="630936" y="5349240"/>
            <a:ext cx="3493008" cy="502920"/>
          </a:xfrm>
          <a:prstGeom prst="rect">
            <a:avLst/>
          </a:prstGeom>
          <a:solidFill>
            <a:schemeClr val="tx2">
              <a:lumMod val="40000"/>
              <a:lumOff val="60000"/>
            </a:schemeClr>
          </a:solidFill>
          <a:ln>
            <a:noFill/>
          </a:ln>
        </p:spPr>
        <p:txBody>
          <a:bodyPr/>
          <a:lstStyle/>
          <a:p>
            <a:endParaRPr lang="en-US"/>
          </a:p>
        </p:txBody>
      </p:sp>
      <p:sp>
        <p:nvSpPr>
          <p:cNvPr id="299" name="TB299"/>
          <p:cNvSpPr txBox="1"/>
          <p:nvPr/>
        </p:nvSpPr>
        <p:spPr>
          <a:xfrm>
            <a:off x="813815" y="5349240"/>
            <a:ext cx="1280160" cy="502920"/>
          </a:xfrm>
          <a:prstGeom prst="rect">
            <a:avLst/>
          </a:prstGeom>
          <a:noFill/>
        </p:spPr>
        <p:txBody>
          <a:bodyPr wrap="square" rtlCol="0" anchor="ctr"/>
          <a:lstStyle/>
          <a:p>
            <a:r>
              <a:rPr lang="en-US" sz="2400" b="1" dirty="0">
                <a:solidFill>
                  <a:srgbClr val="FFFFFF"/>
                </a:solidFill>
                <a:latin typeface="Trebuchet MS"/>
              </a:rPr>
              <a:t>3.5x</a:t>
            </a:r>
          </a:p>
        </p:txBody>
      </p:sp>
      <p:sp>
        <p:nvSpPr>
          <p:cNvPr id="300" name="TB300"/>
          <p:cNvSpPr txBox="1"/>
          <p:nvPr/>
        </p:nvSpPr>
        <p:spPr>
          <a:xfrm>
            <a:off x="2048256" y="5349240"/>
            <a:ext cx="1938528" cy="502920"/>
          </a:xfrm>
          <a:prstGeom prst="rect">
            <a:avLst/>
          </a:prstGeom>
          <a:noFill/>
        </p:spPr>
        <p:txBody>
          <a:bodyPr wrap="square" rtlCol="0" anchor="ctr"/>
          <a:lstStyle/>
          <a:p>
            <a:pPr algn="r"/>
            <a:r>
              <a:rPr lang="en-US" sz="1000" b="1" dirty="0">
                <a:solidFill>
                  <a:srgbClr val="FFFFFF"/>
                </a:solidFill>
                <a:latin typeface="Trebuchet MS"/>
              </a:rPr>
              <a:t>REFUND-RATE SPREAD</a:t>
            </a:r>
          </a:p>
        </p:txBody>
      </p:sp>
      <p:sp>
        <p:nvSpPr>
          <p:cNvPr id="301" name="RR301"/>
          <p:cNvSpPr/>
          <p:nvPr/>
        </p:nvSpPr>
        <p:spPr>
          <a:xfrm>
            <a:off x="4352544" y="2075688"/>
            <a:ext cx="3493008" cy="3776472"/>
          </a:xfrm>
          <a:prstGeom prst="roundRect">
            <a:avLst>
              <a:gd name="adj" fmla="val 5000"/>
            </a:avLst>
          </a:prstGeom>
          <a:solidFill>
            <a:srgbClr val="F2F2F2"/>
          </a:solidFill>
          <a:ln>
            <a:noFill/>
          </a:ln>
          <a:effectLst>
            <a:outerShdw blurRad="50800" dist="25400" dir="8100000" algn="tl" rotWithShape="0">
              <a:srgbClr val="000000">
                <a:alpha val="8000"/>
              </a:srgbClr>
            </a:outerShdw>
          </a:effectLst>
        </p:spPr>
        <p:txBody>
          <a:bodyPr/>
          <a:lstStyle/>
          <a:p>
            <a:endParaRPr lang="en-US"/>
          </a:p>
        </p:txBody>
      </p:sp>
      <p:sp>
        <p:nvSpPr>
          <p:cNvPr id="302" name="R302"/>
          <p:cNvSpPr/>
          <p:nvPr/>
        </p:nvSpPr>
        <p:spPr>
          <a:xfrm>
            <a:off x="4352544" y="2075688"/>
            <a:ext cx="3493008" cy="54864"/>
          </a:xfrm>
          <a:prstGeom prst="rect">
            <a:avLst/>
          </a:prstGeom>
          <a:solidFill>
            <a:schemeClr val="tx2">
              <a:lumMod val="60000"/>
              <a:lumOff val="40000"/>
            </a:schemeClr>
          </a:solidFill>
          <a:ln>
            <a:noFill/>
          </a:ln>
        </p:spPr>
        <p:txBody>
          <a:bodyPr/>
          <a:lstStyle/>
          <a:p>
            <a:endParaRPr lang="en-US"/>
          </a:p>
        </p:txBody>
      </p:sp>
      <p:sp>
        <p:nvSpPr>
          <p:cNvPr id="303" name="O303"/>
          <p:cNvSpPr/>
          <p:nvPr/>
        </p:nvSpPr>
        <p:spPr>
          <a:xfrm>
            <a:off x="4535424" y="2240280"/>
            <a:ext cx="502920" cy="502920"/>
          </a:xfrm>
          <a:prstGeom prst="ellipse">
            <a:avLst/>
          </a:prstGeom>
          <a:solidFill>
            <a:schemeClr val="tx2">
              <a:lumMod val="60000"/>
              <a:lumOff val="40000"/>
            </a:schemeClr>
          </a:solidFill>
          <a:ln>
            <a:noFill/>
          </a:ln>
        </p:spPr>
        <p:txBody>
          <a:bodyPr/>
          <a:lstStyle/>
          <a:p>
            <a:endParaRPr lang="en-US"/>
          </a:p>
        </p:txBody>
      </p:sp>
      <p:sp>
        <p:nvSpPr>
          <p:cNvPr id="304" name="TB304"/>
          <p:cNvSpPr txBox="1"/>
          <p:nvPr/>
        </p:nvSpPr>
        <p:spPr>
          <a:xfrm>
            <a:off x="4535422" y="2235708"/>
            <a:ext cx="502920" cy="502920"/>
          </a:xfrm>
          <a:prstGeom prst="rect">
            <a:avLst/>
          </a:prstGeom>
          <a:noFill/>
        </p:spPr>
        <p:txBody>
          <a:bodyPr wrap="square" rtlCol="0" anchor="ctr"/>
          <a:lstStyle/>
          <a:p>
            <a:pPr algn="ctr"/>
            <a:r>
              <a:rPr lang="en-US" sz="2200" b="1" dirty="0">
                <a:solidFill>
                  <a:srgbClr val="FFFFFF"/>
                </a:solidFill>
                <a:latin typeface="Trebuchet MS"/>
              </a:rPr>
              <a:t>2</a:t>
            </a:r>
          </a:p>
        </p:txBody>
      </p:sp>
      <p:sp>
        <p:nvSpPr>
          <p:cNvPr id="305" name="TB305"/>
          <p:cNvSpPr txBox="1"/>
          <p:nvPr/>
        </p:nvSpPr>
        <p:spPr>
          <a:xfrm>
            <a:off x="5129783" y="2240280"/>
            <a:ext cx="2578608" cy="777240"/>
          </a:xfrm>
          <a:prstGeom prst="rect">
            <a:avLst/>
          </a:prstGeom>
          <a:noFill/>
        </p:spPr>
        <p:txBody>
          <a:bodyPr wrap="square" rtlCol="0" anchor="t"/>
          <a:lstStyle/>
          <a:p>
            <a:r>
              <a:rPr lang="en-US" sz="1600" b="1" dirty="0">
                <a:solidFill>
                  <a:srgbClr val="575757"/>
                </a:solidFill>
                <a:latin typeface="Trebuchet MS"/>
              </a:rPr>
              <a:t>Day-3 outreach trigger on Critical segment</a:t>
            </a:r>
          </a:p>
        </p:txBody>
      </p:sp>
      <p:sp>
        <p:nvSpPr>
          <p:cNvPr id="306" name="R306"/>
          <p:cNvSpPr/>
          <p:nvPr/>
        </p:nvSpPr>
        <p:spPr>
          <a:xfrm>
            <a:off x="4535424" y="3127248"/>
            <a:ext cx="3127248" cy="18288"/>
          </a:xfrm>
          <a:prstGeom prst="rect">
            <a:avLst/>
          </a:prstGeom>
          <a:solidFill>
            <a:srgbClr val="197A56"/>
          </a:solidFill>
          <a:ln>
            <a:noFill/>
          </a:ln>
        </p:spPr>
        <p:txBody>
          <a:bodyPr/>
          <a:lstStyle/>
          <a:p>
            <a:endParaRPr lang="en-US"/>
          </a:p>
        </p:txBody>
      </p:sp>
      <p:sp>
        <p:nvSpPr>
          <p:cNvPr id="307" name="TB307"/>
          <p:cNvSpPr txBox="1"/>
          <p:nvPr/>
        </p:nvSpPr>
        <p:spPr>
          <a:xfrm>
            <a:off x="4535424" y="3218688"/>
            <a:ext cx="3127248" cy="594360"/>
          </a:xfrm>
          <a:prstGeom prst="rect">
            <a:avLst/>
          </a:prstGeom>
          <a:noFill/>
        </p:spPr>
        <p:txBody>
          <a:bodyPr wrap="square" rtlCol="0" anchor="t"/>
          <a:lstStyle/>
          <a:p>
            <a:r>
              <a:rPr lang="en-US" sz="1200" dirty="0">
                <a:solidFill>
                  <a:srgbClr val="575757"/>
                </a:solidFill>
                <a:latin typeface="Trebuchet MS"/>
              </a:rPr>
              <a:t>76 learners (5% of cohort), 74% refund rate, covers 20% of all refunders</a:t>
            </a:r>
          </a:p>
        </p:txBody>
      </p:sp>
      <p:sp>
        <p:nvSpPr>
          <p:cNvPr id="308" name="TB308"/>
          <p:cNvSpPr txBox="1"/>
          <p:nvPr/>
        </p:nvSpPr>
        <p:spPr>
          <a:xfrm>
            <a:off x="4535424" y="3904487"/>
            <a:ext cx="3127248" cy="201168"/>
          </a:xfrm>
          <a:prstGeom prst="rect">
            <a:avLst/>
          </a:prstGeom>
          <a:noFill/>
        </p:spPr>
        <p:txBody>
          <a:bodyPr wrap="square" rtlCol="0" anchor="t"/>
          <a:lstStyle/>
          <a:p>
            <a:r>
              <a:rPr lang="en-US" sz="1200" b="1" dirty="0">
                <a:solidFill>
                  <a:srgbClr val="197A56"/>
                </a:solidFill>
                <a:latin typeface="Trebuchet MS"/>
              </a:rPr>
              <a:t>ACTIONS</a:t>
            </a:r>
          </a:p>
        </p:txBody>
      </p:sp>
      <p:sp>
        <p:nvSpPr>
          <p:cNvPr id="309" name="O309"/>
          <p:cNvSpPr/>
          <p:nvPr/>
        </p:nvSpPr>
        <p:spPr>
          <a:xfrm>
            <a:off x="4553712" y="4215383"/>
            <a:ext cx="91440" cy="91440"/>
          </a:xfrm>
          <a:prstGeom prst="ellipse">
            <a:avLst/>
          </a:prstGeom>
          <a:solidFill>
            <a:srgbClr val="197A56"/>
          </a:solidFill>
          <a:ln>
            <a:noFill/>
          </a:ln>
        </p:spPr>
        <p:txBody>
          <a:bodyPr/>
          <a:lstStyle/>
          <a:p>
            <a:endParaRPr lang="en-US"/>
          </a:p>
        </p:txBody>
      </p:sp>
      <p:sp>
        <p:nvSpPr>
          <p:cNvPr id="310" name="TB310"/>
          <p:cNvSpPr txBox="1"/>
          <p:nvPr/>
        </p:nvSpPr>
        <p:spPr>
          <a:xfrm>
            <a:off x="4718304" y="4160520"/>
            <a:ext cx="2944368" cy="329184"/>
          </a:xfrm>
          <a:prstGeom prst="rect">
            <a:avLst/>
          </a:prstGeom>
          <a:noFill/>
        </p:spPr>
        <p:txBody>
          <a:bodyPr wrap="square" rtlCol="0" anchor="t"/>
          <a:lstStyle/>
          <a:p>
            <a:r>
              <a:rPr lang="en-US" sz="1200" dirty="0">
                <a:solidFill>
                  <a:srgbClr val="575757"/>
                </a:solidFill>
                <a:latin typeface="Trebuchet MS"/>
              </a:rPr>
              <a:t>Daily flag for No-DBWT + No-Wk0 by Day 3</a:t>
            </a:r>
          </a:p>
        </p:txBody>
      </p:sp>
      <p:sp>
        <p:nvSpPr>
          <p:cNvPr id="311" name="O311"/>
          <p:cNvSpPr/>
          <p:nvPr/>
        </p:nvSpPr>
        <p:spPr>
          <a:xfrm>
            <a:off x="4553712" y="4544568"/>
            <a:ext cx="91440" cy="91440"/>
          </a:xfrm>
          <a:prstGeom prst="ellipse">
            <a:avLst/>
          </a:prstGeom>
          <a:solidFill>
            <a:srgbClr val="197A56"/>
          </a:solidFill>
          <a:ln>
            <a:noFill/>
          </a:ln>
        </p:spPr>
        <p:txBody>
          <a:bodyPr/>
          <a:lstStyle/>
          <a:p>
            <a:endParaRPr lang="en-US"/>
          </a:p>
        </p:txBody>
      </p:sp>
      <p:sp>
        <p:nvSpPr>
          <p:cNvPr id="312" name="TB312"/>
          <p:cNvSpPr txBox="1"/>
          <p:nvPr/>
        </p:nvSpPr>
        <p:spPr>
          <a:xfrm>
            <a:off x="4718304" y="4489704"/>
            <a:ext cx="2944368" cy="329184"/>
          </a:xfrm>
          <a:prstGeom prst="rect">
            <a:avLst/>
          </a:prstGeom>
          <a:noFill/>
        </p:spPr>
        <p:txBody>
          <a:bodyPr wrap="square" rtlCol="0" anchor="t"/>
          <a:lstStyle/>
          <a:p>
            <a:r>
              <a:rPr lang="en-US" sz="1200" dirty="0">
                <a:solidFill>
                  <a:srgbClr val="575757"/>
                </a:solidFill>
                <a:latin typeface="Trebuchet MS"/>
              </a:rPr>
              <a:t>Personal phone call within 24 hours</a:t>
            </a:r>
          </a:p>
        </p:txBody>
      </p:sp>
      <p:sp>
        <p:nvSpPr>
          <p:cNvPr id="313" name="O313"/>
          <p:cNvSpPr/>
          <p:nvPr/>
        </p:nvSpPr>
        <p:spPr>
          <a:xfrm>
            <a:off x="4553712" y="4873752"/>
            <a:ext cx="91440" cy="91440"/>
          </a:xfrm>
          <a:prstGeom prst="ellipse">
            <a:avLst/>
          </a:prstGeom>
          <a:solidFill>
            <a:srgbClr val="197A56"/>
          </a:solidFill>
          <a:ln>
            <a:noFill/>
          </a:ln>
        </p:spPr>
        <p:txBody>
          <a:bodyPr/>
          <a:lstStyle/>
          <a:p>
            <a:endParaRPr lang="en-US"/>
          </a:p>
        </p:txBody>
      </p:sp>
      <p:sp>
        <p:nvSpPr>
          <p:cNvPr id="314" name="TB314"/>
          <p:cNvSpPr txBox="1"/>
          <p:nvPr/>
        </p:nvSpPr>
        <p:spPr>
          <a:xfrm>
            <a:off x="4718304" y="4818888"/>
            <a:ext cx="2944368" cy="329184"/>
          </a:xfrm>
          <a:prstGeom prst="rect">
            <a:avLst/>
          </a:prstGeom>
          <a:noFill/>
        </p:spPr>
        <p:txBody>
          <a:bodyPr wrap="square" rtlCol="0" anchor="t"/>
          <a:lstStyle/>
          <a:p>
            <a:r>
              <a:rPr lang="en-US" sz="1200" dirty="0">
                <a:solidFill>
                  <a:srgbClr val="575757"/>
                </a:solidFill>
                <a:latin typeface="Trebuchet MS"/>
              </a:rPr>
              <a:t>Soft pause option before refund discussion</a:t>
            </a:r>
          </a:p>
        </p:txBody>
      </p:sp>
      <p:sp>
        <p:nvSpPr>
          <p:cNvPr id="315" name="R315"/>
          <p:cNvSpPr/>
          <p:nvPr/>
        </p:nvSpPr>
        <p:spPr>
          <a:xfrm>
            <a:off x="4352544" y="5349240"/>
            <a:ext cx="3493008" cy="502920"/>
          </a:xfrm>
          <a:prstGeom prst="rect">
            <a:avLst/>
          </a:prstGeom>
          <a:solidFill>
            <a:schemeClr val="tx2">
              <a:lumMod val="60000"/>
              <a:lumOff val="40000"/>
            </a:schemeClr>
          </a:solidFill>
          <a:ln>
            <a:noFill/>
          </a:ln>
        </p:spPr>
        <p:txBody>
          <a:bodyPr/>
          <a:lstStyle/>
          <a:p>
            <a:endParaRPr lang="en-US"/>
          </a:p>
        </p:txBody>
      </p:sp>
      <p:sp>
        <p:nvSpPr>
          <p:cNvPr id="316" name="TB316"/>
          <p:cNvSpPr txBox="1"/>
          <p:nvPr/>
        </p:nvSpPr>
        <p:spPr>
          <a:xfrm>
            <a:off x="4535424" y="5349240"/>
            <a:ext cx="1280160" cy="502920"/>
          </a:xfrm>
          <a:prstGeom prst="rect">
            <a:avLst/>
          </a:prstGeom>
          <a:noFill/>
        </p:spPr>
        <p:txBody>
          <a:bodyPr wrap="square" rtlCol="0" anchor="ctr"/>
          <a:lstStyle/>
          <a:p>
            <a:r>
              <a:rPr lang="en-US" sz="2400" b="1" dirty="0">
                <a:solidFill>
                  <a:srgbClr val="FFFFFF"/>
                </a:solidFill>
                <a:latin typeface="Trebuchet MS"/>
              </a:rPr>
              <a:t>20%</a:t>
            </a:r>
          </a:p>
        </p:txBody>
      </p:sp>
      <p:sp>
        <p:nvSpPr>
          <p:cNvPr id="317" name="TB317"/>
          <p:cNvSpPr txBox="1"/>
          <p:nvPr/>
        </p:nvSpPr>
        <p:spPr>
          <a:xfrm>
            <a:off x="5769864" y="5349240"/>
            <a:ext cx="1938528" cy="502920"/>
          </a:xfrm>
          <a:prstGeom prst="rect">
            <a:avLst/>
          </a:prstGeom>
          <a:noFill/>
        </p:spPr>
        <p:txBody>
          <a:bodyPr wrap="square" rtlCol="0" anchor="ctr"/>
          <a:lstStyle/>
          <a:p>
            <a:pPr algn="r"/>
            <a:r>
              <a:rPr lang="en-US" sz="1000" b="1" dirty="0">
                <a:solidFill>
                  <a:srgbClr val="FFFFFF"/>
                </a:solidFill>
                <a:latin typeface="Trebuchet MS"/>
              </a:rPr>
              <a:t>OF REFUNDERS REACHABLE</a:t>
            </a:r>
          </a:p>
        </p:txBody>
      </p:sp>
      <p:sp>
        <p:nvSpPr>
          <p:cNvPr id="319" name="R319"/>
          <p:cNvSpPr/>
          <p:nvPr/>
        </p:nvSpPr>
        <p:spPr>
          <a:xfrm>
            <a:off x="8074152" y="2075688"/>
            <a:ext cx="3493008" cy="54864"/>
          </a:xfrm>
          <a:prstGeom prst="rect">
            <a:avLst/>
          </a:prstGeom>
          <a:solidFill>
            <a:schemeClr val="tx2">
              <a:lumMod val="50000"/>
            </a:schemeClr>
          </a:solidFill>
          <a:ln>
            <a:noFill/>
          </a:ln>
        </p:spPr>
        <p:txBody>
          <a:bodyPr/>
          <a:lstStyle/>
          <a:p>
            <a:endParaRPr lang="en-US"/>
          </a:p>
        </p:txBody>
      </p:sp>
      <p:sp>
        <p:nvSpPr>
          <p:cNvPr id="322" name="TB322"/>
          <p:cNvSpPr txBox="1"/>
          <p:nvPr/>
        </p:nvSpPr>
        <p:spPr>
          <a:xfrm>
            <a:off x="8851392" y="2240280"/>
            <a:ext cx="2578608" cy="777240"/>
          </a:xfrm>
          <a:prstGeom prst="rect">
            <a:avLst/>
          </a:prstGeom>
          <a:noFill/>
        </p:spPr>
        <p:txBody>
          <a:bodyPr wrap="square" rtlCol="0" anchor="t"/>
          <a:lstStyle/>
          <a:p>
            <a:r>
              <a:rPr lang="en-US" sz="1600" b="1" dirty="0">
                <a:solidFill>
                  <a:srgbClr val="575757"/>
                </a:solidFill>
                <a:latin typeface="Trebuchet MS"/>
              </a:rPr>
              <a:t>Tighten financial qualification at sales</a:t>
            </a:r>
          </a:p>
        </p:txBody>
      </p:sp>
      <p:sp>
        <p:nvSpPr>
          <p:cNvPr id="323" name="R323"/>
          <p:cNvSpPr/>
          <p:nvPr/>
        </p:nvSpPr>
        <p:spPr>
          <a:xfrm>
            <a:off x="8257031" y="3127248"/>
            <a:ext cx="3127248" cy="18288"/>
          </a:xfrm>
          <a:prstGeom prst="rect">
            <a:avLst/>
          </a:prstGeom>
          <a:solidFill>
            <a:srgbClr val="03522D"/>
          </a:solidFill>
          <a:ln>
            <a:noFill/>
          </a:ln>
        </p:spPr>
        <p:txBody>
          <a:bodyPr/>
          <a:lstStyle/>
          <a:p>
            <a:endParaRPr lang="en-US"/>
          </a:p>
        </p:txBody>
      </p:sp>
      <p:sp>
        <p:nvSpPr>
          <p:cNvPr id="324" name="TB324"/>
          <p:cNvSpPr txBox="1"/>
          <p:nvPr/>
        </p:nvSpPr>
        <p:spPr>
          <a:xfrm>
            <a:off x="8257031" y="3218688"/>
            <a:ext cx="3127248" cy="594360"/>
          </a:xfrm>
          <a:prstGeom prst="rect">
            <a:avLst/>
          </a:prstGeom>
          <a:noFill/>
        </p:spPr>
        <p:txBody>
          <a:bodyPr wrap="square" rtlCol="0" anchor="t"/>
          <a:lstStyle/>
          <a:p>
            <a:r>
              <a:rPr lang="en-US" sz="1200" dirty="0">
                <a:solidFill>
                  <a:srgbClr val="575757"/>
                </a:solidFill>
                <a:latin typeface="Trebuchet MS"/>
              </a:rPr>
              <a:t>21% of refund reasons trace to loan rejection or affordability gaps</a:t>
            </a:r>
          </a:p>
        </p:txBody>
      </p:sp>
      <p:sp>
        <p:nvSpPr>
          <p:cNvPr id="325" name="TB325"/>
          <p:cNvSpPr txBox="1"/>
          <p:nvPr/>
        </p:nvSpPr>
        <p:spPr>
          <a:xfrm>
            <a:off x="8257031" y="3904487"/>
            <a:ext cx="3127248" cy="201168"/>
          </a:xfrm>
          <a:prstGeom prst="rect">
            <a:avLst/>
          </a:prstGeom>
          <a:noFill/>
        </p:spPr>
        <p:txBody>
          <a:bodyPr wrap="square" rtlCol="0" anchor="t"/>
          <a:lstStyle/>
          <a:p>
            <a:r>
              <a:rPr lang="en-US" sz="1200" b="1" dirty="0">
                <a:solidFill>
                  <a:srgbClr val="03522D"/>
                </a:solidFill>
                <a:latin typeface="Trebuchet MS"/>
              </a:rPr>
              <a:t>ACTIONS</a:t>
            </a:r>
          </a:p>
        </p:txBody>
      </p:sp>
      <p:sp>
        <p:nvSpPr>
          <p:cNvPr id="326" name="O326"/>
          <p:cNvSpPr/>
          <p:nvPr/>
        </p:nvSpPr>
        <p:spPr>
          <a:xfrm>
            <a:off x="8275320" y="4215383"/>
            <a:ext cx="91440" cy="91440"/>
          </a:xfrm>
          <a:prstGeom prst="ellipse">
            <a:avLst/>
          </a:prstGeom>
          <a:solidFill>
            <a:srgbClr val="03522D"/>
          </a:solidFill>
          <a:ln>
            <a:noFill/>
          </a:ln>
        </p:spPr>
        <p:txBody>
          <a:bodyPr/>
          <a:lstStyle/>
          <a:p>
            <a:endParaRPr lang="en-US"/>
          </a:p>
        </p:txBody>
      </p:sp>
      <p:sp>
        <p:nvSpPr>
          <p:cNvPr id="327" name="TB327"/>
          <p:cNvSpPr txBox="1"/>
          <p:nvPr/>
        </p:nvSpPr>
        <p:spPr>
          <a:xfrm>
            <a:off x="8439912" y="4160520"/>
            <a:ext cx="2944368" cy="329184"/>
          </a:xfrm>
          <a:prstGeom prst="rect">
            <a:avLst/>
          </a:prstGeom>
          <a:noFill/>
        </p:spPr>
        <p:txBody>
          <a:bodyPr wrap="square" rtlCol="0" anchor="t"/>
          <a:lstStyle/>
          <a:p>
            <a:r>
              <a:rPr lang="en-US" sz="1200" dirty="0">
                <a:solidFill>
                  <a:srgbClr val="575757"/>
                </a:solidFill>
                <a:latin typeface="Trebuchet MS"/>
              </a:rPr>
              <a:t>Pre-qualify loan eligibility before DP</a:t>
            </a:r>
          </a:p>
        </p:txBody>
      </p:sp>
      <p:sp>
        <p:nvSpPr>
          <p:cNvPr id="328" name="O328"/>
          <p:cNvSpPr/>
          <p:nvPr/>
        </p:nvSpPr>
        <p:spPr>
          <a:xfrm>
            <a:off x="8275320" y="4544568"/>
            <a:ext cx="91440" cy="91440"/>
          </a:xfrm>
          <a:prstGeom prst="ellipse">
            <a:avLst/>
          </a:prstGeom>
          <a:solidFill>
            <a:srgbClr val="03522D"/>
          </a:solidFill>
          <a:ln>
            <a:noFill/>
          </a:ln>
        </p:spPr>
        <p:txBody>
          <a:bodyPr/>
          <a:lstStyle/>
          <a:p>
            <a:endParaRPr lang="en-US"/>
          </a:p>
        </p:txBody>
      </p:sp>
      <p:sp>
        <p:nvSpPr>
          <p:cNvPr id="329" name="TB329"/>
          <p:cNvSpPr txBox="1"/>
          <p:nvPr/>
        </p:nvSpPr>
        <p:spPr>
          <a:xfrm>
            <a:off x="8439912" y="4489704"/>
            <a:ext cx="2944368" cy="329184"/>
          </a:xfrm>
          <a:prstGeom prst="rect">
            <a:avLst/>
          </a:prstGeom>
          <a:noFill/>
        </p:spPr>
        <p:txBody>
          <a:bodyPr wrap="square" rtlCol="0" anchor="t"/>
          <a:lstStyle/>
          <a:p>
            <a:r>
              <a:rPr lang="en-US" sz="1200" dirty="0">
                <a:solidFill>
                  <a:srgbClr val="575757"/>
                </a:solidFill>
                <a:latin typeface="Trebuchet MS"/>
              </a:rPr>
              <a:t>Mandatory co-applicant on borderline cases</a:t>
            </a:r>
          </a:p>
        </p:txBody>
      </p:sp>
      <p:sp>
        <p:nvSpPr>
          <p:cNvPr id="330" name="O330"/>
          <p:cNvSpPr/>
          <p:nvPr/>
        </p:nvSpPr>
        <p:spPr>
          <a:xfrm>
            <a:off x="8275320" y="4873752"/>
            <a:ext cx="91440" cy="91440"/>
          </a:xfrm>
          <a:prstGeom prst="ellipse">
            <a:avLst/>
          </a:prstGeom>
          <a:solidFill>
            <a:srgbClr val="03522D"/>
          </a:solidFill>
          <a:ln>
            <a:noFill/>
          </a:ln>
        </p:spPr>
        <p:txBody>
          <a:bodyPr/>
          <a:lstStyle/>
          <a:p>
            <a:endParaRPr lang="en-US"/>
          </a:p>
        </p:txBody>
      </p:sp>
      <p:sp>
        <p:nvSpPr>
          <p:cNvPr id="331" name="TB331"/>
          <p:cNvSpPr txBox="1"/>
          <p:nvPr/>
        </p:nvSpPr>
        <p:spPr>
          <a:xfrm>
            <a:off x="8439912" y="4818888"/>
            <a:ext cx="2944368" cy="329184"/>
          </a:xfrm>
          <a:prstGeom prst="rect">
            <a:avLst/>
          </a:prstGeom>
          <a:noFill/>
        </p:spPr>
        <p:txBody>
          <a:bodyPr wrap="square" rtlCol="0" anchor="t"/>
          <a:lstStyle/>
          <a:p>
            <a:r>
              <a:rPr lang="en-US" sz="1200" dirty="0">
                <a:solidFill>
                  <a:srgbClr val="575757"/>
                </a:solidFill>
                <a:latin typeface="Trebuchet MS"/>
              </a:rPr>
              <a:t>Transparent pricing tier disclosure</a:t>
            </a:r>
          </a:p>
        </p:txBody>
      </p:sp>
      <p:sp>
        <p:nvSpPr>
          <p:cNvPr id="332" name="R332"/>
          <p:cNvSpPr/>
          <p:nvPr/>
        </p:nvSpPr>
        <p:spPr>
          <a:xfrm>
            <a:off x="8074152" y="5349240"/>
            <a:ext cx="3493008" cy="502920"/>
          </a:xfrm>
          <a:prstGeom prst="rect">
            <a:avLst/>
          </a:prstGeom>
          <a:solidFill>
            <a:schemeClr val="tx2">
              <a:lumMod val="50000"/>
            </a:schemeClr>
          </a:solidFill>
          <a:ln>
            <a:noFill/>
          </a:ln>
        </p:spPr>
        <p:txBody>
          <a:bodyPr/>
          <a:lstStyle/>
          <a:p>
            <a:endParaRPr lang="en-US"/>
          </a:p>
        </p:txBody>
      </p:sp>
      <p:sp>
        <p:nvSpPr>
          <p:cNvPr id="333" name="TB333"/>
          <p:cNvSpPr txBox="1"/>
          <p:nvPr/>
        </p:nvSpPr>
        <p:spPr>
          <a:xfrm>
            <a:off x="8257031" y="5349240"/>
            <a:ext cx="1280160" cy="502920"/>
          </a:xfrm>
          <a:prstGeom prst="rect">
            <a:avLst/>
          </a:prstGeom>
          <a:noFill/>
        </p:spPr>
        <p:txBody>
          <a:bodyPr wrap="square" rtlCol="0" anchor="ctr"/>
          <a:lstStyle/>
          <a:p>
            <a:r>
              <a:rPr lang="en-US" sz="2400" b="1" dirty="0">
                <a:solidFill>
                  <a:srgbClr val="FFFFFF"/>
                </a:solidFill>
                <a:latin typeface="Trebuchet MS"/>
              </a:rPr>
              <a:t>60</a:t>
            </a:r>
          </a:p>
        </p:txBody>
      </p:sp>
      <p:sp>
        <p:nvSpPr>
          <p:cNvPr id="334" name="TB334"/>
          <p:cNvSpPr txBox="1"/>
          <p:nvPr/>
        </p:nvSpPr>
        <p:spPr>
          <a:xfrm>
            <a:off x="9491472" y="5349240"/>
            <a:ext cx="1938528" cy="502920"/>
          </a:xfrm>
          <a:prstGeom prst="rect">
            <a:avLst/>
          </a:prstGeom>
          <a:noFill/>
        </p:spPr>
        <p:txBody>
          <a:bodyPr wrap="square" rtlCol="0" anchor="ctr"/>
          <a:lstStyle/>
          <a:p>
            <a:pPr algn="r"/>
            <a:r>
              <a:rPr lang="en-US" sz="1000" b="1" dirty="0">
                <a:solidFill>
                  <a:srgbClr val="FFFFFF"/>
                </a:solidFill>
                <a:latin typeface="Trebuchet MS"/>
              </a:rPr>
              <a:t>PREVENTABLE UPSTREAM</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ph_title"/>
          <p:cNvSpPr>
            <a:spLocks noGrp="1"/>
          </p:cNvSpPr>
          <p:nvPr>
            <p:ph type="title"/>
          </p:nvPr>
        </p:nvSpPr>
        <p:spPr/>
        <p:txBody>
          <a:bodyPr/>
          <a:lstStyle/>
          <a:p>
            <a:r>
              <a:rPr lang="en-US" dirty="0"/>
              <a:t>Eight follow-up hypotheses are worth deeper data; three are highest-priority</a:t>
            </a:r>
          </a:p>
        </p:txBody>
      </p:sp>
      <p:sp>
        <p:nvSpPr>
          <p:cNvPr id="336" name="TB336"/>
          <p:cNvSpPr txBox="1"/>
          <p:nvPr/>
        </p:nvSpPr>
        <p:spPr>
          <a:xfrm>
            <a:off x="630936" y="6163056"/>
            <a:ext cx="9034272" cy="274320"/>
          </a:xfrm>
          <a:prstGeom prst="rect">
            <a:avLst/>
          </a:prstGeom>
          <a:noFill/>
        </p:spPr>
        <p:txBody>
          <a:bodyPr wrap="square" rtlCol="0" anchor="t"/>
          <a:lstStyle/>
          <a:p>
            <a:r>
              <a:rPr lang="en-US" sz="1000" dirty="0">
                <a:solidFill>
                  <a:srgbClr val="6E6F73"/>
                </a:solidFill>
                <a:latin typeface="Trebuchet MS"/>
              </a:rPr>
              <a:t>Source: Refund Team Tracker, Comms Tracker, Attendance &amp; DBWT data; Academy Intake X (n=1,649)</a:t>
            </a:r>
          </a:p>
        </p:txBody>
      </p:sp>
      <p:sp>
        <p:nvSpPr>
          <p:cNvPr id="337" name="R337"/>
          <p:cNvSpPr/>
          <p:nvPr/>
        </p:nvSpPr>
        <p:spPr>
          <a:xfrm>
            <a:off x="630936" y="2075688"/>
            <a:ext cx="91440" cy="435483"/>
          </a:xfrm>
          <a:prstGeom prst="rect">
            <a:avLst/>
          </a:prstGeom>
          <a:solidFill>
            <a:schemeClr val="bg2">
              <a:lumMod val="50000"/>
            </a:schemeClr>
          </a:solidFill>
          <a:ln>
            <a:noFill/>
          </a:ln>
        </p:spPr>
        <p:txBody>
          <a:bodyPr/>
          <a:lstStyle/>
          <a:p>
            <a:endParaRPr lang="en-US"/>
          </a:p>
        </p:txBody>
      </p:sp>
      <p:sp>
        <p:nvSpPr>
          <p:cNvPr id="338" name="R338"/>
          <p:cNvSpPr/>
          <p:nvPr/>
        </p:nvSpPr>
        <p:spPr>
          <a:xfrm>
            <a:off x="722375" y="2075688"/>
            <a:ext cx="10844784" cy="435483"/>
          </a:xfrm>
          <a:prstGeom prst="rect">
            <a:avLst/>
          </a:prstGeom>
          <a:solidFill>
            <a:srgbClr val="F2F2F2"/>
          </a:solidFill>
          <a:ln w="9525">
            <a:solidFill>
              <a:srgbClr val="F2F2F2"/>
            </a:solidFill>
          </a:ln>
        </p:spPr>
        <p:txBody>
          <a:bodyPr/>
          <a:lstStyle/>
          <a:p>
            <a:endParaRPr lang="en-US"/>
          </a:p>
        </p:txBody>
      </p:sp>
      <p:sp>
        <p:nvSpPr>
          <p:cNvPr id="339" name="O339"/>
          <p:cNvSpPr/>
          <p:nvPr/>
        </p:nvSpPr>
        <p:spPr>
          <a:xfrm>
            <a:off x="832103" y="2157984"/>
            <a:ext cx="270891" cy="270891"/>
          </a:xfrm>
          <a:prstGeom prst="ellipse">
            <a:avLst/>
          </a:prstGeom>
          <a:solidFill>
            <a:schemeClr val="bg2">
              <a:lumMod val="50000"/>
            </a:schemeClr>
          </a:solidFill>
          <a:ln>
            <a:noFill/>
          </a:ln>
        </p:spPr>
        <p:txBody>
          <a:bodyPr/>
          <a:lstStyle/>
          <a:p>
            <a:endParaRPr lang="en-US"/>
          </a:p>
        </p:txBody>
      </p:sp>
      <p:sp>
        <p:nvSpPr>
          <p:cNvPr id="341" name="AutoShape 28">
            <a:extLst>
              <a:ext uri="{FF2B5EF4-FFF2-40B4-BE49-F238E27FC236}">
                <a16:creationId xmlns:a16="http://schemas.microsoft.com/office/drawing/2014/main" id="{8D9D58F6-AE19-4BC2-B983-31F4E3A5752A}"/>
              </a:ext>
            </a:extLst>
          </p:cNvPr>
          <p:cNvSpPr>
            <a:spLocks noChangeAspect="1" noChangeArrowheads="1" noTextEdit="1"/>
          </p:cNvSpPr>
          <p:nvPr/>
        </p:nvSpPr>
        <p:spPr bwMode="auto">
          <a:xfrm>
            <a:off x="821245" y="2147125"/>
            <a:ext cx="292338" cy="29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82296" tIns="41148" rIns="82296" bIns="41148" numCol="1" anchor="t" anchorCtr="0" compatLnSpc="1">
            <a:prstTxWarp prst="textNoShape">
              <a:avLst/>
            </a:prstTxWarp>
          </a:bodyPr>
          <a:lstStyle/>
          <a:p>
            <a:endParaRPr lang="en-US" sz="2000" dirty="0"/>
          </a:p>
        </p:txBody>
      </p:sp>
      <p:sp>
        <p:nvSpPr>
          <p:cNvPr id="342" name="Freeform 30">
            <a:extLst>
              <a:ext uri="{FF2B5EF4-FFF2-40B4-BE49-F238E27FC236}">
                <a16:creationId xmlns:a16="http://schemas.microsoft.com/office/drawing/2014/main" id="{535B736A-9BB8-4E24-9B73-5B332D13ED1B}"/>
              </a:ext>
            </a:extLst>
          </p:cNvPr>
          <p:cNvSpPr>
            <a:spLocks noEditPoints="1"/>
          </p:cNvSpPr>
          <p:nvPr/>
        </p:nvSpPr>
        <p:spPr bwMode="auto">
          <a:xfrm>
            <a:off x="839127" y="2208627"/>
            <a:ext cx="249869" cy="177529"/>
          </a:xfrm>
          <a:custGeom>
            <a:avLst/>
            <a:gdLst>
              <a:gd name="T0" fmla="*/ 776 w 1969"/>
              <a:gd name="T1" fmla="*/ 1121 h 1398"/>
              <a:gd name="T2" fmla="*/ 776 w 1969"/>
              <a:gd name="T3" fmla="*/ 1308 h 1398"/>
              <a:gd name="T4" fmla="*/ 763 w 1969"/>
              <a:gd name="T5" fmla="*/ 1329 h 1398"/>
              <a:gd name="T6" fmla="*/ 366 w 1969"/>
              <a:gd name="T7" fmla="*/ 1398 h 1398"/>
              <a:gd name="T8" fmla="*/ 365 w 1969"/>
              <a:gd name="T9" fmla="*/ 1398 h 1398"/>
              <a:gd name="T10" fmla="*/ 343 w 1969"/>
              <a:gd name="T11" fmla="*/ 1376 h 1398"/>
              <a:gd name="T12" fmla="*/ 343 w 1969"/>
              <a:gd name="T13" fmla="*/ 1199 h 1398"/>
              <a:gd name="T14" fmla="*/ 138 w 1969"/>
              <a:gd name="T15" fmla="*/ 1188 h 1398"/>
              <a:gd name="T16" fmla="*/ 107 w 1969"/>
              <a:gd name="T17" fmla="*/ 1078 h 1398"/>
              <a:gd name="T18" fmla="*/ 106 w 1969"/>
              <a:gd name="T19" fmla="*/ 1071 h 1398"/>
              <a:gd name="T20" fmla="*/ 112 w 1969"/>
              <a:gd name="T21" fmla="*/ 931 h 1398"/>
              <a:gd name="T22" fmla="*/ 10 w 1969"/>
              <a:gd name="T23" fmla="*/ 877 h 1398"/>
              <a:gd name="T24" fmla="*/ 56 w 1969"/>
              <a:gd name="T25" fmla="*/ 789 h 1398"/>
              <a:gd name="T26" fmla="*/ 65 w 1969"/>
              <a:gd name="T27" fmla="*/ 780 h 1398"/>
              <a:gd name="T28" fmla="*/ 108 w 1969"/>
              <a:gd name="T29" fmla="*/ 695 h 1398"/>
              <a:gd name="T30" fmla="*/ 113 w 1969"/>
              <a:gd name="T31" fmla="*/ 654 h 1398"/>
              <a:gd name="T32" fmla="*/ 124 w 1969"/>
              <a:gd name="T33" fmla="*/ 587 h 1398"/>
              <a:gd name="T34" fmla="*/ 134 w 1969"/>
              <a:gd name="T35" fmla="*/ 513 h 1398"/>
              <a:gd name="T36" fmla="*/ 178 w 1969"/>
              <a:gd name="T37" fmla="*/ 516 h 1398"/>
              <a:gd name="T38" fmla="*/ 166 w 1969"/>
              <a:gd name="T39" fmla="*/ 601 h 1398"/>
              <a:gd name="T40" fmla="*/ 157 w 1969"/>
              <a:gd name="T41" fmla="*/ 658 h 1398"/>
              <a:gd name="T42" fmla="*/ 150 w 1969"/>
              <a:gd name="T43" fmla="*/ 710 h 1398"/>
              <a:gd name="T44" fmla="*/ 98 w 1969"/>
              <a:gd name="T45" fmla="*/ 809 h 1398"/>
              <a:gd name="T46" fmla="*/ 89 w 1969"/>
              <a:gd name="T47" fmla="*/ 819 h 1398"/>
              <a:gd name="T48" fmla="*/ 52 w 1969"/>
              <a:gd name="T49" fmla="*/ 865 h 1398"/>
              <a:gd name="T50" fmla="*/ 135 w 1969"/>
              <a:gd name="T51" fmla="*/ 886 h 1398"/>
              <a:gd name="T52" fmla="*/ 153 w 1969"/>
              <a:gd name="T53" fmla="*/ 893 h 1398"/>
              <a:gd name="T54" fmla="*/ 159 w 1969"/>
              <a:gd name="T55" fmla="*/ 910 h 1398"/>
              <a:gd name="T56" fmla="*/ 150 w 1969"/>
              <a:gd name="T57" fmla="*/ 1068 h 1398"/>
              <a:gd name="T58" fmla="*/ 150 w 1969"/>
              <a:gd name="T59" fmla="*/ 1075 h 1398"/>
              <a:gd name="T60" fmla="*/ 160 w 1969"/>
              <a:gd name="T61" fmla="*/ 1149 h 1398"/>
              <a:gd name="T62" fmla="*/ 362 w 1969"/>
              <a:gd name="T63" fmla="*/ 1152 h 1398"/>
              <a:gd name="T64" fmla="*/ 380 w 1969"/>
              <a:gd name="T65" fmla="*/ 1157 h 1398"/>
              <a:gd name="T66" fmla="*/ 387 w 1969"/>
              <a:gd name="T67" fmla="*/ 1174 h 1398"/>
              <a:gd name="T68" fmla="*/ 387 w 1969"/>
              <a:gd name="T69" fmla="*/ 1354 h 1398"/>
              <a:gd name="T70" fmla="*/ 732 w 1969"/>
              <a:gd name="T71" fmla="*/ 1293 h 1398"/>
              <a:gd name="T72" fmla="*/ 732 w 1969"/>
              <a:gd name="T73" fmla="*/ 1160 h 1398"/>
              <a:gd name="T74" fmla="*/ 775 w 1969"/>
              <a:gd name="T75" fmla="*/ 1123 h 1398"/>
              <a:gd name="T76" fmla="*/ 776 w 1969"/>
              <a:gd name="T77" fmla="*/ 1121 h 1398"/>
              <a:gd name="T78" fmla="*/ 1935 w 1969"/>
              <a:gd name="T79" fmla="*/ 80 h 1398"/>
              <a:gd name="T80" fmla="*/ 1395 w 1969"/>
              <a:gd name="T81" fmla="*/ 0 h 1398"/>
              <a:gd name="T82" fmla="*/ 879 w 1969"/>
              <a:gd name="T83" fmla="*/ 329 h 1398"/>
              <a:gd name="T84" fmla="*/ 1106 w 1969"/>
              <a:gd name="T85" fmla="*/ 1025 h 1398"/>
              <a:gd name="T86" fmla="*/ 1114 w 1969"/>
              <a:gd name="T87" fmla="*/ 1021 h 1398"/>
              <a:gd name="T88" fmla="*/ 1114 w 1969"/>
              <a:gd name="T89" fmla="*/ 788 h 1398"/>
              <a:gd name="T90" fmla="*/ 1114 w 1969"/>
              <a:gd name="T91" fmla="*/ 786 h 1398"/>
              <a:gd name="T92" fmla="*/ 1114 w 1969"/>
              <a:gd name="T93" fmla="*/ 471 h 1398"/>
              <a:gd name="T94" fmla="*/ 1281 w 1969"/>
              <a:gd name="T95" fmla="*/ 616 h 1398"/>
              <a:gd name="T96" fmla="*/ 1286 w 1969"/>
              <a:gd name="T97" fmla="*/ 620 h 1398"/>
              <a:gd name="T98" fmla="*/ 1373 w 1969"/>
              <a:gd name="T99" fmla="*/ 612 h 1398"/>
              <a:gd name="T100" fmla="*/ 1495 w 1969"/>
              <a:gd name="T101" fmla="*/ 341 h 1398"/>
              <a:gd name="T102" fmla="*/ 1854 w 1969"/>
              <a:gd name="T103" fmla="*/ 258 h 1398"/>
              <a:gd name="T104" fmla="*/ 1857 w 1969"/>
              <a:gd name="T105" fmla="*/ 255 h 1398"/>
              <a:gd name="T106" fmla="*/ 1935 w 1969"/>
              <a:gd name="T107" fmla="*/ 80 h 1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969" h="1398">
                <a:moveTo>
                  <a:pt x="776" y="1121"/>
                </a:moveTo>
                <a:cubicBezTo>
                  <a:pt x="776" y="1308"/>
                  <a:pt x="776" y="1308"/>
                  <a:pt x="776" y="1308"/>
                </a:cubicBezTo>
                <a:cubicBezTo>
                  <a:pt x="776" y="1317"/>
                  <a:pt x="771" y="1325"/>
                  <a:pt x="763" y="1329"/>
                </a:cubicBezTo>
                <a:cubicBezTo>
                  <a:pt x="597" y="1397"/>
                  <a:pt x="383" y="1398"/>
                  <a:pt x="366" y="1398"/>
                </a:cubicBezTo>
                <a:cubicBezTo>
                  <a:pt x="366" y="1398"/>
                  <a:pt x="366" y="1398"/>
                  <a:pt x="365" y="1398"/>
                </a:cubicBezTo>
                <a:cubicBezTo>
                  <a:pt x="353" y="1398"/>
                  <a:pt x="343" y="1388"/>
                  <a:pt x="343" y="1376"/>
                </a:cubicBezTo>
                <a:cubicBezTo>
                  <a:pt x="343" y="1199"/>
                  <a:pt x="343" y="1199"/>
                  <a:pt x="343" y="1199"/>
                </a:cubicBezTo>
                <a:cubicBezTo>
                  <a:pt x="239" y="1210"/>
                  <a:pt x="161" y="1199"/>
                  <a:pt x="138" y="1188"/>
                </a:cubicBezTo>
                <a:cubicBezTo>
                  <a:pt x="113" y="1174"/>
                  <a:pt x="111" y="1140"/>
                  <a:pt x="107" y="1078"/>
                </a:cubicBezTo>
                <a:cubicBezTo>
                  <a:pt x="106" y="1071"/>
                  <a:pt x="106" y="1071"/>
                  <a:pt x="106" y="1071"/>
                </a:cubicBezTo>
                <a:cubicBezTo>
                  <a:pt x="103" y="1030"/>
                  <a:pt x="109" y="966"/>
                  <a:pt x="112" y="931"/>
                </a:cubicBezTo>
                <a:cubicBezTo>
                  <a:pt x="35" y="930"/>
                  <a:pt x="15" y="890"/>
                  <a:pt x="10" y="877"/>
                </a:cubicBezTo>
                <a:cubicBezTo>
                  <a:pt x="0" y="850"/>
                  <a:pt x="28" y="820"/>
                  <a:pt x="56" y="789"/>
                </a:cubicBezTo>
                <a:cubicBezTo>
                  <a:pt x="60" y="786"/>
                  <a:pt x="63" y="783"/>
                  <a:pt x="65" y="780"/>
                </a:cubicBezTo>
                <a:cubicBezTo>
                  <a:pt x="79" y="765"/>
                  <a:pt x="94" y="735"/>
                  <a:pt x="108" y="695"/>
                </a:cubicBezTo>
                <a:cubicBezTo>
                  <a:pt x="111" y="687"/>
                  <a:pt x="112" y="670"/>
                  <a:pt x="113" y="654"/>
                </a:cubicBezTo>
                <a:cubicBezTo>
                  <a:pt x="115" y="632"/>
                  <a:pt x="117" y="607"/>
                  <a:pt x="124" y="587"/>
                </a:cubicBezTo>
                <a:cubicBezTo>
                  <a:pt x="130" y="568"/>
                  <a:pt x="133" y="535"/>
                  <a:pt x="134" y="513"/>
                </a:cubicBezTo>
                <a:cubicBezTo>
                  <a:pt x="145" y="515"/>
                  <a:pt x="158" y="515"/>
                  <a:pt x="178" y="516"/>
                </a:cubicBezTo>
                <a:cubicBezTo>
                  <a:pt x="177" y="539"/>
                  <a:pt x="174" y="576"/>
                  <a:pt x="166" y="601"/>
                </a:cubicBezTo>
                <a:cubicBezTo>
                  <a:pt x="161" y="616"/>
                  <a:pt x="159" y="638"/>
                  <a:pt x="157" y="658"/>
                </a:cubicBezTo>
                <a:cubicBezTo>
                  <a:pt x="156" y="679"/>
                  <a:pt x="154" y="696"/>
                  <a:pt x="150" y="710"/>
                </a:cubicBezTo>
                <a:cubicBezTo>
                  <a:pt x="138" y="741"/>
                  <a:pt x="120" y="785"/>
                  <a:pt x="98" y="809"/>
                </a:cubicBezTo>
                <a:cubicBezTo>
                  <a:pt x="95" y="812"/>
                  <a:pt x="92" y="816"/>
                  <a:pt x="89" y="819"/>
                </a:cubicBezTo>
                <a:cubicBezTo>
                  <a:pt x="78" y="831"/>
                  <a:pt x="56" y="854"/>
                  <a:pt x="52" y="865"/>
                </a:cubicBezTo>
                <a:cubicBezTo>
                  <a:pt x="58" y="876"/>
                  <a:pt x="81" y="891"/>
                  <a:pt x="135" y="886"/>
                </a:cubicBezTo>
                <a:cubicBezTo>
                  <a:pt x="142" y="885"/>
                  <a:pt x="148" y="888"/>
                  <a:pt x="153" y="893"/>
                </a:cubicBezTo>
                <a:cubicBezTo>
                  <a:pt x="157" y="897"/>
                  <a:pt x="160" y="904"/>
                  <a:pt x="159" y="910"/>
                </a:cubicBezTo>
                <a:cubicBezTo>
                  <a:pt x="159" y="912"/>
                  <a:pt x="146" y="1014"/>
                  <a:pt x="150" y="1068"/>
                </a:cubicBezTo>
                <a:cubicBezTo>
                  <a:pt x="150" y="1075"/>
                  <a:pt x="150" y="1075"/>
                  <a:pt x="150" y="1075"/>
                </a:cubicBezTo>
                <a:cubicBezTo>
                  <a:pt x="152" y="1106"/>
                  <a:pt x="155" y="1141"/>
                  <a:pt x="160" y="1149"/>
                </a:cubicBezTo>
                <a:cubicBezTo>
                  <a:pt x="174" y="1155"/>
                  <a:pt x="248" y="1168"/>
                  <a:pt x="362" y="1152"/>
                </a:cubicBezTo>
                <a:cubicBezTo>
                  <a:pt x="369" y="1151"/>
                  <a:pt x="375" y="1153"/>
                  <a:pt x="380" y="1157"/>
                </a:cubicBezTo>
                <a:cubicBezTo>
                  <a:pt x="385" y="1162"/>
                  <a:pt x="387" y="1168"/>
                  <a:pt x="387" y="1174"/>
                </a:cubicBezTo>
                <a:cubicBezTo>
                  <a:pt x="387" y="1354"/>
                  <a:pt x="387" y="1354"/>
                  <a:pt x="387" y="1354"/>
                </a:cubicBezTo>
                <a:cubicBezTo>
                  <a:pt x="445" y="1352"/>
                  <a:pt x="604" y="1342"/>
                  <a:pt x="732" y="1293"/>
                </a:cubicBezTo>
                <a:cubicBezTo>
                  <a:pt x="732" y="1160"/>
                  <a:pt x="732" y="1160"/>
                  <a:pt x="732" y="1160"/>
                </a:cubicBezTo>
                <a:cubicBezTo>
                  <a:pt x="747" y="1151"/>
                  <a:pt x="768" y="1129"/>
                  <a:pt x="775" y="1123"/>
                </a:cubicBezTo>
                <a:cubicBezTo>
                  <a:pt x="775" y="1122"/>
                  <a:pt x="776" y="1122"/>
                  <a:pt x="776" y="1121"/>
                </a:cubicBezTo>
                <a:close/>
                <a:moveTo>
                  <a:pt x="1935" y="80"/>
                </a:moveTo>
                <a:cubicBezTo>
                  <a:pt x="1623" y="86"/>
                  <a:pt x="1732" y="0"/>
                  <a:pt x="1395" y="0"/>
                </a:cubicBezTo>
                <a:cubicBezTo>
                  <a:pt x="1099" y="0"/>
                  <a:pt x="952" y="177"/>
                  <a:pt x="879" y="329"/>
                </a:cubicBezTo>
                <a:cubicBezTo>
                  <a:pt x="728" y="652"/>
                  <a:pt x="1049" y="972"/>
                  <a:pt x="1106" y="1025"/>
                </a:cubicBezTo>
                <a:cubicBezTo>
                  <a:pt x="1109" y="1028"/>
                  <a:pt x="1114" y="1025"/>
                  <a:pt x="1114" y="1021"/>
                </a:cubicBezTo>
                <a:cubicBezTo>
                  <a:pt x="1114" y="1021"/>
                  <a:pt x="1114" y="1021"/>
                  <a:pt x="1114" y="788"/>
                </a:cubicBezTo>
                <a:cubicBezTo>
                  <a:pt x="1114" y="788"/>
                  <a:pt x="1114" y="787"/>
                  <a:pt x="1114" y="786"/>
                </a:cubicBezTo>
                <a:cubicBezTo>
                  <a:pt x="1106" y="769"/>
                  <a:pt x="991" y="534"/>
                  <a:pt x="1114" y="471"/>
                </a:cubicBezTo>
                <a:cubicBezTo>
                  <a:pt x="1245" y="402"/>
                  <a:pt x="1278" y="587"/>
                  <a:pt x="1281" y="616"/>
                </a:cubicBezTo>
                <a:cubicBezTo>
                  <a:pt x="1282" y="618"/>
                  <a:pt x="1284" y="620"/>
                  <a:pt x="1286" y="620"/>
                </a:cubicBezTo>
                <a:cubicBezTo>
                  <a:pt x="1303" y="623"/>
                  <a:pt x="1373" y="632"/>
                  <a:pt x="1373" y="612"/>
                </a:cubicBezTo>
                <a:cubicBezTo>
                  <a:pt x="1373" y="472"/>
                  <a:pt x="1425" y="391"/>
                  <a:pt x="1495" y="341"/>
                </a:cubicBezTo>
                <a:cubicBezTo>
                  <a:pt x="1625" y="246"/>
                  <a:pt x="1819" y="270"/>
                  <a:pt x="1854" y="258"/>
                </a:cubicBezTo>
                <a:cubicBezTo>
                  <a:pt x="1855" y="258"/>
                  <a:pt x="1857" y="256"/>
                  <a:pt x="1857" y="255"/>
                </a:cubicBezTo>
                <a:cubicBezTo>
                  <a:pt x="1874" y="185"/>
                  <a:pt x="1969" y="80"/>
                  <a:pt x="1935" y="80"/>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82296" tIns="41148" rIns="82296" bIns="41148" numCol="1" anchor="t" anchorCtr="0" compatLnSpc="1">
            <a:prstTxWarp prst="textNoShape">
              <a:avLst/>
            </a:prstTxWarp>
          </a:bodyPr>
          <a:lstStyle/>
          <a:p>
            <a:endParaRPr lang="en-US" sz="2000" dirty="0"/>
          </a:p>
        </p:txBody>
      </p:sp>
      <p:sp>
        <p:nvSpPr>
          <p:cNvPr id="343" name="Freeform 31">
            <a:extLst>
              <a:ext uri="{FF2B5EF4-FFF2-40B4-BE49-F238E27FC236}">
                <a16:creationId xmlns:a16="http://schemas.microsoft.com/office/drawing/2014/main" id="{F0C9DB6F-FEEB-484D-9047-D60C35371C6D}"/>
              </a:ext>
            </a:extLst>
          </p:cNvPr>
          <p:cNvSpPr>
            <a:spLocks noEditPoints="1"/>
          </p:cNvSpPr>
          <p:nvPr/>
        </p:nvSpPr>
        <p:spPr bwMode="auto">
          <a:xfrm>
            <a:off x="844749" y="2241478"/>
            <a:ext cx="250208" cy="144678"/>
          </a:xfrm>
          <a:custGeom>
            <a:avLst/>
            <a:gdLst>
              <a:gd name="T0" fmla="*/ 1962 w 1972"/>
              <a:gd name="T1" fmla="*/ 501 h 1139"/>
              <a:gd name="T2" fmla="*/ 1835 w 1972"/>
              <a:gd name="T3" fmla="*/ 564 h 1139"/>
              <a:gd name="T4" fmla="*/ 1843 w 1972"/>
              <a:gd name="T5" fmla="*/ 741 h 1139"/>
              <a:gd name="T6" fmla="*/ 1843 w 1972"/>
              <a:gd name="T7" fmla="*/ 750 h 1139"/>
              <a:gd name="T8" fmla="*/ 1806 w 1972"/>
              <a:gd name="T9" fmla="*/ 880 h 1139"/>
              <a:gd name="T10" fmla="*/ 1551 w 1972"/>
              <a:gd name="T11" fmla="*/ 893 h 1139"/>
              <a:gd name="T12" fmla="*/ 1551 w 1972"/>
              <a:gd name="T13" fmla="*/ 1117 h 1139"/>
              <a:gd name="T14" fmla="*/ 1529 w 1972"/>
              <a:gd name="T15" fmla="*/ 1139 h 1139"/>
              <a:gd name="T16" fmla="*/ 1528 w 1972"/>
              <a:gd name="T17" fmla="*/ 1139 h 1139"/>
              <a:gd name="T18" fmla="*/ 1042 w 1972"/>
              <a:gd name="T19" fmla="*/ 1054 h 1139"/>
              <a:gd name="T20" fmla="*/ 1028 w 1972"/>
              <a:gd name="T21" fmla="*/ 1033 h 1139"/>
              <a:gd name="T22" fmla="*/ 1028 w 1972"/>
              <a:gd name="T23" fmla="*/ 794 h 1139"/>
              <a:gd name="T24" fmla="*/ 1032 w 1972"/>
              <a:gd name="T25" fmla="*/ 798 h 1139"/>
              <a:gd name="T26" fmla="*/ 1072 w 1972"/>
              <a:gd name="T27" fmla="*/ 829 h 1139"/>
              <a:gd name="T28" fmla="*/ 1072 w 1972"/>
              <a:gd name="T29" fmla="*/ 1019 h 1139"/>
              <a:gd name="T30" fmla="*/ 1507 w 1972"/>
              <a:gd name="T31" fmla="*/ 1095 h 1139"/>
              <a:gd name="T32" fmla="*/ 1507 w 1972"/>
              <a:gd name="T33" fmla="*/ 868 h 1139"/>
              <a:gd name="T34" fmla="*/ 1515 w 1972"/>
              <a:gd name="T35" fmla="*/ 852 h 1139"/>
              <a:gd name="T36" fmla="*/ 1532 w 1972"/>
              <a:gd name="T37" fmla="*/ 846 h 1139"/>
              <a:gd name="T38" fmla="*/ 1785 w 1972"/>
              <a:gd name="T39" fmla="*/ 842 h 1139"/>
              <a:gd name="T40" fmla="*/ 1799 w 1972"/>
              <a:gd name="T41" fmla="*/ 747 h 1139"/>
              <a:gd name="T42" fmla="*/ 1799 w 1972"/>
              <a:gd name="T43" fmla="*/ 738 h 1139"/>
              <a:gd name="T44" fmla="*/ 1789 w 1972"/>
              <a:gd name="T45" fmla="*/ 543 h 1139"/>
              <a:gd name="T46" fmla="*/ 1795 w 1972"/>
              <a:gd name="T47" fmla="*/ 525 h 1139"/>
              <a:gd name="T48" fmla="*/ 1812 w 1972"/>
              <a:gd name="T49" fmla="*/ 519 h 1139"/>
              <a:gd name="T50" fmla="*/ 1920 w 1972"/>
              <a:gd name="T51" fmla="*/ 487 h 1139"/>
              <a:gd name="T52" fmla="*/ 1874 w 1972"/>
              <a:gd name="T53" fmla="*/ 428 h 1139"/>
              <a:gd name="T54" fmla="*/ 1862 w 1972"/>
              <a:gd name="T55" fmla="*/ 415 h 1139"/>
              <a:gd name="T56" fmla="*/ 1800 w 1972"/>
              <a:gd name="T57" fmla="*/ 295 h 1139"/>
              <a:gd name="T58" fmla="*/ 1790 w 1972"/>
              <a:gd name="T59" fmla="*/ 232 h 1139"/>
              <a:gd name="T60" fmla="*/ 1780 w 1972"/>
              <a:gd name="T61" fmla="*/ 161 h 1139"/>
              <a:gd name="T62" fmla="*/ 1765 w 1972"/>
              <a:gd name="T63" fmla="*/ 48 h 1139"/>
              <a:gd name="T64" fmla="*/ 1809 w 1972"/>
              <a:gd name="T65" fmla="*/ 45 h 1139"/>
              <a:gd name="T66" fmla="*/ 1821 w 1972"/>
              <a:gd name="T67" fmla="*/ 147 h 1139"/>
              <a:gd name="T68" fmla="*/ 1834 w 1972"/>
              <a:gd name="T69" fmla="*/ 229 h 1139"/>
              <a:gd name="T70" fmla="*/ 1841 w 1972"/>
              <a:gd name="T71" fmla="*/ 280 h 1139"/>
              <a:gd name="T72" fmla="*/ 1895 w 1972"/>
              <a:gd name="T73" fmla="*/ 386 h 1139"/>
              <a:gd name="T74" fmla="*/ 1906 w 1972"/>
              <a:gd name="T75" fmla="*/ 398 h 1139"/>
              <a:gd name="T76" fmla="*/ 1962 w 1972"/>
              <a:gd name="T77" fmla="*/ 501 h 1139"/>
              <a:gd name="T78" fmla="*/ 832 w 1972"/>
              <a:gd name="T79" fmla="*/ 540 h 1139"/>
              <a:gd name="T80" fmla="*/ 772 w 1972"/>
              <a:gd name="T81" fmla="*/ 112 h 1139"/>
              <a:gd name="T82" fmla="*/ 466 w 1972"/>
              <a:gd name="T83" fmla="*/ 0 h 1139"/>
              <a:gd name="T84" fmla="*/ 27 w 1972"/>
              <a:gd name="T85" fmla="*/ 65 h 1139"/>
              <a:gd name="T86" fmla="*/ 91 w 1972"/>
              <a:gd name="T87" fmla="*/ 206 h 1139"/>
              <a:gd name="T88" fmla="*/ 93 w 1972"/>
              <a:gd name="T89" fmla="*/ 209 h 1139"/>
              <a:gd name="T90" fmla="*/ 385 w 1972"/>
              <a:gd name="T91" fmla="*/ 276 h 1139"/>
              <a:gd name="T92" fmla="*/ 484 w 1972"/>
              <a:gd name="T93" fmla="*/ 497 h 1139"/>
              <a:gd name="T94" fmla="*/ 555 w 1972"/>
              <a:gd name="T95" fmla="*/ 503 h 1139"/>
              <a:gd name="T96" fmla="*/ 558 w 1972"/>
              <a:gd name="T97" fmla="*/ 500 h 1139"/>
              <a:gd name="T98" fmla="*/ 694 w 1972"/>
              <a:gd name="T99" fmla="*/ 382 h 1139"/>
              <a:gd name="T100" fmla="*/ 694 w 1972"/>
              <a:gd name="T101" fmla="*/ 638 h 1139"/>
              <a:gd name="T102" fmla="*/ 694 w 1972"/>
              <a:gd name="T103" fmla="*/ 640 h 1139"/>
              <a:gd name="T104" fmla="*/ 694 w 1972"/>
              <a:gd name="T105" fmla="*/ 829 h 1139"/>
              <a:gd name="T106" fmla="*/ 701 w 1972"/>
              <a:gd name="T107" fmla="*/ 832 h 1139"/>
              <a:gd name="T108" fmla="*/ 870 w 1972"/>
              <a:gd name="T109" fmla="*/ 604 h 1139"/>
              <a:gd name="T110" fmla="*/ 832 w 1972"/>
              <a:gd name="T111" fmla="*/ 540 h 1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72" h="1139">
                <a:moveTo>
                  <a:pt x="1962" y="501"/>
                </a:moveTo>
                <a:cubicBezTo>
                  <a:pt x="1956" y="516"/>
                  <a:pt x="1932" y="564"/>
                  <a:pt x="1835" y="564"/>
                </a:cubicBezTo>
                <a:cubicBezTo>
                  <a:pt x="1839" y="606"/>
                  <a:pt x="1847" y="688"/>
                  <a:pt x="1843" y="741"/>
                </a:cubicBezTo>
                <a:cubicBezTo>
                  <a:pt x="1843" y="750"/>
                  <a:pt x="1843" y="750"/>
                  <a:pt x="1843" y="750"/>
                </a:cubicBezTo>
                <a:cubicBezTo>
                  <a:pt x="1838" y="824"/>
                  <a:pt x="1835" y="865"/>
                  <a:pt x="1806" y="880"/>
                </a:cubicBezTo>
                <a:cubicBezTo>
                  <a:pt x="1785" y="892"/>
                  <a:pt x="1693" y="909"/>
                  <a:pt x="1551" y="893"/>
                </a:cubicBezTo>
                <a:cubicBezTo>
                  <a:pt x="1551" y="1117"/>
                  <a:pt x="1551" y="1117"/>
                  <a:pt x="1551" y="1117"/>
                </a:cubicBezTo>
                <a:cubicBezTo>
                  <a:pt x="1551" y="1129"/>
                  <a:pt x="1541" y="1139"/>
                  <a:pt x="1529" y="1139"/>
                </a:cubicBezTo>
                <a:cubicBezTo>
                  <a:pt x="1529" y="1139"/>
                  <a:pt x="1529" y="1139"/>
                  <a:pt x="1528" y="1139"/>
                </a:cubicBezTo>
                <a:cubicBezTo>
                  <a:pt x="1507" y="1139"/>
                  <a:pt x="1245" y="1137"/>
                  <a:pt x="1042" y="1054"/>
                </a:cubicBezTo>
                <a:cubicBezTo>
                  <a:pt x="1033" y="1050"/>
                  <a:pt x="1028" y="1042"/>
                  <a:pt x="1028" y="1033"/>
                </a:cubicBezTo>
                <a:cubicBezTo>
                  <a:pt x="1028" y="794"/>
                  <a:pt x="1028" y="794"/>
                  <a:pt x="1028" y="794"/>
                </a:cubicBezTo>
                <a:cubicBezTo>
                  <a:pt x="1029" y="795"/>
                  <a:pt x="1031" y="797"/>
                  <a:pt x="1032" y="798"/>
                </a:cubicBezTo>
                <a:cubicBezTo>
                  <a:pt x="1039" y="804"/>
                  <a:pt x="1058" y="821"/>
                  <a:pt x="1072" y="829"/>
                </a:cubicBezTo>
                <a:cubicBezTo>
                  <a:pt x="1072" y="1019"/>
                  <a:pt x="1072" y="1019"/>
                  <a:pt x="1072" y="1019"/>
                </a:cubicBezTo>
                <a:cubicBezTo>
                  <a:pt x="1236" y="1082"/>
                  <a:pt x="1441" y="1093"/>
                  <a:pt x="1507" y="1095"/>
                </a:cubicBezTo>
                <a:cubicBezTo>
                  <a:pt x="1507" y="868"/>
                  <a:pt x="1507" y="868"/>
                  <a:pt x="1507" y="868"/>
                </a:cubicBezTo>
                <a:cubicBezTo>
                  <a:pt x="1507" y="862"/>
                  <a:pt x="1510" y="856"/>
                  <a:pt x="1515" y="852"/>
                </a:cubicBezTo>
                <a:cubicBezTo>
                  <a:pt x="1519" y="848"/>
                  <a:pt x="1526" y="846"/>
                  <a:pt x="1532" y="846"/>
                </a:cubicBezTo>
                <a:cubicBezTo>
                  <a:pt x="1679" y="866"/>
                  <a:pt x="1771" y="849"/>
                  <a:pt x="1785" y="842"/>
                </a:cubicBezTo>
                <a:cubicBezTo>
                  <a:pt x="1793" y="834"/>
                  <a:pt x="1796" y="788"/>
                  <a:pt x="1799" y="747"/>
                </a:cubicBezTo>
                <a:cubicBezTo>
                  <a:pt x="1799" y="738"/>
                  <a:pt x="1799" y="738"/>
                  <a:pt x="1799" y="738"/>
                </a:cubicBezTo>
                <a:cubicBezTo>
                  <a:pt x="1804" y="671"/>
                  <a:pt x="1789" y="544"/>
                  <a:pt x="1789" y="543"/>
                </a:cubicBezTo>
                <a:cubicBezTo>
                  <a:pt x="1788" y="537"/>
                  <a:pt x="1790" y="530"/>
                  <a:pt x="1795" y="525"/>
                </a:cubicBezTo>
                <a:cubicBezTo>
                  <a:pt x="1799" y="520"/>
                  <a:pt x="1806" y="518"/>
                  <a:pt x="1812" y="519"/>
                </a:cubicBezTo>
                <a:cubicBezTo>
                  <a:pt x="1880" y="525"/>
                  <a:pt x="1912" y="506"/>
                  <a:pt x="1920" y="487"/>
                </a:cubicBezTo>
                <a:cubicBezTo>
                  <a:pt x="1918" y="475"/>
                  <a:pt x="1888" y="443"/>
                  <a:pt x="1874" y="428"/>
                </a:cubicBezTo>
                <a:cubicBezTo>
                  <a:pt x="1870" y="423"/>
                  <a:pt x="1866" y="419"/>
                  <a:pt x="1862" y="415"/>
                </a:cubicBezTo>
                <a:cubicBezTo>
                  <a:pt x="1836" y="386"/>
                  <a:pt x="1814" y="333"/>
                  <a:pt x="1800" y="295"/>
                </a:cubicBezTo>
                <a:cubicBezTo>
                  <a:pt x="1794" y="279"/>
                  <a:pt x="1792" y="257"/>
                  <a:pt x="1790" y="232"/>
                </a:cubicBezTo>
                <a:cubicBezTo>
                  <a:pt x="1788" y="208"/>
                  <a:pt x="1786" y="180"/>
                  <a:pt x="1780" y="161"/>
                </a:cubicBezTo>
                <a:cubicBezTo>
                  <a:pt x="1768" y="127"/>
                  <a:pt x="1766" y="73"/>
                  <a:pt x="1765" y="48"/>
                </a:cubicBezTo>
                <a:cubicBezTo>
                  <a:pt x="1784" y="47"/>
                  <a:pt x="1798" y="46"/>
                  <a:pt x="1809" y="45"/>
                </a:cubicBezTo>
                <a:cubicBezTo>
                  <a:pt x="1810" y="71"/>
                  <a:pt x="1813" y="120"/>
                  <a:pt x="1821" y="147"/>
                </a:cubicBezTo>
                <a:cubicBezTo>
                  <a:pt x="1830" y="171"/>
                  <a:pt x="1832" y="202"/>
                  <a:pt x="1834" y="229"/>
                </a:cubicBezTo>
                <a:cubicBezTo>
                  <a:pt x="1836" y="249"/>
                  <a:pt x="1838" y="269"/>
                  <a:pt x="1841" y="280"/>
                </a:cubicBezTo>
                <a:cubicBezTo>
                  <a:pt x="1859" y="329"/>
                  <a:pt x="1878" y="367"/>
                  <a:pt x="1895" y="386"/>
                </a:cubicBezTo>
                <a:cubicBezTo>
                  <a:pt x="1898" y="390"/>
                  <a:pt x="1902" y="394"/>
                  <a:pt x="1906" y="398"/>
                </a:cubicBezTo>
                <a:cubicBezTo>
                  <a:pt x="1946" y="441"/>
                  <a:pt x="1972" y="472"/>
                  <a:pt x="1962" y="501"/>
                </a:cubicBezTo>
                <a:close/>
                <a:moveTo>
                  <a:pt x="832" y="540"/>
                </a:moveTo>
                <a:cubicBezTo>
                  <a:pt x="751" y="391"/>
                  <a:pt x="731" y="244"/>
                  <a:pt x="772" y="112"/>
                </a:cubicBezTo>
                <a:cubicBezTo>
                  <a:pt x="703" y="47"/>
                  <a:pt x="604" y="0"/>
                  <a:pt x="466" y="0"/>
                </a:cubicBezTo>
                <a:cubicBezTo>
                  <a:pt x="192" y="0"/>
                  <a:pt x="281" y="70"/>
                  <a:pt x="27" y="65"/>
                </a:cubicBezTo>
                <a:cubicBezTo>
                  <a:pt x="0" y="65"/>
                  <a:pt x="77" y="150"/>
                  <a:pt x="91" y="206"/>
                </a:cubicBezTo>
                <a:cubicBezTo>
                  <a:pt x="91" y="208"/>
                  <a:pt x="92" y="209"/>
                  <a:pt x="93" y="209"/>
                </a:cubicBezTo>
                <a:cubicBezTo>
                  <a:pt x="122" y="219"/>
                  <a:pt x="279" y="200"/>
                  <a:pt x="385" y="276"/>
                </a:cubicBezTo>
                <a:cubicBezTo>
                  <a:pt x="442" y="317"/>
                  <a:pt x="484" y="383"/>
                  <a:pt x="484" y="497"/>
                </a:cubicBezTo>
                <a:cubicBezTo>
                  <a:pt x="484" y="513"/>
                  <a:pt x="541" y="505"/>
                  <a:pt x="555" y="503"/>
                </a:cubicBezTo>
                <a:cubicBezTo>
                  <a:pt x="556" y="503"/>
                  <a:pt x="558" y="502"/>
                  <a:pt x="558" y="500"/>
                </a:cubicBezTo>
                <a:cubicBezTo>
                  <a:pt x="561" y="477"/>
                  <a:pt x="588" y="326"/>
                  <a:pt x="694" y="382"/>
                </a:cubicBezTo>
                <a:cubicBezTo>
                  <a:pt x="794" y="433"/>
                  <a:pt x="701" y="624"/>
                  <a:pt x="694" y="638"/>
                </a:cubicBezTo>
                <a:cubicBezTo>
                  <a:pt x="694" y="639"/>
                  <a:pt x="694" y="639"/>
                  <a:pt x="694" y="640"/>
                </a:cubicBezTo>
                <a:cubicBezTo>
                  <a:pt x="694" y="829"/>
                  <a:pt x="694" y="829"/>
                  <a:pt x="694" y="829"/>
                </a:cubicBezTo>
                <a:cubicBezTo>
                  <a:pt x="694" y="832"/>
                  <a:pt x="698" y="834"/>
                  <a:pt x="701" y="832"/>
                </a:cubicBezTo>
                <a:cubicBezTo>
                  <a:pt x="726" y="808"/>
                  <a:pt x="814" y="721"/>
                  <a:pt x="870" y="604"/>
                </a:cubicBezTo>
                <a:cubicBezTo>
                  <a:pt x="857" y="584"/>
                  <a:pt x="844" y="563"/>
                  <a:pt x="832" y="540"/>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82296" tIns="41148" rIns="82296" bIns="41148" numCol="1" anchor="t" anchorCtr="0" compatLnSpc="1">
            <a:prstTxWarp prst="textNoShape">
              <a:avLst/>
            </a:prstTxWarp>
          </a:bodyPr>
          <a:lstStyle/>
          <a:p>
            <a:endParaRPr lang="en-US" sz="2000" dirty="0"/>
          </a:p>
        </p:txBody>
      </p:sp>
      <p:sp>
        <p:nvSpPr>
          <p:cNvPr id="344" name="TB344"/>
          <p:cNvSpPr txBox="1"/>
          <p:nvPr/>
        </p:nvSpPr>
        <p:spPr>
          <a:xfrm>
            <a:off x="1267587" y="2130552"/>
            <a:ext cx="9019413" cy="182902"/>
          </a:xfrm>
          <a:prstGeom prst="rect">
            <a:avLst/>
          </a:prstGeom>
          <a:noFill/>
        </p:spPr>
        <p:txBody>
          <a:bodyPr wrap="square" rtlCol="0" anchor="b"/>
          <a:lstStyle/>
          <a:p>
            <a:r>
              <a:rPr lang="en-US" sz="1400" b="1" dirty="0">
                <a:solidFill>
                  <a:srgbClr val="575757"/>
                </a:solidFill>
                <a:latin typeface="Trebuchet MS"/>
              </a:rPr>
              <a:t>PS / SP rep performance is a hidden driver</a:t>
            </a:r>
          </a:p>
        </p:txBody>
      </p:sp>
      <p:sp>
        <p:nvSpPr>
          <p:cNvPr id="345" name="TB345"/>
          <p:cNvSpPr txBox="1"/>
          <p:nvPr/>
        </p:nvSpPr>
        <p:spPr>
          <a:xfrm>
            <a:off x="1267587" y="2295166"/>
            <a:ext cx="9019413" cy="161140"/>
          </a:xfrm>
          <a:prstGeom prst="rect">
            <a:avLst/>
          </a:prstGeom>
          <a:noFill/>
        </p:spPr>
        <p:txBody>
          <a:bodyPr wrap="square" rtlCol="0" anchor="t"/>
          <a:lstStyle/>
          <a:p>
            <a:r>
              <a:rPr lang="en-US" sz="1200" dirty="0">
                <a:solidFill>
                  <a:srgbClr val="575757"/>
                </a:solidFill>
                <a:latin typeface="Trebuchet MS"/>
              </a:rPr>
              <a:t>Recurring sales-rep names appear in delayed-revert refund notes; no rep-level tag in current data</a:t>
            </a:r>
          </a:p>
        </p:txBody>
      </p:sp>
      <p:sp>
        <p:nvSpPr>
          <p:cNvPr id="346" name="RR346"/>
          <p:cNvSpPr/>
          <p:nvPr/>
        </p:nvSpPr>
        <p:spPr>
          <a:xfrm>
            <a:off x="10442448" y="2156269"/>
            <a:ext cx="960120" cy="274320"/>
          </a:xfrm>
          <a:prstGeom prst="roundRect">
            <a:avLst>
              <a:gd name="adj" fmla="val 10000"/>
            </a:avLst>
          </a:prstGeom>
          <a:solidFill>
            <a:schemeClr val="bg2">
              <a:lumMod val="50000"/>
            </a:schemeClr>
          </a:solidFill>
          <a:ln>
            <a:noFill/>
          </a:ln>
        </p:spPr>
        <p:txBody>
          <a:bodyPr/>
          <a:lstStyle/>
          <a:p>
            <a:endParaRPr lang="en-US"/>
          </a:p>
        </p:txBody>
      </p:sp>
      <p:sp>
        <p:nvSpPr>
          <p:cNvPr id="347" name="TB347"/>
          <p:cNvSpPr txBox="1"/>
          <p:nvPr/>
        </p:nvSpPr>
        <p:spPr>
          <a:xfrm>
            <a:off x="10442448" y="2156269"/>
            <a:ext cx="960120" cy="274320"/>
          </a:xfrm>
          <a:prstGeom prst="rect">
            <a:avLst/>
          </a:prstGeom>
          <a:solidFill>
            <a:schemeClr val="bg2">
              <a:lumMod val="50000"/>
            </a:schemeClr>
          </a:solidFill>
        </p:spPr>
        <p:txBody>
          <a:bodyPr wrap="square" rtlCol="0" anchor="ctr"/>
          <a:lstStyle/>
          <a:p>
            <a:pPr algn="ctr"/>
            <a:r>
              <a:rPr lang="en-US" sz="1100" b="1" dirty="0">
                <a:solidFill>
                  <a:srgbClr val="FFFFFF"/>
                </a:solidFill>
                <a:latin typeface="Trebuchet MS"/>
              </a:rPr>
              <a:t>HIGH</a:t>
            </a:r>
          </a:p>
        </p:txBody>
      </p:sp>
      <p:sp>
        <p:nvSpPr>
          <p:cNvPr id="348" name="R348"/>
          <p:cNvSpPr/>
          <p:nvPr/>
        </p:nvSpPr>
        <p:spPr>
          <a:xfrm>
            <a:off x="630936" y="2566035"/>
            <a:ext cx="91440" cy="435483"/>
          </a:xfrm>
          <a:prstGeom prst="rect">
            <a:avLst/>
          </a:prstGeom>
          <a:solidFill>
            <a:schemeClr val="bg2">
              <a:lumMod val="50000"/>
            </a:schemeClr>
          </a:solidFill>
          <a:ln>
            <a:noFill/>
          </a:ln>
        </p:spPr>
        <p:txBody>
          <a:bodyPr/>
          <a:lstStyle/>
          <a:p>
            <a:endParaRPr lang="en-US"/>
          </a:p>
        </p:txBody>
      </p:sp>
      <p:sp>
        <p:nvSpPr>
          <p:cNvPr id="349" name="R349"/>
          <p:cNvSpPr/>
          <p:nvPr/>
        </p:nvSpPr>
        <p:spPr>
          <a:xfrm>
            <a:off x="722375" y="2566035"/>
            <a:ext cx="10844784" cy="435483"/>
          </a:xfrm>
          <a:prstGeom prst="rect">
            <a:avLst/>
          </a:prstGeom>
          <a:solidFill>
            <a:srgbClr val="F2F2F2"/>
          </a:solidFill>
          <a:ln w="9525">
            <a:solidFill>
              <a:srgbClr val="F2F2F2"/>
            </a:solidFill>
          </a:ln>
        </p:spPr>
        <p:txBody>
          <a:bodyPr/>
          <a:lstStyle/>
          <a:p>
            <a:endParaRPr lang="en-US"/>
          </a:p>
        </p:txBody>
      </p:sp>
      <p:sp>
        <p:nvSpPr>
          <p:cNvPr id="350" name="O350"/>
          <p:cNvSpPr/>
          <p:nvPr/>
        </p:nvSpPr>
        <p:spPr>
          <a:xfrm>
            <a:off x="832103" y="2648331"/>
            <a:ext cx="270891" cy="270891"/>
          </a:xfrm>
          <a:prstGeom prst="ellipse">
            <a:avLst/>
          </a:prstGeom>
          <a:solidFill>
            <a:schemeClr val="bg2">
              <a:lumMod val="50000"/>
            </a:schemeClr>
          </a:solidFill>
          <a:ln>
            <a:noFill/>
          </a:ln>
        </p:spPr>
        <p:txBody>
          <a:bodyPr/>
          <a:lstStyle/>
          <a:p>
            <a:endParaRPr lang="en-US"/>
          </a:p>
        </p:txBody>
      </p:sp>
      <p:sp>
        <p:nvSpPr>
          <p:cNvPr id="352" name="AutoShape 3">
            <a:extLst>
              <a:ext uri="{FF2B5EF4-FFF2-40B4-BE49-F238E27FC236}">
                <a16:creationId xmlns:a16="http://schemas.microsoft.com/office/drawing/2014/main" id="{9C346E6B-E788-44C6-9740-941EE2A207BD}"/>
              </a:ext>
            </a:extLst>
          </p:cNvPr>
          <p:cNvSpPr>
            <a:spLocks noChangeAspect="1" noChangeArrowheads="1" noTextEdit="1"/>
          </p:cNvSpPr>
          <p:nvPr/>
        </p:nvSpPr>
        <p:spPr bwMode="auto">
          <a:xfrm>
            <a:off x="821245" y="2637472"/>
            <a:ext cx="292336" cy="29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3" name="Freeform 5">
            <a:extLst>
              <a:ext uri="{FF2B5EF4-FFF2-40B4-BE49-F238E27FC236}">
                <a16:creationId xmlns:a16="http://schemas.microsoft.com/office/drawing/2014/main" id="{61EEF2F3-5E32-48A7-A4F8-F3841294A969}"/>
              </a:ext>
            </a:extLst>
          </p:cNvPr>
          <p:cNvSpPr>
            <a:spLocks noEditPoints="1"/>
          </p:cNvSpPr>
          <p:nvPr/>
        </p:nvSpPr>
        <p:spPr bwMode="auto">
          <a:xfrm>
            <a:off x="851183" y="2665785"/>
            <a:ext cx="232189" cy="233951"/>
          </a:xfrm>
          <a:custGeom>
            <a:avLst/>
            <a:gdLst>
              <a:gd name="T0" fmla="*/ 1807 w 1830"/>
              <a:gd name="T1" fmla="*/ 1666 h 1842"/>
              <a:gd name="T2" fmla="*/ 1708 w 1830"/>
              <a:gd name="T3" fmla="*/ 1666 h 1842"/>
              <a:gd name="T4" fmla="*/ 1708 w 1830"/>
              <a:gd name="T5" fmla="*/ 1616 h 1842"/>
              <a:gd name="T6" fmla="*/ 1686 w 1830"/>
              <a:gd name="T7" fmla="*/ 1594 h 1842"/>
              <a:gd name="T8" fmla="*/ 144 w 1830"/>
              <a:gd name="T9" fmla="*/ 1594 h 1842"/>
              <a:gd name="T10" fmla="*/ 122 w 1830"/>
              <a:gd name="T11" fmla="*/ 1616 h 1842"/>
              <a:gd name="T12" fmla="*/ 122 w 1830"/>
              <a:gd name="T13" fmla="*/ 1666 h 1842"/>
              <a:gd name="T14" fmla="*/ 23 w 1830"/>
              <a:gd name="T15" fmla="*/ 1666 h 1842"/>
              <a:gd name="T16" fmla="*/ 1 w 1830"/>
              <a:gd name="T17" fmla="*/ 1688 h 1842"/>
              <a:gd name="T18" fmla="*/ 1 w 1830"/>
              <a:gd name="T19" fmla="*/ 1820 h 1842"/>
              <a:gd name="T20" fmla="*/ 23 w 1830"/>
              <a:gd name="T21" fmla="*/ 1842 h 1842"/>
              <a:gd name="T22" fmla="*/ 1807 w 1830"/>
              <a:gd name="T23" fmla="*/ 1842 h 1842"/>
              <a:gd name="T24" fmla="*/ 1829 w 1830"/>
              <a:gd name="T25" fmla="*/ 1820 h 1842"/>
              <a:gd name="T26" fmla="*/ 1829 w 1830"/>
              <a:gd name="T27" fmla="*/ 1688 h 1842"/>
              <a:gd name="T28" fmla="*/ 1807 w 1830"/>
              <a:gd name="T29" fmla="*/ 1666 h 1842"/>
              <a:gd name="T30" fmla="*/ 1818 w 1830"/>
              <a:gd name="T31" fmla="*/ 441 h 1842"/>
              <a:gd name="T32" fmla="*/ 925 w 1830"/>
              <a:gd name="T33" fmla="*/ 3 h 1842"/>
              <a:gd name="T34" fmla="*/ 905 w 1830"/>
              <a:gd name="T35" fmla="*/ 3 h 1842"/>
              <a:gd name="T36" fmla="*/ 12 w 1830"/>
              <a:gd name="T37" fmla="*/ 441 h 1842"/>
              <a:gd name="T38" fmla="*/ 0 w 1830"/>
              <a:gd name="T39" fmla="*/ 461 h 1842"/>
              <a:gd name="T40" fmla="*/ 0 w 1830"/>
              <a:gd name="T41" fmla="*/ 533 h 1842"/>
              <a:gd name="T42" fmla="*/ 22 w 1830"/>
              <a:gd name="T43" fmla="*/ 555 h 1842"/>
              <a:gd name="T44" fmla="*/ 169 w 1830"/>
              <a:gd name="T45" fmla="*/ 555 h 1842"/>
              <a:gd name="T46" fmla="*/ 169 w 1830"/>
              <a:gd name="T47" fmla="*/ 641 h 1842"/>
              <a:gd name="T48" fmla="*/ 191 w 1830"/>
              <a:gd name="T49" fmla="*/ 663 h 1842"/>
              <a:gd name="T50" fmla="*/ 1639 w 1830"/>
              <a:gd name="T51" fmla="*/ 663 h 1842"/>
              <a:gd name="T52" fmla="*/ 1661 w 1830"/>
              <a:gd name="T53" fmla="*/ 641 h 1842"/>
              <a:gd name="T54" fmla="*/ 1661 w 1830"/>
              <a:gd name="T55" fmla="*/ 555 h 1842"/>
              <a:gd name="T56" fmla="*/ 1808 w 1830"/>
              <a:gd name="T57" fmla="*/ 555 h 1842"/>
              <a:gd name="T58" fmla="*/ 1830 w 1830"/>
              <a:gd name="T59" fmla="*/ 533 h 1842"/>
              <a:gd name="T60" fmla="*/ 1830 w 1830"/>
              <a:gd name="T61" fmla="*/ 461 h 1842"/>
              <a:gd name="T62" fmla="*/ 1818 w 1830"/>
              <a:gd name="T63" fmla="*/ 441 h 1842"/>
              <a:gd name="T64" fmla="*/ 1617 w 1830"/>
              <a:gd name="T65" fmla="*/ 619 h 1842"/>
              <a:gd name="T66" fmla="*/ 213 w 1830"/>
              <a:gd name="T67" fmla="*/ 619 h 1842"/>
              <a:gd name="T68" fmla="*/ 213 w 1830"/>
              <a:gd name="T69" fmla="*/ 555 h 1842"/>
              <a:gd name="T70" fmla="*/ 1617 w 1830"/>
              <a:gd name="T71" fmla="*/ 555 h 1842"/>
              <a:gd name="T72" fmla="*/ 1617 w 1830"/>
              <a:gd name="T73" fmla="*/ 619 h 1842"/>
              <a:gd name="T74" fmla="*/ 1786 w 1830"/>
              <a:gd name="T75" fmla="*/ 511 h 1842"/>
              <a:gd name="T76" fmla="*/ 1661 w 1830"/>
              <a:gd name="T77" fmla="*/ 511 h 1842"/>
              <a:gd name="T78" fmla="*/ 1617 w 1830"/>
              <a:gd name="T79" fmla="*/ 511 h 1842"/>
              <a:gd name="T80" fmla="*/ 213 w 1830"/>
              <a:gd name="T81" fmla="*/ 511 h 1842"/>
              <a:gd name="T82" fmla="*/ 169 w 1830"/>
              <a:gd name="T83" fmla="*/ 511 h 1842"/>
              <a:gd name="T84" fmla="*/ 44 w 1830"/>
              <a:gd name="T85" fmla="*/ 511 h 1842"/>
              <a:gd name="T86" fmla="*/ 44 w 1830"/>
              <a:gd name="T87" fmla="*/ 474 h 1842"/>
              <a:gd name="T88" fmla="*/ 915 w 1830"/>
              <a:gd name="T89" fmla="*/ 47 h 1842"/>
              <a:gd name="T90" fmla="*/ 1786 w 1830"/>
              <a:gd name="T91" fmla="*/ 474 h 1842"/>
              <a:gd name="T92" fmla="*/ 1786 w 1830"/>
              <a:gd name="T93" fmla="*/ 511 h 18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830" h="1842">
                <a:moveTo>
                  <a:pt x="1807" y="1666"/>
                </a:moveTo>
                <a:cubicBezTo>
                  <a:pt x="1708" y="1666"/>
                  <a:pt x="1708" y="1666"/>
                  <a:pt x="1708" y="1666"/>
                </a:cubicBezTo>
                <a:cubicBezTo>
                  <a:pt x="1708" y="1616"/>
                  <a:pt x="1708" y="1616"/>
                  <a:pt x="1708" y="1616"/>
                </a:cubicBezTo>
                <a:cubicBezTo>
                  <a:pt x="1708" y="1603"/>
                  <a:pt x="1699" y="1594"/>
                  <a:pt x="1686" y="1594"/>
                </a:cubicBezTo>
                <a:cubicBezTo>
                  <a:pt x="144" y="1594"/>
                  <a:pt x="144" y="1594"/>
                  <a:pt x="144" y="1594"/>
                </a:cubicBezTo>
                <a:cubicBezTo>
                  <a:pt x="131" y="1594"/>
                  <a:pt x="122" y="1603"/>
                  <a:pt x="122" y="1616"/>
                </a:cubicBezTo>
                <a:cubicBezTo>
                  <a:pt x="122" y="1666"/>
                  <a:pt x="122" y="1666"/>
                  <a:pt x="122" y="1666"/>
                </a:cubicBezTo>
                <a:cubicBezTo>
                  <a:pt x="23" y="1666"/>
                  <a:pt x="23" y="1666"/>
                  <a:pt x="23" y="1666"/>
                </a:cubicBezTo>
                <a:cubicBezTo>
                  <a:pt x="11" y="1666"/>
                  <a:pt x="1" y="1675"/>
                  <a:pt x="1" y="1688"/>
                </a:cubicBezTo>
                <a:cubicBezTo>
                  <a:pt x="1" y="1820"/>
                  <a:pt x="1" y="1820"/>
                  <a:pt x="1" y="1820"/>
                </a:cubicBezTo>
                <a:cubicBezTo>
                  <a:pt x="1" y="1832"/>
                  <a:pt x="11" y="1842"/>
                  <a:pt x="23" y="1842"/>
                </a:cubicBezTo>
                <a:cubicBezTo>
                  <a:pt x="1807" y="1842"/>
                  <a:pt x="1807" y="1842"/>
                  <a:pt x="1807" y="1842"/>
                </a:cubicBezTo>
                <a:cubicBezTo>
                  <a:pt x="1819" y="1842"/>
                  <a:pt x="1829" y="1832"/>
                  <a:pt x="1829" y="1820"/>
                </a:cubicBezTo>
                <a:cubicBezTo>
                  <a:pt x="1829" y="1688"/>
                  <a:pt x="1829" y="1688"/>
                  <a:pt x="1829" y="1688"/>
                </a:cubicBezTo>
                <a:cubicBezTo>
                  <a:pt x="1829" y="1675"/>
                  <a:pt x="1819" y="1666"/>
                  <a:pt x="1807" y="1666"/>
                </a:cubicBezTo>
                <a:close/>
                <a:moveTo>
                  <a:pt x="1818" y="441"/>
                </a:moveTo>
                <a:cubicBezTo>
                  <a:pt x="925" y="3"/>
                  <a:pt x="925" y="3"/>
                  <a:pt x="925" y="3"/>
                </a:cubicBezTo>
                <a:cubicBezTo>
                  <a:pt x="919" y="0"/>
                  <a:pt x="911" y="0"/>
                  <a:pt x="905" y="3"/>
                </a:cubicBezTo>
                <a:cubicBezTo>
                  <a:pt x="12" y="441"/>
                  <a:pt x="12" y="441"/>
                  <a:pt x="12" y="441"/>
                </a:cubicBezTo>
                <a:cubicBezTo>
                  <a:pt x="5" y="445"/>
                  <a:pt x="0" y="452"/>
                  <a:pt x="0" y="461"/>
                </a:cubicBezTo>
                <a:cubicBezTo>
                  <a:pt x="0" y="533"/>
                  <a:pt x="0" y="533"/>
                  <a:pt x="0" y="533"/>
                </a:cubicBezTo>
                <a:cubicBezTo>
                  <a:pt x="0" y="545"/>
                  <a:pt x="10" y="555"/>
                  <a:pt x="22" y="555"/>
                </a:cubicBezTo>
                <a:cubicBezTo>
                  <a:pt x="169" y="555"/>
                  <a:pt x="169" y="555"/>
                  <a:pt x="169" y="555"/>
                </a:cubicBezTo>
                <a:cubicBezTo>
                  <a:pt x="169" y="641"/>
                  <a:pt x="169" y="641"/>
                  <a:pt x="169" y="641"/>
                </a:cubicBezTo>
                <a:cubicBezTo>
                  <a:pt x="169" y="654"/>
                  <a:pt x="179" y="663"/>
                  <a:pt x="191" y="663"/>
                </a:cubicBezTo>
                <a:cubicBezTo>
                  <a:pt x="1639" y="663"/>
                  <a:pt x="1639" y="663"/>
                  <a:pt x="1639" y="663"/>
                </a:cubicBezTo>
                <a:cubicBezTo>
                  <a:pt x="1651" y="663"/>
                  <a:pt x="1661" y="654"/>
                  <a:pt x="1661" y="641"/>
                </a:cubicBezTo>
                <a:cubicBezTo>
                  <a:pt x="1661" y="555"/>
                  <a:pt x="1661" y="555"/>
                  <a:pt x="1661" y="555"/>
                </a:cubicBezTo>
                <a:cubicBezTo>
                  <a:pt x="1808" y="555"/>
                  <a:pt x="1808" y="555"/>
                  <a:pt x="1808" y="555"/>
                </a:cubicBezTo>
                <a:cubicBezTo>
                  <a:pt x="1820" y="555"/>
                  <a:pt x="1830" y="545"/>
                  <a:pt x="1830" y="533"/>
                </a:cubicBezTo>
                <a:cubicBezTo>
                  <a:pt x="1830" y="461"/>
                  <a:pt x="1830" y="461"/>
                  <a:pt x="1830" y="461"/>
                </a:cubicBezTo>
                <a:cubicBezTo>
                  <a:pt x="1830" y="452"/>
                  <a:pt x="1825" y="445"/>
                  <a:pt x="1818" y="441"/>
                </a:cubicBezTo>
                <a:close/>
                <a:moveTo>
                  <a:pt x="1617" y="619"/>
                </a:moveTo>
                <a:cubicBezTo>
                  <a:pt x="213" y="619"/>
                  <a:pt x="213" y="619"/>
                  <a:pt x="213" y="619"/>
                </a:cubicBezTo>
                <a:cubicBezTo>
                  <a:pt x="213" y="555"/>
                  <a:pt x="213" y="555"/>
                  <a:pt x="213" y="555"/>
                </a:cubicBezTo>
                <a:cubicBezTo>
                  <a:pt x="1617" y="555"/>
                  <a:pt x="1617" y="555"/>
                  <a:pt x="1617" y="555"/>
                </a:cubicBezTo>
                <a:lnTo>
                  <a:pt x="1617" y="619"/>
                </a:lnTo>
                <a:close/>
                <a:moveTo>
                  <a:pt x="1786" y="511"/>
                </a:moveTo>
                <a:cubicBezTo>
                  <a:pt x="1661" y="511"/>
                  <a:pt x="1661" y="511"/>
                  <a:pt x="1661" y="511"/>
                </a:cubicBezTo>
                <a:cubicBezTo>
                  <a:pt x="1617" y="511"/>
                  <a:pt x="1617" y="511"/>
                  <a:pt x="1617" y="511"/>
                </a:cubicBezTo>
                <a:cubicBezTo>
                  <a:pt x="213" y="511"/>
                  <a:pt x="213" y="511"/>
                  <a:pt x="213" y="511"/>
                </a:cubicBezTo>
                <a:cubicBezTo>
                  <a:pt x="169" y="511"/>
                  <a:pt x="169" y="511"/>
                  <a:pt x="169" y="511"/>
                </a:cubicBezTo>
                <a:cubicBezTo>
                  <a:pt x="44" y="511"/>
                  <a:pt x="44" y="511"/>
                  <a:pt x="44" y="511"/>
                </a:cubicBezTo>
                <a:cubicBezTo>
                  <a:pt x="44" y="474"/>
                  <a:pt x="44" y="474"/>
                  <a:pt x="44" y="474"/>
                </a:cubicBezTo>
                <a:cubicBezTo>
                  <a:pt x="915" y="47"/>
                  <a:pt x="915" y="47"/>
                  <a:pt x="915" y="47"/>
                </a:cubicBezTo>
                <a:cubicBezTo>
                  <a:pt x="1786" y="474"/>
                  <a:pt x="1786" y="474"/>
                  <a:pt x="1786" y="474"/>
                </a:cubicBezTo>
                <a:lnTo>
                  <a:pt x="1786" y="511"/>
                </a:ln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4" name="Freeform 6">
            <a:extLst>
              <a:ext uri="{FF2B5EF4-FFF2-40B4-BE49-F238E27FC236}">
                <a16:creationId xmlns:a16="http://schemas.microsoft.com/office/drawing/2014/main" id="{1D77D616-DB7C-40F8-9632-BC312012A1CE}"/>
              </a:ext>
            </a:extLst>
          </p:cNvPr>
          <p:cNvSpPr>
            <a:spLocks noEditPoints="1"/>
          </p:cNvSpPr>
          <p:nvPr/>
        </p:nvSpPr>
        <p:spPr bwMode="auto">
          <a:xfrm>
            <a:off x="881663" y="2690169"/>
            <a:ext cx="171297" cy="170417"/>
          </a:xfrm>
          <a:custGeom>
            <a:avLst/>
            <a:gdLst>
              <a:gd name="T0" fmla="*/ 783 w 1350"/>
              <a:gd name="T1" fmla="*/ 108 h 1342"/>
              <a:gd name="T2" fmla="*/ 675 w 1350"/>
              <a:gd name="T3" fmla="*/ 216 h 1342"/>
              <a:gd name="T4" fmla="*/ 567 w 1350"/>
              <a:gd name="T5" fmla="*/ 108 h 1342"/>
              <a:gd name="T6" fmla="*/ 675 w 1350"/>
              <a:gd name="T7" fmla="*/ 0 h 1342"/>
              <a:gd name="T8" fmla="*/ 783 w 1350"/>
              <a:gd name="T9" fmla="*/ 108 h 1342"/>
              <a:gd name="T10" fmla="*/ 174 w 1350"/>
              <a:gd name="T11" fmla="*/ 540 h 1342"/>
              <a:gd name="T12" fmla="*/ 164 w 1350"/>
              <a:gd name="T13" fmla="*/ 531 h 1342"/>
              <a:gd name="T14" fmla="*/ 35 w 1350"/>
              <a:gd name="T15" fmla="*/ 531 h 1342"/>
              <a:gd name="T16" fmla="*/ 25 w 1350"/>
              <a:gd name="T17" fmla="*/ 540 h 1342"/>
              <a:gd name="T18" fmla="*/ 0 w 1350"/>
              <a:gd name="T19" fmla="*/ 1332 h 1342"/>
              <a:gd name="T20" fmla="*/ 10 w 1350"/>
              <a:gd name="T21" fmla="*/ 1342 h 1342"/>
              <a:gd name="T22" fmla="*/ 188 w 1350"/>
              <a:gd name="T23" fmla="*/ 1342 h 1342"/>
              <a:gd name="T24" fmla="*/ 198 w 1350"/>
              <a:gd name="T25" fmla="*/ 1332 h 1342"/>
              <a:gd name="T26" fmla="*/ 174 w 1350"/>
              <a:gd name="T27" fmla="*/ 540 h 1342"/>
              <a:gd name="T28" fmla="*/ 557 w 1350"/>
              <a:gd name="T29" fmla="*/ 540 h 1342"/>
              <a:gd name="T30" fmla="*/ 548 w 1350"/>
              <a:gd name="T31" fmla="*/ 531 h 1342"/>
              <a:gd name="T32" fmla="*/ 418 w 1350"/>
              <a:gd name="T33" fmla="*/ 531 h 1342"/>
              <a:gd name="T34" fmla="*/ 409 w 1350"/>
              <a:gd name="T35" fmla="*/ 540 h 1342"/>
              <a:gd name="T36" fmla="*/ 384 w 1350"/>
              <a:gd name="T37" fmla="*/ 1332 h 1342"/>
              <a:gd name="T38" fmla="*/ 394 w 1350"/>
              <a:gd name="T39" fmla="*/ 1342 h 1342"/>
              <a:gd name="T40" fmla="*/ 572 w 1350"/>
              <a:gd name="T41" fmla="*/ 1342 h 1342"/>
              <a:gd name="T42" fmla="*/ 582 w 1350"/>
              <a:gd name="T43" fmla="*/ 1332 h 1342"/>
              <a:gd name="T44" fmla="*/ 557 w 1350"/>
              <a:gd name="T45" fmla="*/ 540 h 1342"/>
              <a:gd name="T46" fmla="*/ 941 w 1350"/>
              <a:gd name="T47" fmla="*/ 540 h 1342"/>
              <a:gd name="T48" fmla="*/ 932 w 1350"/>
              <a:gd name="T49" fmla="*/ 531 h 1342"/>
              <a:gd name="T50" fmla="*/ 802 w 1350"/>
              <a:gd name="T51" fmla="*/ 531 h 1342"/>
              <a:gd name="T52" fmla="*/ 793 w 1350"/>
              <a:gd name="T53" fmla="*/ 540 h 1342"/>
              <a:gd name="T54" fmla="*/ 768 w 1350"/>
              <a:gd name="T55" fmla="*/ 1332 h 1342"/>
              <a:gd name="T56" fmla="*/ 778 w 1350"/>
              <a:gd name="T57" fmla="*/ 1342 h 1342"/>
              <a:gd name="T58" fmla="*/ 956 w 1350"/>
              <a:gd name="T59" fmla="*/ 1342 h 1342"/>
              <a:gd name="T60" fmla="*/ 966 w 1350"/>
              <a:gd name="T61" fmla="*/ 1332 h 1342"/>
              <a:gd name="T62" fmla="*/ 941 w 1350"/>
              <a:gd name="T63" fmla="*/ 540 h 1342"/>
              <a:gd name="T64" fmla="*/ 1325 w 1350"/>
              <a:gd name="T65" fmla="*/ 540 h 1342"/>
              <a:gd name="T66" fmla="*/ 1315 w 1350"/>
              <a:gd name="T67" fmla="*/ 531 h 1342"/>
              <a:gd name="T68" fmla="*/ 1186 w 1350"/>
              <a:gd name="T69" fmla="*/ 531 h 1342"/>
              <a:gd name="T70" fmla="*/ 1176 w 1350"/>
              <a:gd name="T71" fmla="*/ 540 h 1342"/>
              <a:gd name="T72" fmla="*/ 1152 w 1350"/>
              <a:gd name="T73" fmla="*/ 1332 h 1342"/>
              <a:gd name="T74" fmla="*/ 1162 w 1350"/>
              <a:gd name="T75" fmla="*/ 1342 h 1342"/>
              <a:gd name="T76" fmla="*/ 1340 w 1350"/>
              <a:gd name="T77" fmla="*/ 1342 h 1342"/>
              <a:gd name="T78" fmla="*/ 1350 w 1350"/>
              <a:gd name="T79" fmla="*/ 1332 h 1342"/>
              <a:gd name="T80" fmla="*/ 1325 w 1350"/>
              <a:gd name="T81" fmla="*/ 540 h 13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350" h="1342">
                <a:moveTo>
                  <a:pt x="783" y="108"/>
                </a:moveTo>
                <a:cubicBezTo>
                  <a:pt x="783" y="167"/>
                  <a:pt x="735" y="216"/>
                  <a:pt x="675" y="216"/>
                </a:cubicBezTo>
                <a:cubicBezTo>
                  <a:pt x="615" y="216"/>
                  <a:pt x="567" y="167"/>
                  <a:pt x="567" y="108"/>
                </a:cubicBezTo>
                <a:cubicBezTo>
                  <a:pt x="567" y="48"/>
                  <a:pt x="615" y="0"/>
                  <a:pt x="675" y="0"/>
                </a:cubicBezTo>
                <a:cubicBezTo>
                  <a:pt x="735" y="0"/>
                  <a:pt x="783" y="48"/>
                  <a:pt x="783" y="108"/>
                </a:cubicBezTo>
                <a:close/>
                <a:moveTo>
                  <a:pt x="174" y="540"/>
                </a:moveTo>
                <a:cubicBezTo>
                  <a:pt x="174" y="535"/>
                  <a:pt x="169" y="531"/>
                  <a:pt x="164" y="531"/>
                </a:cubicBezTo>
                <a:cubicBezTo>
                  <a:pt x="35" y="531"/>
                  <a:pt x="35" y="531"/>
                  <a:pt x="35" y="531"/>
                </a:cubicBezTo>
                <a:cubicBezTo>
                  <a:pt x="29" y="531"/>
                  <a:pt x="25" y="535"/>
                  <a:pt x="25" y="540"/>
                </a:cubicBezTo>
                <a:cubicBezTo>
                  <a:pt x="0" y="1332"/>
                  <a:pt x="0" y="1332"/>
                  <a:pt x="0" y="1332"/>
                </a:cubicBezTo>
                <a:cubicBezTo>
                  <a:pt x="0" y="1337"/>
                  <a:pt x="5" y="1342"/>
                  <a:pt x="10" y="1342"/>
                </a:cubicBezTo>
                <a:cubicBezTo>
                  <a:pt x="188" y="1342"/>
                  <a:pt x="188" y="1342"/>
                  <a:pt x="188" y="1342"/>
                </a:cubicBezTo>
                <a:cubicBezTo>
                  <a:pt x="194" y="1342"/>
                  <a:pt x="198" y="1337"/>
                  <a:pt x="198" y="1332"/>
                </a:cubicBezTo>
                <a:lnTo>
                  <a:pt x="174" y="540"/>
                </a:lnTo>
                <a:close/>
                <a:moveTo>
                  <a:pt x="557" y="540"/>
                </a:moveTo>
                <a:cubicBezTo>
                  <a:pt x="557" y="535"/>
                  <a:pt x="553" y="531"/>
                  <a:pt x="548" y="531"/>
                </a:cubicBezTo>
                <a:cubicBezTo>
                  <a:pt x="418" y="531"/>
                  <a:pt x="418" y="531"/>
                  <a:pt x="418" y="531"/>
                </a:cubicBezTo>
                <a:cubicBezTo>
                  <a:pt x="413" y="531"/>
                  <a:pt x="409" y="535"/>
                  <a:pt x="409" y="540"/>
                </a:cubicBezTo>
                <a:cubicBezTo>
                  <a:pt x="384" y="1332"/>
                  <a:pt x="384" y="1332"/>
                  <a:pt x="384" y="1332"/>
                </a:cubicBezTo>
                <a:cubicBezTo>
                  <a:pt x="384" y="1337"/>
                  <a:pt x="389" y="1342"/>
                  <a:pt x="394" y="1342"/>
                </a:cubicBezTo>
                <a:cubicBezTo>
                  <a:pt x="572" y="1342"/>
                  <a:pt x="572" y="1342"/>
                  <a:pt x="572" y="1342"/>
                </a:cubicBezTo>
                <a:cubicBezTo>
                  <a:pt x="578" y="1342"/>
                  <a:pt x="582" y="1337"/>
                  <a:pt x="582" y="1332"/>
                </a:cubicBezTo>
                <a:lnTo>
                  <a:pt x="557" y="540"/>
                </a:lnTo>
                <a:close/>
                <a:moveTo>
                  <a:pt x="941" y="540"/>
                </a:moveTo>
                <a:cubicBezTo>
                  <a:pt x="941" y="535"/>
                  <a:pt x="937" y="531"/>
                  <a:pt x="932" y="531"/>
                </a:cubicBezTo>
                <a:cubicBezTo>
                  <a:pt x="802" y="531"/>
                  <a:pt x="802" y="531"/>
                  <a:pt x="802" y="531"/>
                </a:cubicBezTo>
                <a:cubicBezTo>
                  <a:pt x="797" y="531"/>
                  <a:pt x="793" y="535"/>
                  <a:pt x="793" y="540"/>
                </a:cubicBezTo>
                <a:cubicBezTo>
                  <a:pt x="768" y="1332"/>
                  <a:pt x="768" y="1332"/>
                  <a:pt x="768" y="1332"/>
                </a:cubicBezTo>
                <a:cubicBezTo>
                  <a:pt x="768" y="1337"/>
                  <a:pt x="772" y="1342"/>
                  <a:pt x="778" y="1342"/>
                </a:cubicBezTo>
                <a:cubicBezTo>
                  <a:pt x="956" y="1342"/>
                  <a:pt x="956" y="1342"/>
                  <a:pt x="956" y="1342"/>
                </a:cubicBezTo>
                <a:cubicBezTo>
                  <a:pt x="961" y="1342"/>
                  <a:pt x="966" y="1337"/>
                  <a:pt x="966" y="1332"/>
                </a:cubicBezTo>
                <a:lnTo>
                  <a:pt x="941" y="540"/>
                </a:lnTo>
                <a:close/>
                <a:moveTo>
                  <a:pt x="1325" y="540"/>
                </a:moveTo>
                <a:cubicBezTo>
                  <a:pt x="1325" y="535"/>
                  <a:pt x="1321" y="531"/>
                  <a:pt x="1315" y="531"/>
                </a:cubicBezTo>
                <a:cubicBezTo>
                  <a:pt x="1186" y="531"/>
                  <a:pt x="1186" y="531"/>
                  <a:pt x="1186" y="531"/>
                </a:cubicBezTo>
                <a:cubicBezTo>
                  <a:pt x="1181" y="531"/>
                  <a:pt x="1176" y="535"/>
                  <a:pt x="1176" y="540"/>
                </a:cubicBezTo>
                <a:cubicBezTo>
                  <a:pt x="1152" y="1332"/>
                  <a:pt x="1152" y="1332"/>
                  <a:pt x="1152" y="1332"/>
                </a:cubicBezTo>
                <a:cubicBezTo>
                  <a:pt x="1152" y="1337"/>
                  <a:pt x="1156" y="1342"/>
                  <a:pt x="1162" y="1342"/>
                </a:cubicBezTo>
                <a:cubicBezTo>
                  <a:pt x="1340" y="1342"/>
                  <a:pt x="1340" y="1342"/>
                  <a:pt x="1340" y="1342"/>
                </a:cubicBezTo>
                <a:cubicBezTo>
                  <a:pt x="1345" y="1342"/>
                  <a:pt x="1350" y="1337"/>
                  <a:pt x="1350" y="1332"/>
                </a:cubicBezTo>
                <a:lnTo>
                  <a:pt x="1325" y="540"/>
                </a:ln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55" name="TB355"/>
          <p:cNvSpPr txBox="1"/>
          <p:nvPr/>
        </p:nvSpPr>
        <p:spPr>
          <a:xfrm>
            <a:off x="1267587" y="2620899"/>
            <a:ext cx="9019413" cy="182902"/>
          </a:xfrm>
          <a:prstGeom prst="rect">
            <a:avLst/>
          </a:prstGeom>
          <a:noFill/>
        </p:spPr>
        <p:txBody>
          <a:bodyPr wrap="square" rtlCol="0" anchor="b"/>
          <a:lstStyle/>
          <a:p>
            <a:r>
              <a:rPr lang="en-US" sz="1400" b="1" dirty="0">
                <a:solidFill>
                  <a:srgbClr val="575757"/>
                </a:solidFill>
                <a:latin typeface="Trebuchet MS"/>
              </a:rPr>
              <a:t>Loan rejection causes both direct refunds and a hidden retention drag</a:t>
            </a:r>
          </a:p>
        </p:txBody>
      </p:sp>
      <p:sp>
        <p:nvSpPr>
          <p:cNvPr id="356" name="TB356"/>
          <p:cNvSpPr txBox="1"/>
          <p:nvPr/>
        </p:nvSpPr>
        <p:spPr>
          <a:xfrm>
            <a:off x="1267587" y="2785513"/>
            <a:ext cx="9019413" cy="161140"/>
          </a:xfrm>
          <a:prstGeom prst="rect">
            <a:avLst/>
          </a:prstGeom>
          <a:noFill/>
        </p:spPr>
        <p:txBody>
          <a:bodyPr wrap="square" rtlCol="0" anchor="t"/>
          <a:lstStyle/>
          <a:p>
            <a:r>
              <a:rPr lang="en-US" sz="1200" dirty="0">
                <a:solidFill>
                  <a:srgbClr val="575757"/>
                </a:solidFill>
                <a:latin typeface="Trebuchet MS"/>
              </a:rPr>
              <a:t>Direct loan-rejection refunds are 8% of cases; affordability stress also lowers engagement for survivors</a:t>
            </a:r>
          </a:p>
        </p:txBody>
      </p:sp>
      <p:sp>
        <p:nvSpPr>
          <p:cNvPr id="357" name="RR357"/>
          <p:cNvSpPr/>
          <p:nvPr/>
        </p:nvSpPr>
        <p:spPr>
          <a:xfrm>
            <a:off x="10442448" y="2646616"/>
            <a:ext cx="960120" cy="274320"/>
          </a:xfrm>
          <a:prstGeom prst="roundRect">
            <a:avLst>
              <a:gd name="adj" fmla="val 10000"/>
            </a:avLst>
          </a:prstGeom>
          <a:solidFill>
            <a:schemeClr val="bg2">
              <a:lumMod val="50000"/>
            </a:schemeClr>
          </a:solidFill>
          <a:ln>
            <a:noFill/>
          </a:ln>
        </p:spPr>
        <p:txBody>
          <a:bodyPr/>
          <a:lstStyle/>
          <a:p>
            <a:endParaRPr lang="en-US"/>
          </a:p>
        </p:txBody>
      </p:sp>
      <p:sp>
        <p:nvSpPr>
          <p:cNvPr id="358" name="TB358"/>
          <p:cNvSpPr txBox="1"/>
          <p:nvPr/>
        </p:nvSpPr>
        <p:spPr>
          <a:xfrm>
            <a:off x="10442448" y="2646616"/>
            <a:ext cx="960120" cy="274320"/>
          </a:xfrm>
          <a:prstGeom prst="rect">
            <a:avLst/>
          </a:prstGeom>
          <a:solidFill>
            <a:schemeClr val="bg2">
              <a:lumMod val="50000"/>
            </a:schemeClr>
          </a:solidFill>
        </p:spPr>
        <p:txBody>
          <a:bodyPr wrap="square" rtlCol="0" anchor="ctr"/>
          <a:lstStyle/>
          <a:p>
            <a:pPr algn="ctr"/>
            <a:r>
              <a:rPr lang="en-US" sz="1100" b="1" dirty="0">
                <a:solidFill>
                  <a:srgbClr val="FFFFFF"/>
                </a:solidFill>
                <a:latin typeface="Trebuchet MS"/>
              </a:rPr>
              <a:t>HIGH</a:t>
            </a:r>
          </a:p>
        </p:txBody>
      </p:sp>
      <p:sp>
        <p:nvSpPr>
          <p:cNvPr id="359" name="R359"/>
          <p:cNvSpPr/>
          <p:nvPr/>
        </p:nvSpPr>
        <p:spPr>
          <a:xfrm>
            <a:off x="630936" y="3056382"/>
            <a:ext cx="91440" cy="435483"/>
          </a:xfrm>
          <a:prstGeom prst="rect">
            <a:avLst/>
          </a:prstGeom>
          <a:solidFill>
            <a:schemeClr val="bg2">
              <a:lumMod val="50000"/>
            </a:schemeClr>
          </a:solidFill>
          <a:ln>
            <a:noFill/>
          </a:ln>
        </p:spPr>
        <p:txBody>
          <a:bodyPr/>
          <a:lstStyle/>
          <a:p>
            <a:endParaRPr lang="en-US"/>
          </a:p>
        </p:txBody>
      </p:sp>
      <p:sp>
        <p:nvSpPr>
          <p:cNvPr id="360" name="R360"/>
          <p:cNvSpPr/>
          <p:nvPr/>
        </p:nvSpPr>
        <p:spPr>
          <a:xfrm>
            <a:off x="722375" y="3056382"/>
            <a:ext cx="10844784" cy="435483"/>
          </a:xfrm>
          <a:prstGeom prst="rect">
            <a:avLst/>
          </a:prstGeom>
          <a:solidFill>
            <a:srgbClr val="F2F2F2"/>
          </a:solidFill>
          <a:ln w="9525">
            <a:solidFill>
              <a:srgbClr val="F2F2F2"/>
            </a:solidFill>
          </a:ln>
        </p:spPr>
        <p:txBody>
          <a:bodyPr/>
          <a:lstStyle/>
          <a:p>
            <a:endParaRPr lang="en-US"/>
          </a:p>
        </p:txBody>
      </p:sp>
      <p:sp>
        <p:nvSpPr>
          <p:cNvPr id="361" name="O361"/>
          <p:cNvSpPr/>
          <p:nvPr/>
        </p:nvSpPr>
        <p:spPr>
          <a:xfrm>
            <a:off x="832103" y="3138678"/>
            <a:ext cx="270891" cy="270891"/>
          </a:xfrm>
          <a:prstGeom prst="ellipse">
            <a:avLst/>
          </a:prstGeom>
          <a:solidFill>
            <a:schemeClr val="bg2">
              <a:lumMod val="50000"/>
            </a:schemeClr>
          </a:solidFill>
          <a:ln>
            <a:noFill/>
          </a:ln>
        </p:spPr>
        <p:txBody>
          <a:bodyPr/>
          <a:lstStyle/>
          <a:p>
            <a:endParaRPr lang="en-US"/>
          </a:p>
        </p:txBody>
      </p:sp>
      <p:sp>
        <p:nvSpPr>
          <p:cNvPr id="363" name="AutoShape 23">
            <a:extLst>
              <a:ext uri="{FF2B5EF4-FFF2-40B4-BE49-F238E27FC236}">
                <a16:creationId xmlns:a16="http://schemas.microsoft.com/office/drawing/2014/main" id="{89F4D31F-87B6-4E69-917E-65E2F97982B6}"/>
              </a:ext>
            </a:extLst>
          </p:cNvPr>
          <p:cNvSpPr>
            <a:spLocks noChangeAspect="1" noChangeArrowheads="1" noTextEdit="1"/>
          </p:cNvSpPr>
          <p:nvPr/>
        </p:nvSpPr>
        <p:spPr bwMode="auto">
          <a:xfrm>
            <a:off x="821245" y="3127819"/>
            <a:ext cx="292337" cy="29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4" name="Freeform 25">
            <a:extLst>
              <a:ext uri="{FF2B5EF4-FFF2-40B4-BE49-F238E27FC236}">
                <a16:creationId xmlns:a16="http://schemas.microsoft.com/office/drawing/2014/main" id="{FA0FD38E-7CA9-4ECE-9013-798D4E40C551}"/>
              </a:ext>
            </a:extLst>
          </p:cNvPr>
          <p:cNvSpPr>
            <a:spLocks noEditPoints="1"/>
          </p:cNvSpPr>
          <p:nvPr/>
        </p:nvSpPr>
        <p:spPr bwMode="auto">
          <a:xfrm>
            <a:off x="963485" y="3184580"/>
            <a:ext cx="124087" cy="92591"/>
          </a:xfrm>
          <a:custGeom>
            <a:avLst/>
            <a:gdLst>
              <a:gd name="T0" fmla="*/ 25 w 978"/>
              <a:gd name="T1" fmla="*/ 729 h 729"/>
              <a:gd name="T2" fmla="*/ 7 w 978"/>
              <a:gd name="T3" fmla="*/ 719 h 729"/>
              <a:gd name="T4" fmla="*/ 13 w 978"/>
              <a:gd name="T5" fmla="*/ 689 h 729"/>
              <a:gd name="T6" fmla="*/ 888 w 978"/>
              <a:gd name="T7" fmla="*/ 86 h 729"/>
              <a:gd name="T8" fmla="*/ 919 w 978"/>
              <a:gd name="T9" fmla="*/ 91 h 729"/>
              <a:gd name="T10" fmla="*/ 913 w 978"/>
              <a:gd name="T11" fmla="*/ 122 h 729"/>
              <a:gd name="T12" fmla="*/ 38 w 978"/>
              <a:gd name="T13" fmla="*/ 725 h 729"/>
              <a:gd name="T14" fmla="*/ 25 w 978"/>
              <a:gd name="T15" fmla="*/ 729 h 729"/>
              <a:gd name="T16" fmla="*/ 578 w 978"/>
              <a:gd name="T17" fmla="*/ 254 h 729"/>
              <a:gd name="T18" fmla="*/ 586 w 978"/>
              <a:gd name="T19" fmla="*/ 258 h 729"/>
              <a:gd name="T20" fmla="*/ 825 w 978"/>
              <a:gd name="T21" fmla="*/ 93 h 729"/>
              <a:gd name="T22" fmla="*/ 826 w 978"/>
              <a:gd name="T23" fmla="*/ 91 h 729"/>
              <a:gd name="T24" fmla="*/ 849 w 978"/>
              <a:gd name="T25" fmla="*/ 8 h 729"/>
              <a:gd name="T26" fmla="*/ 841 w 978"/>
              <a:gd name="T27" fmla="*/ 3 h 729"/>
              <a:gd name="T28" fmla="*/ 602 w 978"/>
              <a:gd name="T29" fmla="*/ 166 h 729"/>
              <a:gd name="T30" fmla="*/ 599 w 978"/>
              <a:gd name="T31" fmla="*/ 171 h 729"/>
              <a:gd name="T32" fmla="*/ 578 w 978"/>
              <a:gd name="T33" fmla="*/ 254 h 729"/>
              <a:gd name="T34" fmla="*/ 646 w 978"/>
              <a:gd name="T35" fmla="*/ 352 h 729"/>
              <a:gd name="T36" fmla="*/ 730 w 978"/>
              <a:gd name="T37" fmla="*/ 362 h 729"/>
              <a:gd name="T38" fmla="*/ 736 w 978"/>
              <a:gd name="T39" fmla="*/ 361 h 729"/>
              <a:gd name="T40" fmla="*/ 974 w 978"/>
              <a:gd name="T41" fmla="*/ 196 h 729"/>
              <a:gd name="T42" fmla="*/ 972 w 978"/>
              <a:gd name="T43" fmla="*/ 187 h 729"/>
              <a:gd name="T44" fmla="*/ 886 w 978"/>
              <a:gd name="T45" fmla="*/ 179 h 729"/>
              <a:gd name="T46" fmla="*/ 884 w 978"/>
              <a:gd name="T47" fmla="*/ 179 h 729"/>
              <a:gd name="T48" fmla="*/ 644 w 978"/>
              <a:gd name="T49" fmla="*/ 343 h 729"/>
              <a:gd name="T50" fmla="*/ 646 w 978"/>
              <a:gd name="T51" fmla="*/ 352 h 7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978" h="729">
                <a:moveTo>
                  <a:pt x="25" y="729"/>
                </a:moveTo>
                <a:cubicBezTo>
                  <a:pt x="18" y="729"/>
                  <a:pt x="11" y="726"/>
                  <a:pt x="7" y="719"/>
                </a:cubicBezTo>
                <a:cubicBezTo>
                  <a:pt x="0" y="709"/>
                  <a:pt x="3" y="696"/>
                  <a:pt x="13" y="689"/>
                </a:cubicBezTo>
                <a:cubicBezTo>
                  <a:pt x="888" y="86"/>
                  <a:pt x="888" y="86"/>
                  <a:pt x="888" y="86"/>
                </a:cubicBezTo>
                <a:cubicBezTo>
                  <a:pt x="898" y="79"/>
                  <a:pt x="912" y="81"/>
                  <a:pt x="919" y="91"/>
                </a:cubicBezTo>
                <a:cubicBezTo>
                  <a:pt x="926" y="101"/>
                  <a:pt x="923" y="115"/>
                  <a:pt x="913" y="122"/>
                </a:cubicBezTo>
                <a:cubicBezTo>
                  <a:pt x="38" y="725"/>
                  <a:pt x="38" y="725"/>
                  <a:pt x="38" y="725"/>
                </a:cubicBezTo>
                <a:cubicBezTo>
                  <a:pt x="34" y="728"/>
                  <a:pt x="30" y="729"/>
                  <a:pt x="25" y="729"/>
                </a:cubicBezTo>
                <a:close/>
                <a:moveTo>
                  <a:pt x="578" y="254"/>
                </a:moveTo>
                <a:cubicBezTo>
                  <a:pt x="577" y="258"/>
                  <a:pt x="582" y="259"/>
                  <a:pt x="586" y="258"/>
                </a:cubicBezTo>
                <a:cubicBezTo>
                  <a:pt x="586" y="258"/>
                  <a:pt x="586" y="258"/>
                  <a:pt x="825" y="93"/>
                </a:cubicBezTo>
                <a:cubicBezTo>
                  <a:pt x="826" y="93"/>
                  <a:pt x="826" y="93"/>
                  <a:pt x="826" y="91"/>
                </a:cubicBezTo>
                <a:cubicBezTo>
                  <a:pt x="826" y="91"/>
                  <a:pt x="826" y="91"/>
                  <a:pt x="849" y="8"/>
                </a:cubicBezTo>
                <a:cubicBezTo>
                  <a:pt x="850" y="3"/>
                  <a:pt x="845" y="0"/>
                  <a:pt x="841" y="3"/>
                </a:cubicBezTo>
                <a:cubicBezTo>
                  <a:pt x="841" y="3"/>
                  <a:pt x="841" y="3"/>
                  <a:pt x="602" y="166"/>
                </a:cubicBezTo>
                <a:cubicBezTo>
                  <a:pt x="601" y="168"/>
                  <a:pt x="601" y="168"/>
                  <a:pt x="599" y="171"/>
                </a:cubicBezTo>
                <a:cubicBezTo>
                  <a:pt x="599" y="171"/>
                  <a:pt x="599" y="171"/>
                  <a:pt x="578" y="254"/>
                </a:cubicBezTo>
                <a:close/>
                <a:moveTo>
                  <a:pt x="646" y="352"/>
                </a:moveTo>
                <a:cubicBezTo>
                  <a:pt x="730" y="362"/>
                  <a:pt x="730" y="362"/>
                  <a:pt x="730" y="362"/>
                </a:cubicBezTo>
                <a:cubicBezTo>
                  <a:pt x="734" y="361"/>
                  <a:pt x="734" y="361"/>
                  <a:pt x="736" y="361"/>
                </a:cubicBezTo>
                <a:cubicBezTo>
                  <a:pt x="974" y="196"/>
                  <a:pt x="974" y="196"/>
                  <a:pt x="974" y="196"/>
                </a:cubicBezTo>
                <a:cubicBezTo>
                  <a:pt x="978" y="194"/>
                  <a:pt x="978" y="187"/>
                  <a:pt x="972" y="187"/>
                </a:cubicBezTo>
                <a:cubicBezTo>
                  <a:pt x="886" y="179"/>
                  <a:pt x="886" y="179"/>
                  <a:pt x="886" y="179"/>
                </a:cubicBezTo>
                <a:cubicBezTo>
                  <a:pt x="884" y="177"/>
                  <a:pt x="884" y="177"/>
                  <a:pt x="884" y="179"/>
                </a:cubicBezTo>
                <a:cubicBezTo>
                  <a:pt x="644" y="343"/>
                  <a:pt x="644" y="343"/>
                  <a:pt x="644" y="343"/>
                </a:cubicBezTo>
                <a:cubicBezTo>
                  <a:pt x="642" y="347"/>
                  <a:pt x="642" y="351"/>
                  <a:pt x="646" y="352"/>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5" name="Freeform 26">
            <a:extLst>
              <a:ext uri="{FF2B5EF4-FFF2-40B4-BE49-F238E27FC236}">
                <a16:creationId xmlns:a16="http://schemas.microsoft.com/office/drawing/2014/main" id="{F562C458-32E3-43E7-BAF7-B4773D3C4A71}"/>
              </a:ext>
            </a:extLst>
          </p:cNvPr>
          <p:cNvSpPr>
            <a:spLocks noEditPoints="1"/>
          </p:cNvSpPr>
          <p:nvPr/>
        </p:nvSpPr>
        <p:spPr bwMode="auto">
          <a:xfrm>
            <a:off x="871368" y="3179025"/>
            <a:ext cx="190602" cy="190737"/>
          </a:xfrm>
          <a:custGeom>
            <a:avLst/>
            <a:gdLst>
              <a:gd name="T0" fmla="*/ 1016 w 1502"/>
              <a:gd name="T1" fmla="*/ 662 h 1502"/>
              <a:gd name="T2" fmla="*/ 1030 w 1502"/>
              <a:gd name="T3" fmla="*/ 751 h 1502"/>
              <a:gd name="T4" fmla="*/ 751 w 1502"/>
              <a:gd name="T5" fmla="*/ 1030 h 1502"/>
              <a:gd name="T6" fmla="*/ 472 w 1502"/>
              <a:gd name="T7" fmla="*/ 751 h 1502"/>
              <a:gd name="T8" fmla="*/ 751 w 1502"/>
              <a:gd name="T9" fmla="*/ 472 h 1502"/>
              <a:gd name="T10" fmla="*/ 929 w 1502"/>
              <a:gd name="T11" fmla="*/ 536 h 1502"/>
              <a:gd name="T12" fmla="*/ 819 w 1502"/>
              <a:gd name="T13" fmla="*/ 611 h 1502"/>
              <a:gd name="T14" fmla="*/ 751 w 1502"/>
              <a:gd name="T15" fmla="*/ 596 h 1502"/>
              <a:gd name="T16" fmla="*/ 596 w 1502"/>
              <a:gd name="T17" fmla="*/ 751 h 1502"/>
              <a:gd name="T18" fmla="*/ 751 w 1502"/>
              <a:gd name="T19" fmla="*/ 906 h 1502"/>
              <a:gd name="T20" fmla="*/ 906 w 1502"/>
              <a:gd name="T21" fmla="*/ 751 h 1502"/>
              <a:gd name="T22" fmla="*/ 906 w 1502"/>
              <a:gd name="T23" fmla="*/ 738 h 1502"/>
              <a:gd name="T24" fmla="*/ 1016 w 1502"/>
              <a:gd name="T25" fmla="*/ 662 h 1502"/>
              <a:gd name="T26" fmla="*/ 1107 w 1502"/>
              <a:gd name="T27" fmla="*/ 599 h 1502"/>
              <a:gd name="T28" fmla="*/ 1138 w 1502"/>
              <a:gd name="T29" fmla="*/ 751 h 1502"/>
              <a:gd name="T30" fmla="*/ 751 w 1502"/>
              <a:gd name="T31" fmla="*/ 1138 h 1502"/>
              <a:gd name="T32" fmla="*/ 364 w 1502"/>
              <a:gd name="T33" fmla="*/ 751 h 1502"/>
              <a:gd name="T34" fmla="*/ 751 w 1502"/>
              <a:gd name="T35" fmla="*/ 364 h 1502"/>
              <a:gd name="T36" fmla="*/ 1020 w 1502"/>
              <a:gd name="T37" fmla="*/ 473 h 1502"/>
              <a:gd name="T38" fmla="*/ 1124 w 1502"/>
              <a:gd name="T39" fmla="*/ 401 h 1502"/>
              <a:gd name="T40" fmla="*/ 751 w 1502"/>
              <a:gd name="T41" fmla="*/ 240 h 1502"/>
              <a:gd name="T42" fmla="*/ 240 w 1502"/>
              <a:gd name="T43" fmla="*/ 751 h 1502"/>
              <a:gd name="T44" fmla="*/ 751 w 1502"/>
              <a:gd name="T45" fmla="*/ 1262 h 1502"/>
              <a:gd name="T46" fmla="*/ 1262 w 1502"/>
              <a:gd name="T47" fmla="*/ 751 h 1502"/>
              <a:gd name="T48" fmla="*/ 1211 w 1502"/>
              <a:gd name="T49" fmla="*/ 528 h 1502"/>
              <a:gd name="T50" fmla="*/ 1107 w 1502"/>
              <a:gd name="T51" fmla="*/ 599 h 1502"/>
              <a:gd name="T52" fmla="*/ 1333 w 1502"/>
              <a:gd name="T53" fmla="*/ 443 h 1502"/>
              <a:gd name="T54" fmla="*/ 1307 w 1502"/>
              <a:gd name="T55" fmla="*/ 461 h 1502"/>
              <a:gd name="T56" fmla="*/ 1378 w 1502"/>
              <a:gd name="T57" fmla="*/ 751 h 1502"/>
              <a:gd name="T58" fmla="*/ 751 w 1502"/>
              <a:gd name="T59" fmla="*/ 1378 h 1502"/>
              <a:gd name="T60" fmla="*/ 124 w 1502"/>
              <a:gd name="T61" fmla="*/ 751 h 1502"/>
              <a:gd name="T62" fmla="*/ 751 w 1502"/>
              <a:gd name="T63" fmla="*/ 124 h 1502"/>
              <a:gd name="T64" fmla="*/ 1220 w 1502"/>
              <a:gd name="T65" fmla="*/ 335 h 1502"/>
              <a:gd name="T66" fmla="*/ 1246 w 1502"/>
              <a:gd name="T67" fmla="*/ 317 h 1502"/>
              <a:gd name="T68" fmla="*/ 1273 w 1502"/>
              <a:gd name="T69" fmla="*/ 211 h 1502"/>
              <a:gd name="T70" fmla="*/ 751 w 1502"/>
              <a:gd name="T71" fmla="*/ 0 h 1502"/>
              <a:gd name="T72" fmla="*/ 0 w 1502"/>
              <a:gd name="T73" fmla="*/ 751 h 1502"/>
              <a:gd name="T74" fmla="*/ 751 w 1502"/>
              <a:gd name="T75" fmla="*/ 1502 h 1502"/>
              <a:gd name="T76" fmla="*/ 1502 w 1502"/>
              <a:gd name="T77" fmla="*/ 751 h 1502"/>
              <a:gd name="T78" fmla="*/ 1442 w 1502"/>
              <a:gd name="T79" fmla="*/ 456 h 1502"/>
              <a:gd name="T80" fmla="*/ 1333 w 1502"/>
              <a:gd name="T81" fmla="*/ 443 h 1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502" h="1502">
                <a:moveTo>
                  <a:pt x="1016" y="662"/>
                </a:moveTo>
                <a:cubicBezTo>
                  <a:pt x="1025" y="690"/>
                  <a:pt x="1030" y="720"/>
                  <a:pt x="1030" y="751"/>
                </a:cubicBezTo>
                <a:cubicBezTo>
                  <a:pt x="1030" y="905"/>
                  <a:pt x="905" y="1030"/>
                  <a:pt x="751" y="1030"/>
                </a:cubicBezTo>
                <a:cubicBezTo>
                  <a:pt x="597" y="1030"/>
                  <a:pt x="472" y="905"/>
                  <a:pt x="472" y="751"/>
                </a:cubicBezTo>
                <a:cubicBezTo>
                  <a:pt x="472" y="597"/>
                  <a:pt x="597" y="472"/>
                  <a:pt x="751" y="472"/>
                </a:cubicBezTo>
                <a:cubicBezTo>
                  <a:pt x="818" y="472"/>
                  <a:pt x="880" y="496"/>
                  <a:pt x="929" y="536"/>
                </a:cubicBezTo>
                <a:cubicBezTo>
                  <a:pt x="819" y="611"/>
                  <a:pt x="819" y="611"/>
                  <a:pt x="819" y="611"/>
                </a:cubicBezTo>
                <a:cubicBezTo>
                  <a:pt x="798" y="601"/>
                  <a:pt x="775" y="596"/>
                  <a:pt x="751" y="596"/>
                </a:cubicBezTo>
                <a:cubicBezTo>
                  <a:pt x="665" y="596"/>
                  <a:pt x="596" y="665"/>
                  <a:pt x="596" y="751"/>
                </a:cubicBezTo>
                <a:cubicBezTo>
                  <a:pt x="596" y="836"/>
                  <a:pt x="665" y="906"/>
                  <a:pt x="751" y="906"/>
                </a:cubicBezTo>
                <a:cubicBezTo>
                  <a:pt x="837" y="906"/>
                  <a:pt x="906" y="836"/>
                  <a:pt x="906" y="751"/>
                </a:cubicBezTo>
                <a:cubicBezTo>
                  <a:pt x="906" y="746"/>
                  <a:pt x="906" y="742"/>
                  <a:pt x="906" y="738"/>
                </a:cubicBezTo>
                <a:lnTo>
                  <a:pt x="1016" y="662"/>
                </a:lnTo>
                <a:close/>
                <a:moveTo>
                  <a:pt x="1107" y="599"/>
                </a:moveTo>
                <a:cubicBezTo>
                  <a:pt x="1127" y="646"/>
                  <a:pt x="1138" y="697"/>
                  <a:pt x="1138" y="751"/>
                </a:cubicBezTo>
                <a:cubicBezTo>
                  <a:pt x="1138" y="964"/>
                  <a:pt x="964" y="1138"/>
                  <a:pt x="751" y="1138"/>
                </a:cubicBezTo>
                <a:cubicBezTo>
                  <a:pt x="537" y="1138"/>
                  <a:pt x="364" y="964"/>
                  <a:pt x="364" y="751"/>
                </a:cubicBezTo>
                <a:cubicBezTo>
                  <a:pt x="364" y="537"/>
                  <a:pt x="537" y="364"/>
                  <a:pt x="751" y="364"/>
                </a:cubicBezTo>
                <a:cubicBezTo>
                  <a:pt x="855" y="364"/>
                  <a:pt x="950" y="405"/>
                  <a:pt x="1020" y="473"/>
                </a:cubicBezTo>
                <a:cubicBezTo>
                  <a:pt x="1124" y="401"/>
                  <a:pt x="1124" y="401"/>
                  <a:pt x="1124" y="401"/>
                </a:cubicBezTo>
                <a:cubicBezTo>
                  <a:pt x="1030" y="302"/>
                  <a:pt x="898" y="240"/>
                  <a:pt x="751" y="240"/>
                </a:cubicBezTo>
                <a:cubicBezTo>
                  <a:pt x="469" y="240"/>
                  <a:pt x="240" y="469"/>
                  <a:pt x="240" y="751"/>
                </a:cubicBezTo>
                <a:cubicBezTo>
                  <a:pt x="240" y="1033"/>
                  <a:pt x="469" y="1262"/>
                  <a:pt x="751" y="1262"/>
                </a:cubicBezTo>
                <a:cubicBezTo>
                  <a:pt x="1033" y="1262"/>
                  <a:pt x="1262" y="1033"/>
                  <a:pt x="1262" y="751"/>
                </a:cubicBezTo>
                <a:cubicBezTo>
                  <a:pt x="1262" y="671"/>
                  <a:pt x="1244" y="595"/>
                  <a:pt x="1211" y="528"/>
                </a:cubicBezTo>
                <a:lnTo>
                  <a:pt x="1107" y="599"/>
                </a:lnTo>
                <a:close/>
                <a:moveTo>
                  <a:pt x="1333" y="443"/>
                </a:moveTo>
                <a:cubicBezTo>
                  <a:pt x="1307" y="461"/>
                  <a:pt x="1307" y="461"/>
                  <a:pt x="1307" y="461"/>
                </a:cubicBezTo>
                <a:cubicBezTo>
                  <a:pt x="1352" y="548"/>
                  <a:pt x="1378" y="646"/>
                  <a:pt x="1378" y="751"/>
                </a:cubicBezTo>
                <a:cubicBezTo>
                  <a:pt x="1378" y="1097"/>
                  <a:pt x="1097" y="1378"/>
                  <a:pt x="751" y="1378"/>
                </a:cubicBezTo>
                <a:cubicBezTo>
                  <a:pt x="405" y="1378"/>
                  <a:pt x="124" y="1097"/>
                  <a:pt x="124" y="751"/>
                </a:cubicBezTo>
                <a:cubicBezTo>
                  <a:pt x="124" y="405"/>
                  <a:pt x="405" y="124"/>
                  <a:pt x="751" y="124"/>
                </a:cubicBezTo>
                <a:cubicBezTo>
                  <a:pt x="937" y="124"/>
                  <a:pt x="1105" y="205"/>
                  <a:pt x="1220" y="335"/>
                </a:cubicBezTo>
                <a:cubicBezTo>
                  <a:pt x="1246" y="317"/>
                  <a:pt x="1246" y="317"/>
                  <a:pt x="1246" y="317"/>
                </a:cubicBezTo>
                <a:cubicBezTo>
                  <a:pt x="1273" y="211"/>
                  <a:pt x="1273" y="211"/>
                  <a:pt x="1273" y="211"/>
                </a:cubicBezTo>
                <a:cubicBezTo>
                  <a:pt x="1138" y="80"/>
                  <a:pt x="954" y="0"/>
                  <a:pt x="751" y="0"/>
                </a:cubicBezTo>
                <a:cubicBezTo>
                  <a:pt x="337" y="0"/>
                  <a:pt x="0" y="337"/>
                  <a:pt x="0" y="751"/>
                </a:cubicBezTo>
                <a:cubicBezTo>
                  <a:pt x="0" y="1165"/>
                  <a:pt x="337" y="1502"/>
                  <a:pt x="751" y="1502"/>
                </a:cubicBezTo>
                <a:cubicBezTo>
                  <a:pt x="1165" y="1502"/>
                  <a:pt x="1502" y="1165"/>
                  <a:pt x="1502" y="751"/>
                </a:cubicBezTo>
                <a:cubicBezTo>
                  <a:pt x="1502" y="646"/>
                  <a:pt x="1480" y="547"/>
                  <a:pt x="1442" y="456"/>
                </a:cubicBezTo>
                <a:lnTo>
                  <a:pt x="1333" y="443"/>
                </a:ln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6" name="TB366"/>
          <p:cNvSpPr txBox="1"/>
          <p:nvPr/>
        </p:nvSpPr>
        <p:spPr>
          <a:xfrm>
            <a:off x="1267587" y="3111246"/>
            <a:ext cx="9019413" cy="182902"/>
          </a:xfrm>
          <a:prstGeom prst="rect">
            <a:avLst/>
          </a:prstGeom>
          <a:noFill/>
        </p:spPr>
        <p:txBody>
          <a:bodyPr wrap="square" rtlCol="0" anchor="b"/>
          <a:lstStyle/>
          <a:p>
            <a:r>
              <a:rPr lang="en-US" sz="1400" b="1" dirty="0">
                <a:solidFill>
                  <a:srgbClr val="575757"/>
                </a:solidFill>
                <a:latin typeface="Trebuchet MS"/>
              </a:rPr>
              <a:t>Non-development backgrounds are under-screened at sales</a:t>
            </a:r>
          </a:p>
        </p:txBody>
      </p:sp>
      <p:sp>
        <p:nvSpPr>
          <p:cNvPr id="367" name="TB367"/>
          <p:cNvSpPr txBox="1"/>
          <p:nvPr/>
        </p:nvSpPr>
        <p:spPr>
          <a:xfrm>
            <a:off x="1267587" y="3275860"/>
            <a:ext cx="9019413" cy="161140"/>
          </a:xfrm>
          <a:prstGeom prst="rect">
            <a:avLst/>
          </a:prstGeom>
          <a:noFill/>
        </p:spPr>
        <p:txBody>
          <a:bodyPr wrap="square" rtlCol="0" anchor="t"/>
          <a:lstStyle/>
          <a:p>
            <a:r>
              <a:rPr lang="en-US" sz="1200" dirty="0">
                <a:solidFill>
                  <a:srgbClr val="575757"/>
                </a:solidFill>
                <a:latin typeface="Trebuchet MS"/>
              </a:rPr>
              <a:t>QA, testing, project management, digital marketing repeatedly surface in refund-reason text</a:t>
            </a:r>
          </a:p>
        </p:txBody>
      </p:sp>
      <p:sp>
        <p:nvSpPr>
          <p:cNvPr id="368" name="RR368"/>
          <p:cNvSpPr/>
          <p:nvPr/>
        </p:nvSpPr>
        <p:spPr>
          <a:xfrm>
            <a:off x="10442448" y="3136963"/>
            <a:ext cx="960120" cy="274320"/>
          </a:xfrm>
          <a:prstGeom prst="roundRect">
            <a:avLst>
              <a:gd name="adj" fmla="val 10000"/>
            </a:avLst>
          </a:prstGeom>
          <a:solidFill>
            <a:schemeClr val="bg2">
              <a:lumMod val="50000"/>
            </a:schemeClr>
          </a:solidFill>
          <a:ln>
            <a:noFill/>
          </a:ln>
        </p:spPr>
        <p:txBody>
          <a:bodyPr/>
          <a:lstStyle/>
          <a:p>
            <a:endParaRPr lang="en-US"/>
          </a:p>
        </p:txBody>
      </p:sp>
      <p:sp>
        <p:nvSpPr>
          <p:cNvPr id="369" name="TB369"/>
          <p:cNvSpPr txBox="1"/>
          <p:nvPr/>
        </p:nvSpPr>
        <p:spPr>
          <a:xfrm>
            <a:off x="10442448" y="3136963"/>
            <a:ext cx="960120" cy="274320"/>
          </a:xfrm>
          <a:prstGeom prst="rect">
            <a:avLst/>
          </a:prstGeom>
          <a:solidFill>
            <a:schemeClr val="bg2">
              <a:lumMod val="50000"/>
            </a:schemeClr>
          </a:solidFill>
        </p:spPr>
        <p:txBody>
          <a:bodyPr wrap="square" rtlCol="0" anchor="ctr"/>
          <a:lstStyle/>
          <a:p>
            <a:pPr algn="ctr"/>
            <a:r>
              <a:rPr lang="en-US" sz="1100" b="1" dirty="0">
                <a:solidFill>
                  <a:srgbClr val="FFFFFF"/>
                </a:solidFill>
                <a:latin typeface="Trebuchet MS"/>
              </a:rPr>
              <a:t>HIGH</a:t>
            </a:r>
          </a:p>
        </p:txBody>
      </p:sp>
      <p:sp>
        <p:nvSpPr>
          <p:cNvPr id="370" name="R370"/>
          <p:cNvSpPr/>
          <p:nvPr/>
        </p:nvSpPr>
        <p:spPr>
          <a:xfrm>
            <a:off x="630936" y="3546729"/>
            <a:ext cx="91440" cy="435483"/>
          </a:xfrm>
          <a:prstGeom prst="rect">
            <a:avLst/>
          </a:prstGeom>
          <a:solidFill>
            <a:schemeClr val="tx2">
              <a:lumMod val="75000"/>
            </a:schemeClr>
          </a:solidFill>
          <a:ln>
            <a:noFill/>
          </a:ln>
        </p:spPr>
        <p:txBody>
          <a:bodyPr/>
          <a:lstStyle/>
          <a:p>
            <a:endParaRPr lang="en-US"/>
          </a:p>
        </p:txBody>
      </p:sp>
      <p:sp>
        <p:nvSpPr>
          <p:cNvPr id="371" name="R371"/>
          <p:cNvSpPr/>
          <p:nvPr/>
        </p:nvSpPr>
        <p:spPr>
          <a:xfrm>
            <a:off x="722375" y="3546729"/>
            <a:ext cx="10844784" cy="435483"/>
          </a:xfrm>
          <a:prstGeom prst="rect">
            <a:avLst/>
          </a:prstGeom>
          <a:solidFill>
            <a:srgbClr val="F2F2F2"/>
          </a:solidFill>
          <a:ln w="9525">
            <a:solidFill>
              <a:srgbClr val="F2F2F2"/>
            </a:solidFill>
          </a:ln>
        </p:spPr>
        <p:txBody>
          <a:bodyPr/>
          <a:lstStyle/>
          <a:p>
            <a:endParaRPr lang="en-US"/>
          </a:p>
        </p:txBody>
      </p:sp>
      <p:sp>
        <p:nvSpPr>
          <p:cNvPr id="372" name="O372"/>
          <p:cNvSpPr/>
          <p:nvPr/>
        </p:nvSpPr>
        <p:spPr>
          <a:xfrm>
            <a:off x="832103" y="3629025"/>
            <a:ext cx="270891" cy="270891"/>
          </a:xfrm>
          <a:prstGeom prst="ellipse">
            <a:avLst/>
          </a:prstGeom>
          <a:solidFill>
            <a:schemeClr val="tx2">
              <a:lumMod val="75000"/>
            </a:schemeClr>
          </a:solidFill>
          <a:ln>
            <a:noFill/>
          </a:ln>
        </p:spPr>
        <p:txBody>
          <a:bodyPr/>
          <a:lstStyle/>
          <a:p>
            <a:endParaRPr lang="en-US"/>
          </a:p>
        </p:txBody>
      </p:sp>
      <p:sp>
        <p:nvSpPr>
          <p:cNvPr id="374" name="Path 11"/>
          <p:cNvSpPr/>
          <p:nvPr/>
        </p:nvSpPr>
        <p:spPr bwMode="auto">
          <a:xfrm>
            <a:off x="821245" y="3618166"/>
            <a:ext cx="292608" cy="292608"/>
          </a:xfrm>
          <a:custGeom>
            <a:avLst/>
            <a:gdLst/>
            <a:ahLst/>
            <a:cxnLst/>
            <a:rect l="0" t="0" r="10000" b="10000"/>
            <a:pathLst>
              <a:path w="10000" h="10000">
                <a:moveTo>
                  <a:pt x="6708" y="5887"/>
                </a:moveTo>
                <a:cubicBezTo>
                  <a:pt x="6708" y="5887"/>
                  <a:pt x="6708" y="5887"/>
                  <a:pt x="7953" y="5887"/>
                </a:cubicBezTo>
                <a:cubicBezTo>
                  <a:pt x="7979" y="5887"/>
                  <a:pt x="7997" y="5904"/>
                  <a:pt x="7997" y="5930"/>
                </a:cubicBezTo>
                <a:cubicBezTo>
                  <a:pt x="7997" y="5930"/>
                  <a:pt x="7997" y="5930"/>
                  <a:pt x="7997" y="7174"/>
                </a:cubicBezTo>
                <a:cubicBezTo>
                  <a:pt x="7997" y="7196"/>
                  <a:pt x="7979" y="7218"/>
                  <a:pt x="7953" y="7218"/>
                </a:cubicBezTo>
                <a:cubicBezTo>
                  <a:pt x="7953" y="7218"/>
                  <a:pt x="7953" y="7218"/>
                  <a:pt x="6708" y="7218"/>
                </a:cubicBezTo>
                <a:cubicBezTo>
                  <a:pt x="6686" y="7218"/>
                  <a:pt x="6664" y="7196"/>
                  <a:pt x="6664" y="7174"/>
                </a:cubicBezTo>
                <a:cubicBezTo>
                  <a:pt x="6664" y="7174"/>
                  <a:pt x="6664" y="7174"/>
                  <a:pt x="6664" y="5930"/>
                </a:cubicBezTo>
                <a:cubicBezTo>
                  <a:pt x="6664" y="5904"/>
                  <a:pt x="6686" y="5887"/>
                  <a:pt x="6708" y="5887"/>
                </a:cubicBezTo>
                <a:close/>
                <a:moveTo>
                  <a:pt x="5163" y="5887"/>
                </a:moveTo>
                <a:cubicBezTo>
                  <a:pt x="5163" y="5887"/>
                  <a:pt x="5163" y="5887"/>
                  <a:pt x="6408" y="5887"/>
                </a:cubicBezTo>
                <a:cubicBezTo>
                  <a:pt x="6430" y="5887"/>
                  <a:pt x="6452" y="5904"/>
                  <a:pt x="6452" y="5930"/>
                </a:cubicBezTo>
                <a:cubicBezTo>
                  <a:pt x="6452" y="5930"/>
                  <a:pt x="6452" y="5930"/>
                  <a:pt x="6452" y="7174"/>
                </a:cubicBezTo>
                <a:cubicBezTo>
                  <a:pt x="6452" y="7196"/>
                  <a:pt x="6430" y="7218"/>
                  <a:pt x="6408" y="7218"/>
                </a:cubicBezTo>
                <a:cubicBezTo>
                  <a:pt x="6408" y="7218"/>
                  <a:pt x="6408" y="7218"/>
                  <a:pt x="5163" y="7218"/>
                </a:cubicBezTo>
                <a:cubicBezTo>
                  <a:pt x="5137" y="7218"/>
                  <a:pt x="5120" y="7196"/>
                  <a:pt x="5120" y="7174"/>
                </a:cubicBezTo>
                <a:cubicBezTo>
                  <a:pt x="5120" y="7174"/>
                  <a:pt x="5120" y="7174"/>
                  <a:pt x="5120" y="5930"/>
                </a:cubicBezTo>
                <a:cubicBezTo>
                  <a:pt x="5120" y="5904"/>
                  <a:pt x="5137" y="5887"/>
                  <a:pt x="5163" y="5887"/>
                </a:cubicBezTo>
                <a:close/>
                <a:moveTo>
                  <a:pt x="3608" y="5887"/>
                </a:moveTo>
                <a:cubicBezTo>
                  <a:pt x="3608" y="5887"/>
                  <a:pt x="3608" y="5887"/>
                  <a:pt x="4854" y="5887"/>
                </a:cubicBezTo>
                <a:cubicBezTo>
                  <a:pt x="4880" y="5887"/>
                  <a:pt x="4897" y="5904"/>
                  <a:pt x="4897" y="5930"/>
                </a:cubicBezTo>
                <a:cubicBezTo>
                  <a:pt x="4897" y="5930"/>
                  <a:pt x="4897" y="5930"/>
                  <a:pt x="4897" y="7174"/>
                </a:cubicBezTo>
                <a:cubicBezTo>
                  <a:pt x="4897" y="7196"/>
                  <a:pt x="4880" y="7218"/>
                  <a:pt x="4854" y="7218"/>
                </a:cubicBezTo>
                <a:cubicBezTo>
                  <a:pt x="4854" y="7218"/>
                  <a:pt x="4854" y="7218"/>
                  <a:pt x="3608" y="7218"/>
                </a:cubicBezTo>
                <a:cubicBezTo>
                  <a:pt x="3587" y="7218"/>
                  <a:pt x="3565" y="7196"/>
                  <a:pt x="3565" y="7174"/>
                </a:cubicBezTo>
                <a:cubicBezTo>
                  <a:pt x="3565" y="7174"/>
                  <a:pt x="3565" y="7174"/>
                  <a:pt x="3565" y="5930"/>
                </a:cubicBezTo>
                <a:cubicBezTo>
                  <a:pt x="3565" y="5904"/>
                  <a:pt x="3587" y="5887"/>
                  <a:pt x="3608" y="5887"/>
                </a:cubicBezTo>
                <a:close/>
                <a:moveTo>
                  <a:pt x="2064" y="5887"/>
                </a:moveTo>
                <a:cubicBezTo>
                  <a:pt x="2064" y="5887"/>
                  <a:pt x="2064" y="5887"/>
                  <a:pt x="3309" y="5887"/>
                </a:cubicBezTo>
                <a:cubicBezTo>
                  <a:pt x="3331" y="5887"/>
                  <a:pt x="3353" y="5904"/>
                  <a:pt x="3353" y="5930"/>
                </a:cubicBezTo>
                <a:cubicBezTo>
                  <a:pt x="3353" y="5930"/>
                  <a:pt x="3353" y="5930"/>
                  <a:pt x="3353" y="7174"/>
                </a:cubicBezTo>
                <a:cubicBezTo>
                  <a:pt x="3353" y="7196"/>
                  <a:pt x="3331" y="7218"/>
                  <a:pt x="3309" y="7218"/>
                </a:cubicBezTo>
                <a:cubicBezTo>
                  <a:pt x="3309" y="7218"/>
                  <a:pt x="3309" y="7218"/>
                  <a:pt x="2064" y="7218"/>
                </a:cubicBezTo>
                <a:cubicBezTo>
                  <a:pt x="2038" y="7218"/>
                  <a:pt x="2020" y="7196"/>
                  <a:pt x="2020" y="7174"/>
                </a:cubicBezTo>
                <a:cubicBezTo>
                  <a:pt x="2020" y="7174"/>
                  <a:pt x="2020" y="7174"/>
                  <a:pt x="2020" y="5930"/>
                </a:cubicBezTo>
                <a:cubicBezTo>
                  <a:pt x="2020" y="5904"/>
                  <a:pt x="2038" y="5887"/>
                  <a:pt x="2064" y="5887"/>
                </a:cubicBezTo>
                <a:close/>
                <a:moveTo>
                  <a:pt x="6708" y="4334"/>
                </a:moveTo>
                <a:cubicBezTo>
                  <a:pt x="6708" y="4334"/>
                  <a:pt x="6708" y="4334"/>
                  <a:pt x="7953" y="4334"/>
                </a:cubicBezTo>
                <a:cubicBezTo>
                  <a:pt x="7979" y="4334"/>
                  <a:pt x="7997" y="4351"/>
                  <a:pt x="7997" y="4377"/>
                </a:cubicBezTo>
                <a:cubicBezTo>
                  <a:pt x="7997" y="4377"/>
                  <a:pt x="7997" y="4377"/>
                  <a:pt x="7997" y="5612"/>
                </a:cubicBezTo>
                <a:cubicBezTo>
                  <a:pt x="7997" y="5638"/>
                  <a:pt x="7979" y="5655"/>
                  <a:pt x="7953" y="5655"/>
                </a:cubicBezTo>
                <a:cubicBezTo>
                  <a:pt x="7953" y="5655"/>
                  <a:pt x="7953" y="5655"/>
                  <a:pt x="6708" y="5655"/>
                </a:cubicBezTo>
                <a:cubicBezTo>
                  <a:pt x="6686" y="5655"/>
                  <a:pt x="6664" y="5638"/>
                  <a:pt x="6664" y="5612"/>
                </a:cubicBezTo>
                <a:cubicBezTo>
                  <a:pt x="6664" y="5612"/>
                  <a:pt x="6664" y="5612"/>
                  <a:pt x="6664" y="4377"/>
                </a:cubicBezTo>
                <a:cubicBezTo>
                  <a:pt x="6664" y="4351"/>
                  <a:pt x="6686" y="4334"/>
                  <a:pt x="6708" y="4334"/>
                </a:cubicBezTo>
                <a:close/>
                <a:moveTo>
                  <a:pt x="5163" y="4334"/>
                </a:moveTo>
                <a:cubicBezTo>
                  <a:pt x="5163" y="4334"/>
                  <a:pt x="5163" y="4334"/>
                  <a:pt x="6408" y="4334"/>
                </a:cubicBezTo>
                <a:cubicBezTo>
                  <a:pt x="6430" y="4334"/>
                  <a:pt x="6452" y="4351"/>
                  <a:pt x="6452" y="4377"/>
                </a:cubicBezTo>
                <a:cubicBezTo>
                  <a:pt x="6452" y="4377"/>
                  <a:pt x="6452" y="4377"/>
                  <a:pt x="6452" y="5612"/>
                </a:cubicBezTo>
                <a:cubicBezTo>
                  <a:pt x="6452" y="5638"/>
                  <a:pt x="6430" y="5655"/>
                  <a:pt x="6408" y="5655"/>
                </a:cubicBezTo>
                <a:cubicBezTo>
                  <a:pt x="6408" y="5655"/>
                  <a:pt x="6408" y="5655"/>
                  <a:pt x="5163" y="5655"/>
                </a:cubicBezTo>
                <a:cubicBezTo>
                  <a:pt x="5137" y="5655"/>
                  <a:pt x="5120" y="5638"/>
                  <a:pt x="5120" y="5612"/>
                </a:cubicBezTo>
                <a:cubicBezTo>
                  <a:pt x="5120" y="5612"/>
                  <a:pt x="5120" y="5612"/>
                  <a:pt x="5120" y="4377"/>
                </a:cubicBezTo>
                <a:cubicBezTo>
                  <a:pt x="5120" y="4351"/>
                  <a:pt x="5137" y="4334"/>
                  <a:pt x="5163" y="4334"/>
                </a:cubicBezTo>
                <a:close/>
                <a:moveTo>
                  <a:pt x="3608" y="4334"/>
                </a:moveTo>
                <a:cubicBezTo>
                  <a:pt x="3608" y="4334"/>
                  <a:pt x="3608" y="4334"/>
                  <a:pt x="4854" y="4334"/>
                </a:cubicBezTo>
                <a:cubicBezTo>
                  <a:pt x="4880" y="4334"/>
                  <a:pt x="4897" y="4351"/>
                  <a:pt x="4897" y="4377"/>
                </a:cubicBezTo>
                <a:cubicBezTo>
                  <a:pt x="4897" y="4377"/>
                  <a:pt x="4897" y="4377"/>
                  <a:pt x="4897" y="5612"/>
                </a:cubicBezTo>
                <a:cubicBezTo>
                  <a:pt x="4897" y="5638"/>
                  <a:pt x="4880" y="5655"/>
                  <a:pt x="4854" y="5655"/>
                </a:cubicBezTo>
                <a:cubicBezTo>
                  <a:pt x="4854" y="5655"/>
                  <a:pt x="4854" y="5655"/>
                  <a:pt x="3608" y="5655"/>
                </a:cubicBezTo>
                <a:cubicBezTo>
                  <a:pt x="3587" y="5655"/>
                  <a:pt x="3565" y="5638"/>
                  <a:pt x="3565" y="5612"/>
                </a:cubicBezTo>
                <a:cubicBezTo>
                  <a:pt x="3565" y="5612"/>
                  <a:pt x="3565" y="5612"/>
                  <a:pt x="3565" y="4377"/>
                </a:cubicBezTo>
                <a:cubicBezTo>
                  <a:pt x="3565" y="4351"/>
                  <a:pt x="3587" y="4334"/>
                  <a:pt x="3608" y="4334"/>
                </a:cubicBezTo>
                <a:close/>
                <a:moveTo>
                  <a:pt x="2064" y="4334"/>
                </a:moveTo>
                <a:cubicBezTo>
                  <a:pt x="2064" y="4334"/>
                  <a:pt x="2064" y="4334"/>
                  <a:pt x="3309" y="4334"/>
                </a:cubicBezTo>
                <a:cubicBezTo>
                  <a:pt x="3331" y="4334"/>
                  <a:pt x="3353" y="4351"/>
                  <a:pt x="3353" y="4377"/>
                </a:cubicBezTo>
                <a:cubicBezTo>
                  <a:pt x="3353" y="4377"/>
                  <a:pt x="3353" y="4377"/>
                  <a:pt x="3353" y="5612"/>
                </a:cubicBezTo>
                <a:cubicBezTo>
                  <a:pt x="3353" y="5638"/>
                  <a:pt x="3331" y="5655"/>
                  <a:pt x="3309" y="5655"/>
                </a:cubicBezTo>
                <a:cubicBezTo>
                  <a:pt x="3309" y="5655"/>
                  <a:pt x="3309" y="5655"/>
                  <a:pt x="2064" y="5655"/>
                </a:cubicBezTo>
                <a:cubicBezTo>
                  <a:pt x="2038" y="5655"/>
                  <a:pt x="2020" y="5638"/>
                  <a:pt x="2020" y="5612"/>
                </a:cubicBezTo>
                <a:cubicBezTo>
                  <a:pt x="2020" y="5612"/>
                  <a:pt x="2020" y="5612"/>
                  <a:pt x="2020" y="4377"/>
                </a:cubicBezTo>
                <a:cubicBezTo>
                  <a:pt x="2020" y="4351"/>
                  <a:pt x="2038" y="4334"/>
                  <a:pt x="2064" y="4334"/>
                </a:cubicBezTo>
                <a:close/>
              </a:path>
            </a:pathLst>
          </a:custGeom>
          <a:solidFill>
            <a:srgbClr val="FFFFFF"/>
          </a:solidFill>
          <a:ln w="0">
            <a:noFill/>
          </a:ln>
        </p:spPr>
        <p:txBody>
          <a:bodyPr/>
          <a:lstStyle/>
          <a:p>
            <a:endParaRPr lang="en-US"/>
          </a:p>
        </p:txBody>
      </p:sp>
      <p:sp>
        <p:nvSpPr>
          <p:cNvPr id="375" name="Path 12"/>
          <p:cNvSpPr/>
          <p:nvPr/>
        </p:nvSpPr>
        <p:spPr bwMode="auto">
          <a:xfrm>
            <a:off x="821245" y="3618166"/>
            <a:ext cx="292608" cy="292608"/>
          </a:xfrm>
          <a:custGeom>
            <a:avLst/>
            <a:gdLst/>
            <a:ahLst/>
            <a:cxnLst/>
            <a:rect l="0" t="0" r="10000" b="10000"/>
            <a:pathLst>
              <a:path w="10000" h="10000">
                <a:moveTo>
                  <a:pt x="2063" y="2771"/>
                </a:moveTo>
                <a:cubicBezTo>
                  <a:pt x="2063" y="2771"/>
                  <a:pt x="2063" y="2771"/>
                  <a:pt x="2493" y="2771"/>
                </a:cubicBezTo>
                <a:lnTo>
                  <a:pt x="2493" y="3139"/>
                </a:lnTo>
                <a:cubicBezTo>
                  <a:pt x="2493" y="3191"/>
                  <a:pt x="2537" y="3234"/>
                  <a:pt x="2589" y="3234"/>
                </a:cubicBezTo>
                <a:cubicBezTo>
                  <a:pt x="2589" y="3234"/>
                  <a:pt x="2589" y="3234"/>
                  <a:pt x="3449" y="3234"/>
                </a:cubicBezTo>
                <a:cubicBezTo>
                  <a:pt x="3501" y="3234"/>
                  <a:pt x="3544" y="3191"/>
                  <a:pt x="3544" y="3139"/>
                </a:cubicBezTo>
                <a:cubicBezTo>
                  <a:pt x="3544" y="3139"/>
                  <a:pt x="3544" y="3139"/>
                  <a:pt x="3544" y="2771"/>
                </a:cubicBezTo>
                <a:cubicBezTo>
                  <a:pt x="3544" y="2771"/>
                  <a:pt x="3544" y="2771"/>
                  <a:pt x="6472" y="2771"/>
                </a:cubicBezTo>
                <a:cubicBezTo>
                  <a:pt x="6472" y="2771"/>
                  <a:pt x="6472" y="2771"/>
                  <a:pt x="6472" y="3139"/>
                </a:cubicBezTo>
                <a:cubicBezTo>
                  <a:pt x="6472" y="3191"/>
                  <a:pt x="6516" y="3234"/>
                  <a:pt x="6568" y="3234"/>
                </a:cubicBezTo>
                <a:cubicBezTo>
                  <a:pt x="6568" y="3234"/>
                  <a:pt x="6568" y="3234"/>
                  <a:pt x="7428" y="3234"/>
                </a:cubicBezTo>
                <a:cubicBezTo>
                  <a:pt x="7480" y="3234"/>
                  <a:pt x="7524" y="3191"/>
                  <a:pt x="7524" y="3139"/>
                </a:cubicBezTo>
                <a:cubicBezTo>
                  <a:pt x="7524" y="3139"/>
                  <a:pt x="7524" y="3139"/>
                  <a:pt x="7524" y="2771"/>
                </a:cubicBezTo>
                <a:cubicBezTo>
                  <a:pt x="7524" y="2771"/>
                  <a:pt x="7524" y="2771"/>
                  <a:pt x="7954" y="2771"/>
                </a:cubicBezTo>
                <a:cubicBezTo>
                  <a:pt x="7980" y="2771"/>
                  <a:pt x="7997" y="2792"/>
                  <a:pt x="7997" y="2814"/>
                </a:cubicBezTo>
                <a:cubicBezTo>
                  <a:pt x="7997" y="2814"/>
                  <a:pt x="7997" y="2814"/>
                  <a:pt x="7997" y="4058"/>
                </a:cubicBezTo>
                <a:cubicBezTo>
                  <a:pt x="7997" y="4084"/>
                  <a:pt x="7980" y="4101"/>
                  <a:pt x="7954" y="4101"/>
                </a:cubicBezTo>
                <a:cubicBezTo>
                  <a:pt x="7954" y="4101"/>
                  <a:pt x="7954" y="4101"/>
                  <a:pt x="2063" y="4101"/>
                </a:cubicBezTo>
                <a:cubicBezTo>
                  <a:pt x="2037" y="4101"/>
                  <a:pt x="2020" y="4084"/>
                  <a:pt x="2020" y="4058"/>
                </a:cubicBezTo>
                <a:cubicBezTo>
                  <a:pt x="2020" y="4058"/>
                  <a:pt x="2020" y="4058"/>
                  <a:pt x="2020" y="2814"/>
                </a:cubicBezTo>
                <a:cubicBezTo>
                  <a:pt x="2020" y="2792"/>
                  <a:pt x="2037" y="2771"/>
                  <a:pt x="2063" y="2771"/>
                </a:cubicBezTo>
                <a:close/>
                <a:moveTo>
                  <a:pt x="3545" y="2289"/>
                </a:moveTo>
                <a:lnTo>
                  <a:pt x="6471" y="2289"/>
                </a:lnTo>
                <a:lnTo>
                  <a:pt x="6471" y="2472"/>
                </a:lnTo>
                <a:lnTo>
                  <a:pt x="3545" y="2472"/>
                </a:lnTo>
                <a:close/>
                <a:moveTo>
                  <a:pt x="1594" y="2289"/>
                </a:moveTo>
                <a:cubicBezTo>
                  <a:pt x="1594" y="2289"/>
                  <a:pt x="1594" y="2289"/>
                  <a:pt x="2493" y="2289"/>
                </a:cubicBezTo>
                <a:cubicBezTo>
                  <a:pt x="2493" y="2289"/>
                  <a:pt x="2493" y="2289"/>
                  <a:pt x="2493" y="2479"/>
                </a:cubicBezTo>
                <a:cubicBezTo>
                  <a:pt x="2493" y="2479"/>
                  <a:pt x="2493" y="2479"/>
                  <a:pt x="1689" y="2479"/>
                </a:cubicBezTo>
                <a:cubicBezTo>
                  <a:pt x="1689" y="2479"/>
                  <a:pt x="1689" y="2479"/>
                  <a:pt x="1689" y="7516"/>
                </a:cubicBezTo>
                <a:cubicBezTo>
                  <a:pt x="1689" y="7516"/>
                  <a:pt x="1689" y="7516"/>
                  <a:pt x="8327" y="7516"/>
                </a:cubicBezTo>
                <a:cubicBezTo>
                  <a:pt x="8327" y="7516"/>
                  <a:pt x="8327" y="7516"/>
                  <a:pt x="8327" y="2479"/>
                </a:cubicBezTo>
                <a:cubicBezTo>
                  <a:pt x="8327" y="2479"/>
                  <a:pt x="8327" y="2479"/>
                  <a:pt x="7524" y="2479"/>
                </a:cubicBezTo>
                <a:cubicBezTo>
                  <a:pt x="7524" y="2479"/>
                  <a:pt x="7524" y="2479"/>
                  <a:pt x="7524" y="2289"/>
                </a:cubicBezTo>
                <a:cubicBezTo>
                  <a:pt x="7524" y="2289"/>
                  <a:pt x="7524" y="2289"/>
                  <a:pt x="8423" y="2289"/>
                </a:cubicBezTo>
                <a:cubicBezTo>
                  <a:pt x="8475" y="2289"/>
                  <a:pt x="8519" y="2332"/>
                  <a:pt x="8519" y="2384"/>
                </a:cubicBezTo>
                <a:cubicBezTo>
                  <a:pt x="8519" y="2384"/>
                  <a:pt x="8519" y="2384"/>
                  <a:pt x="8519" y="7611"/>
                </a:cubicBezTo>
                <a:cubicBezTo>
                  <a:pt x="8519" y="7663"/>
                  <a:pt x="8475" y="7707"/>
                  <a:pt x="8423" y="7707"/>
                </a:cubicBezTo>
                <a:cubicBezTo>
                  <a:pt x="8423" y="7707"/>
                  <a:pt x="8423" y="7707"/>
                  <a:pt x="1594" y="7707"/>
                </a:cubicBezTo>
                <a:cubicBezTo>
                  <a:pt x="1542" y="7707"/>
                  <a:pt x="1498" y="7663"/>
                  <a:pt x="1498" y="7611"/>
                </a:cubicBezTo>
                <a:cubicBezTo>
                  <a:pt x="1498" y="7611"/>
                  <a:pt x="1498" y="7611"/>
                  <a:pt x="1498" y="2384"/>
                </a:cubicBezTo>
                <a:cubicBezTo>
                  <a:pt x="1498" y="2332"/>
                  <a:pt x="1542" y="2289"/>
                  <a:pt x="1594" y="2289"/>
                </a:cubicBezTo>
                <a:close/>
                <a:moveTo>
                  <a:pt x="6708" y="1855"/>
                </a:moveTo>
                <a:cubicBezTo>
                  <a:pt x="6708" y="1855"/>
                  <a:pt x="6708" y="1855"/>
                  <a:pt x="7288" y="1855"/>
                </a:cubicBezTo>
                <a:cubicBezTo>
                  <a:pt x="7309" y="1855"/>
                  <a:pt x="7331" y="1877"/>
                  <a:pt x="7331" y="1898"/>
                </a:cubicBezTo>
                <a:cubicBezTo>
                  <a:pt x="7331" y="1898"/>
                  <a:pt x="7331" y="1898"/>
                  <a:pt x="7331" y="2281"/>
                </a:cubicBezTo>
                <a:cubicBezTo>
                  <a:pt x="7331" y="2281"/>
                  <a:pt x="7331" y="2281"/>
                  <a:pt x="7331" y="2472"/>
                </a:cubicBezTo>
                <a:cubicBezTo>
                  <a:pt x="7331" y="2472"/>
                  <a:pt x="7331" y="2472"/>
                  <a:pt x="7331" y="2767"/>
                </a:cubicBezTo>
                <a:cubicBezTo>
                  <a:pt x="7331" y="2767"/>
                  <a:pt x="7331" y="2767"/>
                  <a:pt x="7331" y="2997"/>
                </a:cubicBezTo>
                <a:cubicBezTo>
                  <a:pt x="7331" y="3023"/>
                  <a:pt x="7309" y="3041"/>
                  <a:pt x="7288" y="3041"/>
                </a:cubicBezTo>
                <a:cubicBezTo>
                  <a:pt x="7288" y="3041"/>
                  <a:pt x="7288" y="3041"/>
                  <a:pt x="6708" y="3041"/>
                </a:cubicBezTo>
                <a:cubicBezTo>
                  <a:pt x="6686" y="3041"/>
                  <a:pt x="6664" y="3023"/>
                  <a:pt x="6664" y="2997"/>
                </a:cubicBezTo>
                <a:cubicBezTo>
                  <a:pt x="6664" y="2997"/>
                  <a:pt x="6664" y="2997"/>
                  <a:pt x="6664" y="2767"/>
                </a:cubicBezTo>
                <a:cubicBezTo>
                  <a:pt x="6664" y="2767"/>
                  <a:pt x="6664" y="2767"/>
                  <a:pt x="6664" y="2472"/>
                </a:cubicBezTo>
                <a:cubicBezTo>
                  <a:pt x="6664" y="2472"/>
                  <a:pt x="6664" y="2472"/>
                  <a:pt x="6664" y="2281"/>
                </a:cubicBezTo>
                <a:cubicBezTo>
                  <a:pt x="6664" y="2281"/>
                  <a:pt x="6664" y="2281"/>
                  <a:pt x="6664" y="1898"/>
                </a:cubicBezTo>
                <a:cubicBezTo>
                  <a:pt x="6664" y="1877"/>
                  <a:pt x="6686" y="1855"/>
                  <a:pt x="6708" y="1855"/>
                </a:cubicBezTo>
                <a:close/>
                <a:moveTo>
                  <a:pt x="2729" y="1855"/>
                </a:moveTo>
                <a:cubicBezTo>
                  <a:pt x="2729" y="1855"/>
                  <a:pt x="2729" y="1855"/>
                  <a:pt x="3309" y="1855"/>
                </a:cubicBezTo>
                <a:cubicBezTo>
                  <a:pt x="3331" y="1855"/>
                  <a:pt x="3352" y="1877"/>
                  <a:pt x="3352" y="1898"/>
                </a:cubicBezTo>
                <a:cubicBezTo>
                  <a:pt x="3352" y="1898"/>
                  <a:pt x="3352" y="1898"/>
                  <a:pt x="3352" y="2281"/>
                </a:cubicBezTo>
                <a:cubicBezTo>
                  <a:pt x="3352" y="2281"/>
                  <a:pt x="3352" y="2281"/>
                  <a:pt x="3352" y="2472"/>
                </a:cubicBezTo>
                <a:cubicBezTo>
                  <a:pt x="3352" y="2472"/>
                  <a:pt x="3352" y="2472"/>
                  <a:pt x="3352" y="2767"/>
                </a:cubicBezTo>
                <a:cubicBezTo>
                  <a:pt x="3352" y="2767"/>
                  <a:pt x="3352" y="2767"/>
                  <a:pt x="3352" y="2997"/>
                </a:cubicBezTo>
                <a:cubicBezTo>
                  <a:pt x="3352" y="3023"/>
                  <a:pt x="3331" y="3041"/>
                  <a:pt x="3309" y="3041"/>
                </a:cubicBezTo>
                <a:cubicBezTo>
                  <a:pt x="3309" y="3041"/>
                  <a:pt x="3309" y="3041"/>
                  <a:pt x="2729" y="3041"/>
                </a:cubicBezTo>
                <a:cubicBezTo>
                  <a:pt x="2708" y="3041"/>
                  <a:pt x="2686" y="3023"/>
                  <a:pt x="2686" y="2997"/>
                </a:cubicBezTo>
                <a:cubicBezTo>
                  <a:pt x="2686" y="2997"/>
                  <a:pt x="2686" y="2997"/>
                  <a:pt x="2686" y="2767"/>
                </a:cubicBezTo>
                <a:cubicBezTo>
                  <a:pt x="2686" y="2767"/>
                  <a:pt x="2686" y="2767"/>
                  <a:pt x="2686" y="2472"/>
                </a:cubicBezTo>
                <a:cubicBezTo>
                  <a:pt x="2686" y="2472"/>
                  <a:pt x="2686" y="2472"/>
                  <a:pt x="2686" y="2281"/>
                </a:cubicBezTo>
                <a:cubicBezTo>
                  <a:pt x="2686" y="2281"/>
                  <a:pt x="2686" y="2281"/>
                  <a:pt x="2686" y="1898"/>
                </a:cubicBezTo>
                <a:cubicBezTo>
                  <a:pt x="2686" y="1877"/>
                  <a:pt x="2708" y="1855"/>
                  <a:pt x="2729" y="1855"/>
                </a:cubicBezTo>
                <a:close/>
              </a:path>
            </a:pathLst>
          </a:custGeom>
          <a:solidFill>
            <a:srgbClr val="FFFFFF"/>
          </a:solidFill>
          <a:ln w="0">
            <a:noFill/>
          </a:ln>
        </p:spPr>
        <p:txBody>
          <a:bodyPr/>
          <a:lstStyle/>
          <a:p>
            <a:endParaRPr lang="en-US"/>
          </a:p>
        </p:txBody>
      </p:sp>
      <p:sp>
        <p:nvSpPr>
          <p:cNvPr id="376" name="TB376"/>
          <p:cNvSpPr txBox="1"/>
          <p:nvPr/>
        </p:nvSpPr>
        <p:spPr>
          <a:xfrm>
            <a:off x="1267587" y="3601593"/>
            <a:ext cx="9019413" cy="182902"/>
          </a:xfrm>
          <a:prstGeom prst="rect">
            <a:avLst/>
          </a:prstGeom>
          <a:noFill/>
        </p:spPr>
        <p:txBody>
          <a:bodyPr wrap="square" rtlCol="0" anchor="b"/>
          <a:lstStyle/>
          <a:p>
            <a:r>
              <a:rPr lang="en-US" sz="1400" b="1" dirty="0">
                <a:solidFill>
                  <a:srgbClr val="575757"/>
                </a:solidFill>
                <a:latin typeface="Trebuchet MS"/>
              </a:rPr>
              <a:t>Late enrollees (T-1 only) carry higher refund risk</a:t>
            </a:r>
          </a:p>
        </p:txBody>
      </p:sp>
      <p:sp>
        <p:nvSpPr>
          <p:cNvPr id="377" name="TB377"/>
          <p:cNvSpPr txBox="1"/>
          <p:nvPr/>
        </p:nvSpPr>
        <p:spPr>
          <a:xfrm>
            <a:off x="1267587" y="3766207"/>
            <a:ext cx="9019413" cy="161140"/>
          </a:xfrm>
          <a:prstGeom prst="rect">
            <a:avLst/>
          </a:prstGeom>
          <a:noFill/>
        </p:spPr>
        <p:txBody>
          <a:bodyPr wrap="square" rtlCol="0" anchor="t"/>
          <a:lstStyle/>
          <a:p>
            <a:r>
              <a:rPr lang="en-US" sz="1200" dirty="0">
                <a:solidFill>
                  <a:srgbClr val="575757"/>
                </a:solidFill>
                <a:latin typeface="Trebuchet MS"/>
              </a:rPr>
              <a:t>Comms data exposes lead time; learners with under 7 days from enrollment to start may need a defer option</a:t>
            </a:r>
          </a:p>
        </p:txBody>
      </p:sp>
      <p:sp>
        <p:nvSpPr>
          <p:cNvPr id="378" name="RR378"/>
          <p:cNvSpPr/>
          <p:nvPr/>
        </p:nvSpPr>
        <p:spPr>
          <a:xfrm>
            <a:off x="10442448" y="3627310"/>
            <a:ext cx="960120" cy="274320"/>
          </a:xfrm>
          <a:prstGeom prst="roundRect">
            <a:avLst>
              <a:gd name="adj" fmla="val 10000"/>
            </a:avLst>
          </a:prstGeom>
          <a:solidFill>
            <a:schemeClr val="tx2">
              <a:lumMod val="75000"/>
            </a:schemeClr>
          </a:solidFill>
          <a:ln>
            <a:noFill/>
          </a:ln>
        </p:spPr>
        <p:txBody>
          <a:bodyPr/>
          <a:lstStyle/>
          <a:p>
            <a:endParaRPr lang="en-US"/>
          </a:p>
        </p:txBody>
      </p:sp>
      <p:sp>
        <p:nvSpPr>
          <p:cNvPr id="379" name="TB379"/>
          <p:cNvSpPr txBox="1"/>
          <p:nvPr/>
        </p:nvSpPr>
        <p:spPr>
          <a:xfrm>
            <a:off x="10442448" y="3627310"/>
            <a:ext cx="960120" cy="274320"/>
          </a:xfrm>
          <a:prstGeom prst="rect">
            <a:avLst/>
          </a:prstGeom>
          <a:solidFill>
            <a:schemeClr val="tx2">
              <a:lumMod val="75000"/>
            </a:schemeClr>
          </a:solidFill>
        </p:spPr>
        <p:txBody>
          <a:bodyPr wrap="square" rtlCol="0" anchor="ctr"/>
          <a:lstStyle/>
          <a:p>
            <a:pPr algn="ctr"/>
            <a:r>
              <a:rPr lang="en-US" sz="1100" b="1" dirty="0">
                <a:solidFill>
                  <a:srgbClr val="FFFFFF"/>
                </a:solidFill>
                <a:latin typeface="Trebuchet MS"/>
              </a:rPr>
              <a:t>MEDIUM</a:t>
            </a:r>
          </a:p>
        </p:txBody>
      </p:sp>
      <p:sp>
        <p:nvSpPr>
          <p:cNvPr id="380" name="R380"/>
          <p:cNvSpPr/>
          <p:nvPr/>
        </p:nvSpPr>
        <p:spPr>
          <a:xfrm>
            <a:off x="630936" y="4037076"/>
            <a:ext cx="91440" cy="435483"/>
          </a:xfrm>
          <a:prstGeom prst="rect">
            <a:avLst/>
          </a:prstGeom>
          <a:solidFill>
            <a:schemeClr val="tx2">
              <a:lumMod val="75000"/>
            </a:schemeClr>
          </a:solidFill>
          <a:ln>
            <a:noFill/>
          </a:ln>
        </p:spPr>
        <p:txBody>
          <a:bodyPr/>
          <a:lstStyle/>
          <a:p>
            <a:endParaRPr lang="en-US"/>
          </a:p>
        </p:txBody>
      </p:sp>
      <p:sp>
        <p:nvSpPr>
          <p:cNvPr id="381" name="R381"/>
          <p:cNvSpPr/>
          <p:nvPr/>
        </p:nvSpPr>
        <p:spPr>
          <a:xfrm>
            <a:off x="722375" y="4037076"/>
            <a:ext cx="10844784" cy="435483"/>
          </a:xfrm>
          <a:prstGeom prst="rect">
            <a:avLst/>
          </a:prstGeom>
          <a:solidFill>
            <a:srgbClr val="F2F2F2"/>
          </a:solidFill>
          <a:ln w="9525">
            <a:solidFill>
              <a:srgbClr val="F2F2F2"/>
            </a:solidFill>
          </a:ln>
        </p:spPr>
        <p:txBody>
          <a:bodyPr/>
          <a:lstStyle/>
          <a:p>
            <a:endParaRPr lang="en-US"/>
          </a:p>
        </p:txBody>
      </p:sp>
      <p:sp>
        <p:nvSpPr>
          <p:cNvPr id="382" name="O382"/>
          <p:cNvSpPr/>
          <p:nvPr/>
        </p:nvSpPr>
        <p:spPr>
          <a:xfrm>
            <a:off x="832103" y="4119372"/>
            <a:ext cx="270891" cy="270891"/>
          </a:xfrm>
          <a:prstGeom prst="ellipse">
            <a:avLst/>
          </a:prstGeom>
          <a:solidFill>
            <a:schemeClr val="tx2">
              <a:lumMod val="75000"/>
            </a:schemeClr>
          </a:solidFill>
          <a:ln>
            <a:noFill/>
          </a:ln>
        </p:spPr>
        <p:txBody>
          <a:bodyPr/>
          <a:lstStyle/>
          <a:p>
            <a:endParaRPr lang="en-US"/>
          </a:p>
        </p:txBody>
      </p:sp>
      <p:sp>
        <p:nvSpPr>
          <p:cNvPr id="384" name="AutoShape 3">
            <a:extLst>
              <a:ext uri="{FF2B5EF4-FFF2-40B4-BE49-F238E27FC236}">
                <a16:creationId xmlns:a16="http://schemas.microsoft.com/office/drawing/2014/main" id="{ECE9578C-1783-45E1-AC0A-790813524E6E}"/>
              </a:ext>
            </a:extLst>
          </p:cNvPr>
          <p:cNvSpPr>
            <a:spLocks noChangeAspect="1" noChangeArrowheads="1" noTextEdit="1"/>
          </p:cNvSpPr>
          <p:nvPr/>
        </p:nvSpPr>
        <p:spPr bwMode="auto">
          <a:xfrm>
            <a:off x="821245" y="4108513"/>
            <a:ext cx="292337" cy="29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5" name="Freeform 5">
            <a:extLst>
              <a:ext uri="{FF2B5EF4-FFF2-40B4-BE49-F238E27FC236}">
                <a16:creationId xmlns:a16="http://schemas.microsoft.com/office/drawing/2014/main" id="{73323B5B-D1EC-4FDB-82C6-0D02BDF2208F}"/>
              </a:ext>
            </a:extLst>
          </p:cNvPr>
          <p:cNvSpPr>
            <a:spLocks noEditPoints="1"/>
          </p:cNvSpPr>
          <p:nvPr/>
        </p:nvSpPr>
        <p:spPr bwMode="auto">
          <a:xfrm>
            <a:off x="851590" y="4138858"/>
            <a:ext cx="231919" cy="232190"/>
          </a:xfrm>
          <a:custGeom>
            <a:avLst/>
            <a:gdLst>
              <a:gd name="T0" fmla="*/ 914 w 1828"/>
              <a:gd name="T1" fmla="*/ 1828 h 1828"/>
              <a:gd name="T2" fmla="*/ 268 w 1828"/>
              <a:gd name="T3" fmla="*/ 1560 h 1828"/>
              <a:gd name="T4" fmla="*/ 0 w 1828"/>
              <a:gd name="T5" fmla="*/ 914 h 1828"/>
              <a:gd name="T6" fmla="*/ 268 w 1828"/>
              <a:gd name="T7" fmla="*/ 268 h 1828"/>
              <a:gd name="T8" fmla="*/ 914 w 1828"/>
              <a:gd name="T9" fmla="*/ 0 h 1828"/>
              <a:gd name="T10" fmla="*/ 1560 w 1828"/>
              <a:gd name="T11" fmla="*/ 268 h 1828"/>
              <a:gd name="T12" fmla="*/ 1828 w 1828"/>
              <a:gd name="T13" fmla="*/ 914 h 1828"/>
              <a:gd name="T14" fmla="*/ 1560 w 1828"/>
              <a:gd name="T15" fmla="*/ 1560 h 1828"/>
              <a:gd name="T16" fmla="*/ 914 w 1828"/>
              <a:gd name="T17" fmla="*/ 1828 h 1828"/>
              <a:gd name="T18" fmla="*/ 914 w 1828"/>
              <a:gd name="T19" fmla="*/ 44 h 1828"/>
              <a:gd name="T20" fmla="*/ 44 w 1828"/>
              <a:gd name="T21" fmla="*/ 914 h 1828"/>
              <a:gd name="T22" fmla="*/ 914 w 1828"/>
              <a:gd name="T23" fmla="*/ 1784 h 1828"/>
              <a:gd name="T24" fmla="*/ 1784 w 1828"/>
              <a:gd name="T25" fmla="*/ 914 h 1828"/>
              <a:gd name="T26" fmla="*/ 914 w 1828"/>
              <a:gd name="T27" fmla="*/ 44 h 1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28" h="1828">
                <a:moveTo>
                  <a:pt x="914" y="1828"/>
                </a:moveTo>
                <a:cubicBezTo>
                  <a:pt x="670" y="1828"/>
                  <a:pt x="440" y="1733"/>
                  <a:pt x="268" y="1560"/>
                </a:cubicBezTo>
                <a:cubicBezTo>
                  <a:pt x="95" y="1388"/>
                  <a:pt x="0" y="1158"/>
                  <a:pt x="0" y="914"/>
                </a:cubicBezTo>
                <a:cubicBezTo>
                  <a:pt x="0" y="670"/>
                  <a:pt x="95" y="440"/>
                  <a:pt x="268" y="268"/>
                </a:cubicBezTo>
                <a:cubicBezTo>
                  <a:pt x="440" y="95"/>
                  <a:pt x="670" y="0"/>
                  <a:pt x="914" y="0"/>
                </a:cubicBezTo>
                <a:cubicBezTo>
                  <a:pt x="1158" y="0"/>
                  <a:pt x="1388" y="95"/>
                  <a:pt x="1560" y="268"/>
                </a:cubicBezTo>
                <a:cubicBezTo>
                  <a:pt x="1733" y="440"/>
                  <a:pt x="1828" y="670"/>
                  <a:pt x="1828" y="914"/>
                </a:cubicBezTo>
                <a:cubicBezTo>
                  <a:pt x="1828" y="1158"/>
                  <a:pt x="1733" y="1388"/>
                  <a:pt x="1560" y="1560"/>
                </a:cubicBezTo>
                <a:cubicBezTo>
                  <a:pt x="1388" y="1733"/>
                  <a:pt x="1158" y="1828"/>
                  <a:pt x="914" y="1828"/>
                </a:cubicBezTo>
                <a:close/>
                <a:moveTo>
                  <a:pt x="914" y="44"/>
                </a:moveTo>
                <a:cubicBezTo>
                  <a:pt x="434" y="44"/>
                  <a:pt x="44" y="434"/>
                  <a:pt x="44" y="914"/>
                </a:cubicBezTo>
                <a:cubicBezTo>
                  <a:pt x="44" y="1394"/>
                  <a:pt x="434" y="1784"/>
                  <a:pt x="914" y="1784"/>
                </a:cubicBezTo>
                <a:cubicBezTo>
                  <a:pt x="1394" y="1784"/>
                  <a:pt x="1784" y="1394"/>
                  <a:pt x="1784" y="914"/>
                </a:cubicBezTo>
                <a:cubicBezTo>
                  <a:pt x="1784" y="434"/>
                  <a:pt x="1394" y="44"/>
                  <a:pt x="914" y="44"/>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6" name="Freeform 6">
            <a:extLst>
              <a:ext uri="{FF2B5EF4-FFF2-40B4-BE49-F238E27FC236}">
                <a16:creationId xmlns:a16="http://schemas.microsoft.com/office/drawing/2014/main" id="{50A1FFE8-D612-4806-9F63-568DFDE79B7D}"/>
              </a:ext>
            </a:extLst>
          </p:cNvPr>
          <p:cNvSpPr>
            <a:spLocks noEditPoints="1"/>
          </p:cNvSpPr>
          <p:nvPr/>
        </p:nvSpPr>
        <p:spPr bwMode="auto">
          <a:xfrm>
            <a:off x="862766" y="4150034"/>
            <a:ext cx="209567" cy="209838"/>
          </a:xfrm>
          <a:custGeom>
            <a:avLst/>
            <a:gdLst>
              <a:gd name="T0" fmla="*/ 1518 w 1652"/>
              <a:gd name="T1" fmla="*/ 823 h 1652"/>
              <a:gd name="T2" fmla="*/ 1652 w 1652"/>
              <a:gd name="T3" fmla="*/ 778 h 1652"/>
              <a:gd name="T4" fmla="*/ 869 w 1652"/>
              <a:gd name="T5" fmla="*/ 88 h 1652"/>
              <a:gd name="T6" fmla="*/ 778 w 1652"/>
              <a:gd name="T7" fmla="*/ 88 h 1652"/>
              <a:gd name="T8" fmla="*/ 0 w 1652"/>
              <a:gd name="T9" fmla="*/ 783 h 1652"/>
              <a:gd name="T10" fmla="*/ 134 w 1652"/>
              <a:gd name="T11" fmla="*/ 829 h 1652"/>
              <a:gd name="T12" fmla="*/ 0 w 1652"/>
              <a:gd name="T13" fmla="*/ 874 h 1652"/>
              <a:gd name="T14" fmla="*/ 783 w 1652"/>
              <a:gd name="T15" fmla="*/ 1564 h 1652"/>
              <a:gd name="T16" fmla="*/ 874 w 1652"/>
              <a:gd name="T17" fmla="*/ 1564 h 1652"/>
              <a:gd name="T18" fmla="*/ 1652 w 1652"/>
              <a:gd name="T19" fmla="*/ 869 h 1652"/>
              <a:gd name="T20" fmla="*/ 146 w 1652"/>
              <a:gd name="T21" fmla="*/ 436 h 1652"/>
              <a:gd name="T22" fmla="*/ 225 w 1652"/>
              <a:gd name="T23" fmla="*/ 482 h 1652"/>
              <a:gd name="T24" fmla="*/ 146 w 1652"/>
              <a:gd name="T25" fmla="*/ 436 h 1652"/>
              <a:gd name="T26" fmla="*/ 148 w 1652"/>
              <a:gd name="T27" fmla="*/ 1220 h 1652"/>
              <a:gd name="T28" fmla="*/ 228 w 1652"/>
              <a:gd name="T29" fmla="*/ 1174 h 1652"/>
              <a:gd name="T30" fmla="*/ 432 w 1652"/>
              <a:gd name="T31" fmla="*/ 148 h 1652"/>
              <a:gd name="T32" fmla="*/ 478 w 1652"/>
              <a:gd name="T33" fmla="*/ 228 h 1652"/>
              <a:gd name="T34" fmla="*/ 432 w 1652"/>
              <a:gd name="T35" fmla="*/ 148 h 1652"/>
              <a:gd name="T36" fmla="*/ 436 w 1652"/>
              <a:gd name="T37" fmla="*/ 1506 h 1652"/>
              <a:gd name="T38" fmla="*/ 482 w 1652"/>
              <a:gd name="T39" fmla="*/ 1427 h 1652"/>
              <a:gd name="T40" fmla="*/ 1029 w 1652"/>
              <a:gd name="T41" fmla="*/ 548 h 1652"/>
              <a:gd name="T42" fmla="*/ 901 w 1652"/>
              <a:gd name="T43" fmla="*/ 824 h 1652"/>
              <a:gd name="T44" fmla="*/ 753 w 1652"/>
              <a:gd name="T45" fmla="*/ 824 h 1652"/>
              <a:gd name="T46" fmla="*/ 796 w 1652"/>
              <a:gd name="T47" fmla="*/ 281 h 1652"/>
              <a:gd name="T48" fmla="*/ 855 w 1652"/>
              <a:gd name="T49" fmla="*/ 281 h 1652"/>
              <a:gd name="T50" fmla="*/ 979 w 1652"/>
              <a:gd name="T51" fmla="*/ 518 h 1652"/>
              <a:gd name="T52" fmla="*/ 1029 w 1652"/>
              <a:gd name="T53" fmla="*/ 548 h 1652"/>
              <a:gd name="T54" fmla="*/ 1216 w 1652"/>
              <a:gd name="T55" fmla="*/ 146 h 1652"/>
              <a:gd name="T56" fmla="*/ 1170 w 1652"/>
              <a:gd name="T57" fmla="*/ 225 h 1652"/>
              <a:gd name="T58" fmla="*/ 1220 w 1652"/>
              <a:gd name="T59" fmla="*/ 1504 h 1652"/>
              <a:gd name="T60" fmla="*/ 1174 w 1652"/>
              <a:gd name="T61" fmla="*/ 1424 h 1652"/>
              <a:gd name="T62" fmla="*/ 1220 w 1652"/>
              <a:gd name="T63" fmla="*/ 1504 h 1652"/>
              <a:gd name="T64" fmla="*/ 1504 w 1652"/>
              <a:gd name="T65" fmla="*/ 432 h 1652"/>
              <a:gd name="T66" fmla="*/ 1424 w 1652"/>
              <a:gd name="T67" fmla="*/ 478 h 1652"/>
              <a:gd name="T68" fmla="*/ 1506 w 1652"/>
              <a:gd name="T69" fmla="*/ 1216 h 1652"/>
              <a:gd name="T70" fmla="*/ 1427 w 1652"/>
              <a:gd name="T71" fmla="*/ 1170 h 1652"/>
              <a:gd name="T72" fmla="*/ 1506 w 1652"/>
              <a:gd name="T73" fmla="*/ 1216 h 1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652" h="1652">
                <a:moveTo>
                  <a:pt x="1564" y="869"/>
                </a:moveTo>
                <a:cubicBezTo>
                  <a:pt x="1539" y="869"/>
                  <a:pt x="1518" y="849"/>
                  <a:pt x="1518" y="823"/>
                </a:cubicBezTo>
                <a:cubicBezTo>
                  <a:pt x="1518" y="798"/>
                  <a:pt x="1539" y="778"/>
                  <a:pt x="1564" y="778"/>
                </a:cubicBezTo>
                <a:cubicBezTo>
                  <a:pt x="1652" y="778"/>
                  <a:pt x="1652" y="778"/>
                  <a:pt x="1652" y="778"/>
                </a:cubicBezTo>
                <a:cubicBezTo>
                  <a:pt x="1627" y="358"/>
                  <a:pt x="1290" y="22"/>
                  <a:pt x="869" y="0"/>
                </a:cubicBezTo>
                <a:cubicBezTo>
                  <a:pt x="869" y="88"/>
                  <a:pt x="869" y="88"/>
                  <a:pt x="869" y="88"/>
                </a:cubicBezTo>
                <a:cubicBezTo>
                  <a:pt x="869" y="113"/>
                  <a:pt x="849" y="134"/>
                  <a:pt x="823" y="134"/>
                </a:cubicBezTo>
                <a:cubicBezTo>
                  <a:pt x="798" y="134"/>
                  <a:pt x="778" y="113"/>
                  <a:pt x="778" y="88"/>
                </a:cubicBezTo>
                <a:cubicBezTo>
                  <a:pt x="778" y="0"/>
                  <a:pt x="778" y="0"/>
                  <a:pt x="778" y="0"/>
                </a:cubicBezTo>
                <a:cubicBezTo>
                  <a:pt x="358" y="25"/>
                  <a:pt x="22" y="362"/>
                  <a:pt x="0" y="783"/>
                </a:cubicBezTo>
                <a:cubicBezTo>
                  <a:pt x="88" y="783"/>
                  <a:pt x="88" y="783"/>
                  <a:pt x="88" y="783"/>
                </a:cubicBezTo>
                <a:cubicBezTo>
                  <a:pt x="113" y="783"/>
                  <a:pt x="134" y="803"/>
                  <a:pt x="134" y="829"/>
                </a:cubicBezTo>
                <a:cubicBezTo>
                  <a:pt x="134" y="854"/>
                  <a:pt x="113" y="874"/>
                  <a:pt x="88" y="874"/>
                </a:cubicBezTo>
                <a:cubicBezTo>
                  <a:pt x="0" y="874"/>
                  <a:pt x="0" y="874"/>
                  <a:pt x="0" y="874"/>
                </a:cubicBezTo>
                <a:cubicBezTo>
                  <a:pt x="25" y="1294"/>
                  <a:pt x="362" y="1630"/>
                  <a:pt x="783" y="1652"/>
                </a:cubicBezTo>
                <a:cubicBezTo>
                  <a:pt x="783" y="1564"/>
                  <a:pt x="783" y="1564"/>
                  <a:pt x="783" y="1564"/>
                </a:cubicBezTo>
                <a:cubicBezTo>
                  <a:pt x="783" y="1539"/>
                  <a:pt x="803" y="1518"/>
                  <a:pt x="829" y="1518"/>
                </a:cubicBezTo>
                <a:cubicBezTo>
                  <a:pt x="854" y="1518"/>
                  <a:pt x="874" y="1539"/>
                  <a:pt x="874" y="1564"/>
                </a:cubicBezTo>
                <a:cubicBezTo>
                  <a:pt x="874" y="1652"/>
                  <a:pt x="874" y="1652"/>
                  <a:pt x="874" y="1652"/>
                </a:cubicBezTo>
                <a:cubicBezTo>
                  <a:pt x="1294" y="1627"/>
                  <a:pt x="1630" y="1290"/>
                  <a:pt x="1652" y="869"/>
                </a:cubicBezTo>
                <a:lnTo>
                  <a:pt x="1564" y="869"/>
                </a:lnTo>
                <a:close/>
                <a:moveTo>
                  <a:pt x="146" y="436"/>
                </a:moveTo>
                <a:cubicBezTo>
                  <a:pt x="159" y="414"/>
                  <a:pt x="187" y="407"/>
                  <a:pt x="208" y="420"/>
                </a:cubicBezTo>
                <a:cubicBezTo>
                  <a:pt x="230" y="432"/>
                  <a:pt x="238" y="460"/>
                  <a:pt x="225" y="482"/>
                </a:cubicBezTo>
                <a:cubicBezTo>
                  <a:pt x="213" y="504"/>
                  <a:pt x="185" y="512"/>
                  <a:pt x="163" y="499"/>
                </a:cubicBezTo>
                <a:cubicBezTo>
                  <a:pt x="141" y="486"/>
                  <a:pt x="133" y="458"/>
                  <a:pt x="146" y="436"/>
                </a:cubicBezTo>
                <a:close/>
                <a:moveTo>
                  <a:pt x="211" y="1237"/>
                </a:moveTo>
                <a:cubicBezTo>
                  <a:pt x="189" y="1250"/>
                  <a:pt x="161" y="1242"/>
                  <a:pt x="148" y="1220"/>
                </a:cubicBezTo>
                <a:cubicBezTo>
                  <a:pt x="136" y="1198"/>
                  <a:pt x="143" y="1170"/>
                  <a:pt x="165" y="1158"/>
                </a:cubicBezTo>
                <a:cubicBezTo>
                  <a:pt x="187" y="1145"/>
                  <a:pt x="215" y="1152"/>
                  <a:pt x="228" y="1174"/>
                </a:cubicBezTo>
                <a:cubicBezTo>
                  <a:pt x="240" y="1196"/>
                  <a:pt x="233" y="1224"/>
                  <a:pt x="211" y="1237"/>
                </a:cubicBezTo>
                <a:close/>
                <a:moveTo>
                  <a:pt x="432" y="148"/>
                </a:moveTo>
                <a:cubicBezTo>
                  <a:pt x="454" y="136"/>
                  <a:pt x="482" y="143"/>
                  <a:pt x="494" y="165"/>
                </a:cubicBezTo>
                <a:cubicBezTo>
                  <a:pt x="507" y="187"/>
                  <a:pt x="500" y="215"/>
                  <a:pt x="478" y="228"/>
                </a:cubicBezTo>
                <a:cubicBezTo>
                  <a:pt x="456" y="240"/>
                  <a:pt x="428" y="233"/>
                  <a:pt x="415" y="211"/>
                </a:cubicBezTo>
                <a:cubicBezTo>
                  <a:pt x="402" y="189"/>
                  <a:pt x="410" y="161"/>
                  <a:pt x="432" y="148"/>
                </a:cubicBezTo>
                <a:close/>
                <a:moveTo>
                  <a:pt x="499" y="1489"/>
                </a:moveTo>
                <a:cubicBezTo>
                  <a:pt x="486" y="1511"/>
                  <a:pt x="458" y="1519"/>
                  <a:pt x="436" y="1506"/>
                </a:cubicBezTo>
                <a:cubicBezTo>
                  <a:pt x="414" y="1493"/>
                  <a:pt x="407" y="1465"/>
                  <a:pt x="420" y="1444"/>
                </a:cubicBezTo>
                <a:cubicBezTo>
                  <a:pt x="432" y="1422"/>
                  <a:pt x="460" y="1414"/>
                  <a:pt x="482" y="1427"/>
                </a:cubicBezTo>
                <a:cubicBezTo>
                  <a:pt x="504" y="1439"/>
                  <a:pt x="512" y="1467"/>
                  <a:pt x="499" y="1489"/>
                </a:cubicBezTo>
                <a:close/>
                <a:moveTo>
                  <a:pt x="1029" y="548"/>
                </a:moveTo>
                <a:cubicBezTo>
                  <a:pt x="897" y="798"/>
                  <a:pt x="897" y="798"/>
                  <a:pt x="897" y="798"/>
                </a:cubicBezTo>
                <a:cubicBezTo>
                  <a:pt x="900" y="806"/>
                  <a:pt x="901" y="815"/>
                  <a:pt x="901" y="824"/>
                </a:cubicBezTo>
                <a:cubicBezTo>
                  <a:pt x="901" y="866"/>
                  <a:pt x="868" y="899"/>
                  <a:pt x="827" y="899"/>
                </a:cubicBezTo>
                <a:cubicBezTo>
                  <a:pt x="786" y="899"/>
                  <a:pt x="753" y="866"/>
                  <a:pt x="753" y="824"/>
                </a:cubicBezTo>
                <a:cubicBezTo>
                  <a:pt x="753" y="801"/>
                  <a:pt x="764" y="780"/>
                  <a:pt x="781" y="766"/>
                </a:cubicBezTo>
                <a:cubicBezTo>
                  <a:pt x="796" y="281"/>
                  <a:pt x="796" y="281"/>
                  <a:pt x="796" y="281"/>
                </a:cubicBezTo>
                <a:cubicBezTo>
                  <a:pt x="796" y="265"/>
                  <a:pt x="809" y="252"/>
                  <a:pt x="825" y="252"/>
                </a:cubicBezTo>
                <a:cubicBezTo>
                  <a:pt x="842" y="252"/>
                  <a:pt x="855" y="265"/>
                  <a:pt x="855" y="281"/>
                </a:cubicBezTo>
                <a:cubicBezTo>
                  <a:pt x="867" y="687"/>
                  <a:pt x="867" y="687"/>
                  <a:pt x="867" y="687"/>
                </a:cubicBezTo>
                <a:cubicBezTo>
                  <a:pt x="979" y="518"/>
                  <a:pt x="979" y="518"/>
                  <a:pt x="979" y="518"/>
                </a:cubicBezTo>
                <a:cubicBezTo>
                  <a:pt x="987" y="504"/>
                  <a:pt x="1005" y="499"/>
                  <a:pt x="1019" y="508"/>
                </a:cubicBezTo>
                <a:cubicBezTo>
                  <a:pt x="1033" y="516"/>
                  <a:pt x="1038" y="534"/>
                  <a:pt x="1029" y="548"/>
                </a:cubicBezTo>
                <a:close/>
                <a:moveTo>
                  <a:pt x="1153" y="163"/>
                </a:moveTo>
                <a:cubicBezTo>
                  <a:pt x="1166" y="141"/>
                  <a:pt x="1194" y="133"/>
                  <a:pt x="1216" y="146"/>
                </a:cubicBezTo>
                <a:cubicBezTo>
                  <a:pt x="1238" y="159"/>
                  <a:pt x="1245" y="187"/>
                  <a:pt x="1232" y="208"/>
                </a:cubicBezTo>
                <a:cubicBezTo>
                  <a:pt x="1220" y="230"/>
                  <a:pt x="1192" y="238"/>
                  <a:pt x="1170" y="225"/>
                </a:cubicBezTo>
                <a:cubicBezTo>
                  <a:pt x="1148" y="213"/>
                  <a:pt x="1140" y="185"/>
                  <a:pt x="1153" y="163"/>
                </a:cubicBezTo>
                <a:close/>
                <a:moveTo>
                  <a:pt x="1220" y="1504"/>
                </a:moveTo>
                <a:cubicBezTo>
                  <a:pt x="1198" y="1516"/>
                  <a:pt x="1170" y="1509"/>
                  <a:pt x="1158" y="1487"/>
                </a:cubicBezTo>
                <a:cubicBezTo>
                  <a:pt x="1145" y="1465"/>
                  <a:pt x="1152" y="1437"/>
                  <a:pt x="1174" y="1424"/>
                </a:cubicBezTo>
                <a:cubicBezTo>
                  <a:pt x="1196" y="1412"/>
                  <a:pt x="1224" y="1419"/>
                  <a:pt x="1237" y="1441"/>
                </a:cubicBezTo>
                <a:cubicBezTo>
                  <a:pt x="1250" y="1463"/>
                  <a:pt x="1242" y="1491"/>
                  <a:pt x="1220" y="1504"/>
                </a:cubicBezTo>
                <a:close/>
                <a:moveTo>
                  <a:pt x="1441" y="415"/>
                </a:moveTo>
                <a:cubicBezTo>
                  <a:pt x="1463" y="402"/>
                  <a:pt x="1491" y="410"/>
                  <a:pt x="1504" y="432"/>
                </a:cubicBezTo>
                <a:cubicBezTo>
                  <a:pt x="1516" y="454"/>
                  <a:pt x="1509" y="482"/>
                  <a:pt x="1487" y="494"/>
                </a:cubicBezTo>
                <a:cubicBezTo>
                  <a:pt x="1465" y="507"/>
                  <a:pt x="1437" y="500"/>
                  <a:pt x="1424" y="478"/>
                </a:cubicBezTo>
                <a:cubicBezTo>
                  <a:pt x="1412" y="456"/>
                  <a:pt x="1419" y="428"/>
                  <a:pt x="1441" y="415"/>
                </a:cubicBezTo>
                <a:close/>
                <a:moveTo>
                  <a:pt x="1506" y="1216"/>
                </a:moveTo>
                <a:cubicBezTo>
                  <a:pt x="1493" y="1238"/>
                  <a:pt x="1465" y="1245"/>
                  <a:pt x="1444" y="1232"/>
                </a:cubicBezTo>
                <a:cubicBezTo>
                  <a:pt x="1422" y="1220"/>
                  <a:pt x="1414" y="1192"/>
                  <a:pt x="1427" y="1170"/>
                </a:cubicBezTo>
                <a:cubicBezTo>
                  <a:pt x="1439" y="1148"/>
                  <a:pt x="1467" y="1140"/>
                  <a:pt x="1489" y="1153"/>
                </a:cubicBezTo>
                <a:cubicBezTo>
                  <a:pt x="1511" y="1166"/>
                  <a:pt x="1519" y="1194"/>
                  <a:pt x="1506" y="1216"/>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7" name="TB387"/>
          <p:cNvSpPr txBox="1"/>
          <p:nvPr/>
        </p:nvSpPr>
        <p:spPr>
          <a:xfrm>
            <a:off x="1267587" y="4091939"/>
            <a:ext cx="9019413" cy="182902"/>
          </a:xfrm>
          <a:prstGeom prst="rect">
            <a:avLst/>
          </a:prstGeom>
          <a:noFill/>
        </p:spPr>
        <p:txBody>
          <a:bodyPr wrap="square" rtlCol="0" anchor="b"/>
          <a:lstStyle/>
          <a:p>
            <a:r>
              <a:rPr lang="en-US" sz="1400" b="1" dirty="0">
                <a:solidFill>
                  <a:srgbClr val="575757"/>
                </a:solidFill>
                <a:latin typeface="Trebuchet MS"/>
              </a:rPr>
              <a:t>Refund decision is made by Day 7-10 but filed days later</a:t>
            </a:r>
          </a:p>
        </p:txBody>
      </p:sp>
      <p:sp>
        <p:nvSpPr>
          <p:cNvPr id="388" name="TB388"/>
          <p:cNvSpPr txBox="1"/>
          <p:nvPr/>
        </p:nvSpPr>
        <p:spPr>
          <a:xfrm>
            <a:off x="1267587" y="4256554"/>
            <a:ext cx="9019413" cy="161140"/>
          </a:xfrm>
          <a:prstGeom prst="rect">
            <a:avLst/>
          </a:prstGeom>
          <a:noFill/>
        </p:spPr>
        <p:txBody>
          <a:bodyPr wrap="square" rtlCol="0" anchor="t"/>
          <a:lstStyle/>
          <a:p>
            <a:r>
              <a:rPr lang="en-US" sz="1200" dirty="0">
                <a:solidFill>
                  <a:srgbClr val="575757"/>
                </a:solidFill>
                <a:latin typeface="Trebuchet MS"/>
              </a:rPr>
              <a:t>Engagement collapse precedes refund filing by ~7 days; suggests a recoverable outreach window</a:t>
            </a:r>
          </a:p>
        </p:txBody>
      </p:sp>
      <p:sp>
        <p:nvSpPr>
          <p:cNvPr id="389" name="RR389"/>
          <p:cNvSpPr/>
          <p:nvPr/>
        </p:nvSpPr>
        <p:spPr>
          <a:xfrm>
            <a:off x="10442448" y="4117657"/>
            <a:ext cx="960120" cy="274320"/>
          </a:xfrm>
          <a:prstGeom prst="roundRect">
            <a:avLst>
              <a:gd name="adj" fmla="val 10000"/>
            </a:avLst>
          </a:prstGeom>
          <a:solidFill>
            <a:schemeClr val="tx2">
              <a:lumMod val="75000"/>
            </a:schemeClr>
          </a:solidFill>
          <a:ln>
            <a:noFill/>
          </a:ln>
        </p:spPr>
        <p:txBody>
          <a:bodyPr/>
          <a:lstStyle/>
          <a:p>
            <a:endParaRPr lang="en-US"/>
          </a:p>
        </p:txBody>
      </p:sp>
      <p:sp>
        <p:nvSpPr>
          <p:cNvPr id="390" name="TB390"/>
          <p:cNvSpPr txBox="1"/>
          <p:nvPr/>
        </p:nvSpPr>
        <p:spPr>
          <a:xfrm>
            <a:off x="10442448" y="4117657"/>
            <a:ext cx="960120" cy="274320"/>
          </a:xfrm>
          <a:prstGeom prst="rect">
            <a:avLst/>
          </a:prstGeom>
          <a:solidFill>
            <a:schemeClr val="tx2">
              <a:lumMod val="75000"/>
            </a:schemeClr>
          </a:solidFill>
        </p:spPr>
        <p:txBody>
          <a:bodyPr wrap="square" rtlCol="0" anchor="ctr"/>
          <a:lstStyle/>
          <a:p>
            <a:pPr algn="ctr"/>
            <a:r>
              <a:rPr lang="en-US" sz="1100" b="1" dirty="0">
                <a:solidFill>
                  <a:srgbClr val="FFFFFF"/>
                </a:solidFill>
                <a:latin typeface="Trebuchet MS"/>
              </a:rPr>
              <a:t>MEDIUM</a:t>
            </a:r>
          </a:p>
        </p:txBody>
      </p:sp>
      <p:sp>
        <p:nvSpPr>
          <p:cNvPr id="391" name="R391"/>
          <p:cNvSpPr/>
          <p:nvPr/>
        </p:nvSpPr>
        <p:spPr>
          <a:xfrm>
            <a:off x="630936" y="4527423"/>
            <a:ext cx="91440" cy="435483"/>
          </a:xfrm>
          <a:prstGeom prst="rect">
            <a:avLst/>
          </a:prstGeom>
          <a:solidFill>
            <a:schemeClr val="tx2">
              <a:lumMod val="75000"/>
            </a:schemeClr>
          </a:solidFill>
          <a:ln>
            <a:noFill/>
          </a:ln>
        </p:spPr>
        <p:txBody>
          <a:bodyPr/>
          <a:lstStyle/>
          <a:p>
            <a:endParaRPr lang="en-US"/>
          </a:p>
        </p:txBody>
      </p:sp>
      <p:sp>
        <p:nvSpPr>
          <p:cNvPr id="392" name="R392"/>
          <p:cNvSpPr/>
          <p:nvPr/>
        </p:nvSpPr>
        <p:spPr>
          <a:xfrm>
            <a:off x="722375" y="4527423"/>
            <a:ext cx="10844784" cy="435483"/>
          </a:xfrm>
          <a:prstGeom prst="rect">
            <a:avLst/>
          </a:prstGeom>
          <a:solidFill>
            <a:srgbClr val="F2F2F2"/>
          </a:solidFill>
          <a:ln w="9525">
            <a:solidFill>
              <a:srgbClr val="F2F2F2"/>
            </a:solidFill>
          </a:ln>
        </p:spPr>
        <p:txBody>
          <a:bodyPr/>
          <a:lstStyle/>
          <a:p>
            <a:endParaRPr lang="en-US"/>
          </a:p>
        </p:txBody>
      </p:sp>
      <p:sp>
        <p:nvSpPr>
          <p:cNvPr id="393" name="O393"/>
          <p:cNvSpPr/>
          <p:nvPr/>
        </p:nvSpPr>
        <p:spPr>
          <a:xfrm>
            <a:off x="832103" y="4609719"/>
            <a:ext cx="270891" cy="270891"/>
          </a:xfrm>
          <a:prstGeom prst="ellipse">
            <a:avLst/>
          </a:prstGeom>
          <a:solidFill>
            <a:schemeClr val="tx2">
              <a:lumMod val="75000"/>
            </a:schemeClr>
          </a:solidFill>
          <a:ln>
            <a:noFill/>
          </a:ln>
        </p:spPr>
        <p:txBody>
          <a:bodyPr/>
          <a:lstStyle/>
          <a:p>
            <a:endParaRPr lang="en-US"/>
          </a:p>
        </p:txBody>
      </p:sp>
      <p:sp>
        <p:nvSpPr>
          <p:cNvPr id="395" name="AutoShape 18">
            <a:extLst>
              <a:ext uri="{FF2B5EF4-FFF2-40B4-BE49-F238E27FC236}">
                <a16:creationId xmlns:a16="http://schemas.microsoft.com/office/drawing/2014/main" id="{5381C2E6-C0A5-47CA-9FE1-1E79D784DAFB}"/>
              </a:ext>
            </a:extLst>
          </p:cNvPr>
          <p:cNvSpPr>
            <a:spLocks noChangeAspect="1" noChangeArrowheads="1" noTextEdit="1"/>
          </p:cNvSpPr>
          <p:nvPr/>
        </p:nvSpPr>
        <p:spPr bwMode="auto">
          <a:xfrm>
            <a:off x="821245" y="4598860"/>
            <a:ext cx="292337" cy="292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FFFF"/>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6" name="Freeform 20">
            <a:extLst>
              <a:ext uri="{FF2B5EF4-FFF2-40B4-BE49-F238E27FC236}">
                <a16:creationId xmlns:a16="http://schemas.microsoft.com/office/drawing/2014/main" id="{BDC0EBF9-E3A7-42FA-B170-D0CF0542BA7A}"/>
              </a:ext>
            </a:extLst>
          </p:cNvPr>
          <p:cNvSpPr>
            <a:spLocks noEditPoints="1"/>
          </p:cNvSpPr>
          <p:nvPr/>
        </p:nvSpPr>
        <p:spPr bwMode="auto">
          <a:xfrm>
            <a:off x="867304" y="4677837"/>
            <a:ext cx="186538" cy="128761"/>
          </a:xfrm>
          <a:custGeom>
            <a:avLst/>
            <a:gdLst>
              <a:gd name="T0" fmla="*/ 1470 w 1470"/>
              <a:gd name="T1" fmla="*/ 0 h 1014"/>
              <a:gd name="T2" fmla="*/ 1470 w 1470"/>
              <a:gd name="T3" fmla="*/ 867 h 1014"/>
              <a:gd name="T4" fmla="*/ 1383 w 1470"/>
              <a:gd name="T5" fmla="*/ 867 h 1014"/>
              <a:gd name="T6" fmla="*/ 1285 w 1470"/>
              <a:gd name="T7" fmla="*/ 359 h 1014"/>
              <a:gd name="T8" fmla="*/ 1147 w 1470"/>
              <a:gd name="T9" fmla="*/ 260 h 1014"/>
              <a:gd name="T10" fmla="*/ 1237 w 1470"/>
              <a:gd name="T11" fmla="*/ 188 h 1014"/>
              <a:gd name="T12" fmla="*/ 1283 w 1470"/>
              <a:gd name="T13" fmla="*/ 196 h 1014"/>
              <a:gd name="T14" fmla="*/ 1412 w 1470"/>
              <a:gd name="T15" fmla="*/ 67 h 1014"/>
              <a:gd name="T16" fmla="*/ 1410 w 1470"/>
              <a:gd name="T17" fmla="*/ 48 h 1014"/>
              <a:gd name="T18" fmla="*/ 1470 w 1470"/>
              <a:gd name="T19" fmla="*/ 0 h 1014"/>
              <a:gd name="T20" fmla="*/ 614 w 1470"/>
              <a:gd name="T21" fmla="*/ 346 h 1014"/>
              <a:gd name="T22" fmla="*/ 641 w 1470"/>
              <a:gd name="T23" fmla="*/ 322 h 1014"/>
              <a:gd name="T24" fmla="*/ 614 w 1470"/>
              <a:gd name="T25" fmla="*/ 325 h 1014"/>
              <a:gd name="T26" fmla="*/ 588 w 1470"/>
              <a:gd name="T27" fmla="*/ 322 h 1014"/>
              <a:gd name="T28" fmla="*/ 476 w 1470"/>
              <a:gd name="T29" fmla="*/ 446 h 1014"/>
              <a:gd name="T30" fmla="*/ 481 w 1470"/>
              <a:gd name="T31" fmla="*/ 484 h 1014"/>
              <a:gd name="T32" fmla="*/ 352 w 1470"/>
              <a:gd name="T33" fmla="*/ 613 h 1014"/>
              <a:gd name="T34" fmla="*/ 280 w 1470"/>
              <a:gd name="T35" fmla="*/ 590 h 1014"/>
              <a:gd name="T36" fmla="*/ 0 w 1470"/>
              <a:gd name="T37" fmla="*/ 720 h 1014"/>
              <a:gd name="T38" fmla="*/ 0 w 1470"/>
              <a:gd name="T39" fmla="*/ 867 h 1014"/>
              <a:gd name="T40" fmla="*/ 503 w 1470"/>
              <a:gd name="T41" fmla="*/ 867 h 1014"/>
              <a:gd name="T42" fmla="*/ 614 w 1470"/>
              <a:gd name="T43" fmla="*/ 346 h 1014"/>
              <a:gd name="T44" fmla="*/ 705 w 1470"/>
              <a:gd name="T45" fmla="*/ 913 h 1014"/>
              <a:gd name="T46" fmla="*/ 943 w 1470"/>
              <a:gd name="T47" fmla="*/ 1014 h 1014"/>
              <a:gd name="T48" fmla="*/ 1144 w 1470"/>
              <a:gd name="T49" fmla="*/ 946 h 1014"/>
              <a:gd name="T50" fmla="*/ 1145 w 1470"/>
              <a:gd name="T51" fmla="*/ 945 h 1014"/>
              <a:gd name="T52" fmla="*/ 1171 w 1470"/>
              <a:gd name="T53" fmla="*/ 922 h 1014"/>
              <a:gd name="T54" fmla="*/ 1199 w 1470"/>
              <a:gd name="T55" fmla="*/ 892 h 1014"/>
              <a:gd name="T56" fmla="*/ 1202 w 1470"/>
              <a:gd name="T57" fmla="*/ 481 h 1014"/>
              <a:gd name="T58" fmla="*/ 1103 w 1470"/>
              <a:gd name="T59" fmla="*/ 560 h 1014"/>
              <a:gd name="T60" fmla="*/ 1106 w 1470"/>
              <a:gd name="T61" fmla="*/ 590 h 1014"/>
              <a:gd name="T62" fmla="*/ 947 w 1470"/>
              <a:gd name="T63" fmla="*/ 749 h 1014"/>
              <a:gd name="T64" fmla="*/ 789 w 1470"/>
              <a:gd name="T65" fmla="*/ 595 h 1014"/>
              <a:gd name="T66" fmla="*/ 652 w 1470"/>
              <a:gd name="T67" fmla="*/ 529 h 1014"/>
              <a:gd name="T68" fmla="*/ 705 w 1470"/>
              <a:gd name="T69" fmla="*/ 913 h 10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70" h="1014">
                <a:moveTo>
                  <a:pt x="1470" y="0"/>
                </a:moveTo>
                <a:cubicBezTo>
                  <a:pt x="1470" y="867"/>
                  <a:pt x="1470" y="867"/>
                  <a:pt x="1470" y="867"/>
                </a:cubicBezTo>
                <a:cubicBezTo>
                  <a:pt x="1383" y="867"/>
                  <a:pt x="1383" y="867"/>
                  <a:pt x="1383" y="867"/>
                </a:cubicBezTo>
                <a:cubicBezTo>
                  <a:pt x="1452" y="697"/>
                  <a:pt x="1417" y="497"/>
                  <a:pt x="1285" y="359"/>
                </a:cubicBezTo>
                <a:cubicBezTo>
                  <a:pt x="1245" y="317"/>
                  <a:pt x="1198" y="284"/>
                  <a:pt x="1147" y="260"/>
                </a:cubicBezTo>
                <a:cubicBezTo>
                  <a:pt x="1237" y="188"/>
                  <a:pt x="1237" y="188"/>
                  <a:pt x="1237" y="188"/>
                </a:cubicBezTo>
                <a:cubicBezTo>
                  <a:pt x="1252" y="193"/>
                  <a:pt x="1267" y="196"/>
                  <a:pt x="1283" y="196"/>
                </a:cubicBezTo>
                <a:cubicBezTo>
                  <a:pt x="1354" y="196"/>
                  <a:pt x="1412" y="138"/>
                  <a:pt x="1412" y="67"/>
                </a:cubicBezTo>
                <a:cubicBezTo>
                  <a:pt x="1412" y="61"/>
                  <a:pt x="1411" y="54"/>
                  <a:pt x="1410" y="48"/>
                </a:cubicBezTo>
                <a:lnTo>
                  <a:pt x="1470" y="0"/>
                </a:lnTo>
                <a:close/>
                <a:moveTo>
                  <a:pt x="614" y="346"/>
                </a:moveTo>
                <a:cubicBezTo>
                  <a:pt x="623" y="338"/>
                  <a:pt x="632" y="329"/>
                  <a:pt x="641" y="322"/>
                </a:cubicBezTo>
                <a:cubicBezTo>
                  <a:pt x="632" y="324"/>
                  <a:pt x="623" y="325"/>
                  <a:pt x="614" y="325"/>
                </a:cubicBezTo>
                <a:cubicBezTo>
                  <a:pt x="605" y="325"/>
                  <a:pt x="597" y="324"/>
                  <a:pt x="588" y="322"/>
                </a:cubicBezTo>
                <a:cubicBezTo>
                  <a:pt x="476" y="446"/>
                  <a:pt x="476" y="446"/>
                  <a:pt x="476" y="446"/>
                </a:cubicBezTo>
                <a:cubicBezTo>
                  <a:pt x="479" y="458"/>
                  <a:pt x="481" y="471"/>
                  <a:pt x="481" y="484"/>
                </a:cubicBezTo>
                <a:cubicBezTo>
                  <a:pt x="481" y="555"/>
                  <a:pt x="423" y="613"/>
                  <a:pt x="352" y="613"/>
                </a:cubicBezTo>
                <a:cubicBezTo>
                  <a:pt x="326" y="613"/>
                  <a:pt x="301" y="605"/>
                  <a:pt x="280" y="590"/>
                </a:cubicBezTo>
                <a:cubicBezTo>
                  <a:pt x="0" y="720"/>
                  <a:pt x="0" y="720"/>
                  <a:pt x="0" y="720"/>
                </a:cubicBezTo>
                <a:cubicBezTo>
                  <a:pt x="0" y="867"/>
                  <a:pt x="0" y="867"/>
                  <a:pt x="0" y="867"/>
                </a:cubicBezTo>
                <a:cubicBezTo>
                  <a:pt x="503" y="867"/>
                  <a:pt x="503" y="867"/>
                  <a:pt x="503" y="867"/>
                </a:cubicBezTo>
                <a:cubicBezTo>
                  <a:pt x="433" y="692"/>
                  <a:pt x="471" y="484"/>
                  <a:pt x="614" y="346"/>
                </a:cubicBezTo>
                <a:close/>
                <a:moveTo>
                  <a:pt x="705" y="913"/>
                </a:moveTo>
                <a:cubicBezTo>
                  <a:pt x="768" y="978"/>
                  <a:pt x="852" y="1014"/>
                  <a:pt x="943" y="1014"/>
                </a:cubicBezTo>
                <a:cubicBezTo>
                  <a:pt x="1015" y="1014"/>
                  <a:pt x="1087" y="990"/>
                  <a:pt x="1144" y="946"/>
                </a:cubicBezTo>
                <a:cubicBezTo>
                  <a:pt x="1145" y="945"/>
                  <a:pt x="1145" y="945"/>
                  <a:pt x="1145" y="945"/>
                </a:cubicBezTo>
                <a:cubicBezTo>
                  <a:pt x="1153" y="940"/>
                  <a:pt x="1161" y="932"/>
                  <a:pt x="1171" y="922"/>
                </a:cubicBezTo>
                <a:cubicBezTo>
                  <a:pt x="1181" y="913"/>
                  <a:pt x="1191" y="903"/>
                  <a:pt x="1199" y="892"/>
                </a:cubicBezTo>
                <a:cubicBezTo>
                  <a:pt x="1297" y="772"/>
                  <a:pt x="1296" y="601"/>
                  <a:pt x="1202" y="481"/>
                </a:cubicBezTo>
                <a:cubicBezTo>
                  <a:pt x="1103" y="560"/>
                  <a:pt x="1103" y="560"/>
                  <a:pt x="1103" y="560"/>
                </a:cubicBezTo>
                <a:cubicBezTo>
                  <a:pt x="1105" y="570"/>
                  <a:pt x="1106" y="580"/>
                  <a:pt x="1106" y="590"/>
                </a:cubicBezTo>
                <a:cubicBezTo>
                  <a:pt x="1106" y="677"/>
                  <a:pt x="1035" y="749"/>
                  <a:pt x="947" y="749"/>
                </a:cubicBezTo>
                <a:cubicBezTo>
                  <a:pt x="862" y="749"/>
                  <a:pt x="792" y="680"/>
                  <a:pt x="789" y="595"/>
                </a:cubicBezTo>
                <a:cubicBezTo>
                  <a:pt x="652" y="529"/>
                  <a:pt x="652" y="529"/>
                  <a:pt x="652" y="529"/>
                </a:cubicBezTo>
                <a:cubicBezTo>
                  <a:pt x="587" y="652"/>
                  <a:pt x="604" y="808"/>
                  <a:pt x="705" y="913"/>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7" name="Freeform 21">
            <a:extLst>
              <a:ext uri="{FF2B5EF4-FFF2-40B4-BE49-F238E27FC236}">
                <a16:creationId xmlns:a16="http://schemas.microsoft.com/office/drawing/2014/main" id="{F9EEAED7-4FFF-4707-B9E4-EC0C5FA18C53}"/>
              </a:ext>
            </a:extLst>
          </p:cNvPr>
          <p:cNvSpPr>
            <a:spLocks noEditPoints="1"/>
          </p:cNvSpPr>
          <p:nvPr/>
        </p:nvSpPr>
        <p:spPr bwMode="auto">
          <a:xfrm>
            <a:off x="856128" y="4645731"/>
            <a:ext cx="239437" cy="230632"/>
          </a:xfrm>
          <a:custGeom>
            <a:avLst/>
            <a:gdLst>
              <a:gd name="T0" fmla="*/ 1272 w 1887"/>
              <a:gd name="T1" fmla="*/ 1297 h 1816"/>
              <a:gd name="T2" fmla="*/ 1389 w 1887"/>
              <a:gd name="T3" fmla="*/ 1401 h 1816"/>
              <a:gd name="T4" fmla="*/ 1481 w 1887"/>
              <a:gd name="T5" fmla="*/ 1296 h 1816"/>
              <a:gd name="T6" fmla="*/ 1340 w 1887"/>
              <a:gd name="T7" fmla="*/ 644 h 1816"/>
              <a:gd name="T8" fmla="*/ 722 w 1887"/>
              <a:gd name="T9" fmla="*/ 1239 h 1816"/>
              <a:gd name="T10" fmla="*/ 760 w 1887"/>
              <a:gd name="T11" fmla="*/ 1202 h 1816"/>
              <a:gd name="T12" fmla="*/ 1302 w 1887"/>
              <a:gd name="T13" fmla="*/ 681 h 1816"/>
              <a:gd name="T14" fmla="*/ 1291 w 1887"/>
              <a:gd name="T15" fmla="*/ 1212 h 1816"/>
              <a:gd name="T16" fmla="*/ 1752 w 1887"/>
              <a:gd name="T17" fmla="*/ 1816 h 1816"/>
              <a:gd name="T18" fmla="*/ 1405 w 1887"/>
              <a:gd name="T19" fmla="*/ 1477 h 1816"/>
              <a:gd name="T20" fmla="*/ 1528 w 1887"/>
              <a:gd name="T21" fmla="*/ 1327 h 1816"/>
              <a:gd name="T22" fmla="*/ 1559 w 1887"/>
              <a:gd name="T23" fmla="*/ 1327 h 1816"/>
              <a:gd name="T24" fmla="*/ 1878 w 1887"/>
              <a:gd name="T25" fmla="*/ 1714 h 1816"/>
              <a:gd name="T26" fmla="*/ 1752 w 1887"/>
              <a:gd name="T27" fmla="*/ 1816 h 1816"/>
              <a:gd name="T28" fmla="*/ 1746 w 1887"/>
              <a:gd name="T29" fmla="*/ 1770 h 1816"/>
              <a:gd name="T30" fmla="*/ 1837 w 1887"/>
              <a:gd name="T31" fmla="*/ 1700 h 1816"/>
              <a:gd name="T32" fmla="*/ 1543 w 1887"/>
              <a:gd name="T33" fmla="*/ 1374 h 1816"/>
              <a:gd name="T34" fmla="*/ 1624 w 1887"/>
              <a:gd name="T35" fmla="*/ 0 h 1816"/>
              <a:gd name="T36" fmla="*/ 0 w 1887"/>
              <a:gd name="T37" fmla="*/ 22 h 1816"/>
              <a:gd name="T38" fmla="*/ 22 w 1887"/>
              <a:gd name="T39" fmla="*/ 1208 h 1816"/>
              <a:gd name="T40" fmla="*/ 611 w 1887"/>
              <a:gd name="T41" fmla="*/ 1164 h 1816"/>
              <a:gd name="T42" fmla="*/ 44 w 1887"/>
              <a:gd name="T43" fmla="*/ 945 h 1816"/>
              <a:gd name="T44" fmla="*/ 440 w 1887"/>
              <a:gd name="T45" fmla="*/ 830 h 1816"/>
              <a:gd name="T46" fmla="*/ 517 w 1887"/>
              <a:gd name="T47" fmla="*/ 685 h 1816"/>
              <a:gd name="T48" fmla="*/ 702 w 1887"/>
              <a:gd name="T49" fmla="*/ 542 h 1816"/>
              <a:gd name="T50" fmla="*/ 806 w 1887"/>
              <a:gd name="T51" fmla="*/ 523 h 1816"/>
              <a:gd name="T52" fmla="*/ 793 w 1887"/>
              <a:gd name="T53" fmla="*/ 468 h 1816"/>
              <a:gd name="T54" fmla="*/ 702 w 1887"/>
              <a:gd name="T55" fmla="*/ 356 h 1816"/>
              <a:gd name="T56" fmla="*/ 625 w 1887"/>
              <a:gd name="T57" fmla="*/ 501 h 1816"/>
              <a:gd name="T58" fmla="*/ 440 w 1887"/>
              <a:gd name="T59" fmla="*/ 644 h 1816"/>
              <a:gd name="T60" fmla="*/ 349 w 1887"/>
              <a:gd name="T61" fmla="*/ 755 h 1816"/>
              <a:gd name="T62" fmla="*/ 44 w 1887"/>
              <a:gd name="T63" fmla="*/ 44 h 1816"/>
              <a:gd name="T64" fmla="*/ 1602 w 1887"/>
              <a:gd name="T65" fmla="*/ 104 h 1816"/>
              <a:gd name="T66" fmla="*/ 1371 w 1887"/>
              <a:gd name="T67" fmla="*/ 227 h 1816"/>
              <a:gd name="T68" fmla="*/ 1286 w 1887"/>
              <a:gd name="T69" fmla="*/ 359 h 1816"/>
              <a:gd name="T70" fmla="*/ 1189 w 1887"/>
              <a:gd name="T71" fmla="*/ 494 h 1816"/>
              <a:gd name="T72" fmla="*/ 1371 w 1887"/>
              <a:gd name="T73" fmla="*/ 413 h 1816"/>
              <a:gd name="T74" fmla="*/ 1455 w 1887"/>
              <a:gd name="T75" fmla="*/ 280 h 1816"/>
              <a:gd name="T76" fmla="*/ 1602 w 1887"/>
              <a:gd name="T77" fmla="*/ 1164 h 1816"/>
              <a:gd name="T78" fmla="*/ 1438 w 1887"/>
              <a:gd name="T79" fmla="*/ 1185 h 1816"/>
              <a:gd name="T80" fmla="*/ 1624 w 1887"/>
              <a:gd name="T81" fmla="*/ 1208 h 1816"/>
              <a:gd name="T82" fmla="*/ 1646 w 1887"/>
              <a:gd name="T83" fmla="*/ 22 h 1816"/>
              <a:gd name="T84" fmla="*/ 702 w 1887"/>
              <a:gd name="T85" fmla="*/ 400 h 1816"/>
              <a:gd name="T86" fmla="*/ 702 w 1887"/>
              <a:gd name="T87" fmla="*/ 498 h 1816"/>
              <a:gd name="T88" fmla="*/ 702 w 1887"/>
              <a:gd name="T89" fmla="*/ 400 h 1816"/>
              <a:gd name="T90" fmla="*/ 489 w 1887"/>
              <a:gd name="T91" fmla="*/ 737 h 1816"/>
              <a:gd name="T92" fmla="*/ 391 w 1887"/>
              <a:gd name="T93" fmla="*/ 737 h 1816"/>
              <a:gd name="T94" fmla="*/ 1371 w 1887"/>
              <a:gd name="T95" fmla="*/ 369 h 1816"/>
              <a:gd name="T96" fmla="*/ 1371 w 1887"/>
              <a:gd name="T97" fmla="*/ 271 h 1816"/>
              <a:gd name="T98" fmla="*/ 1371 w 1887"/>
              <a:gd name="T99" fmla="*/ 369 h 1816"/>
              <a:gd name="T100" fmla="*/ 1111 w 1887"/>
              <a:gd name="T101" fmla="*/ 750 h 1816"/>
              <a:gd name="T102" fmla="*/ 942 w 1887"/>
              <a:gd name="T103" fmla="*/ 769 h 1816"/>
              <a:gd name="T104" fmla="*/ 766 w 1887"/>
              <a:gd name="T105" fmla="*/ 742 h 1816"/>
              <a:gd name="T106" fmla="*/ 916 w 1887"/>
              <a:gd name="T107" fmla="*/ 843 h 1816"/>
              <a:gd name="T108" fmla="*/ 1155 w 1887"/>
              <a:gd name="T109" fmla="*/ 843 h 1816"/>
              <a:gd name="T110" fmla="*/ 1258 w 1887"/>
              <a:gd name="T111" fmla="*/ 698 h 1816"/>
              <a:gd name="T112" fmla="*/ 1035 w 1887"/>
              <a:gd name="T113" fmla="*/ 915 h 1816"/>
              <a:gd name="T114" fmla="*/ 1035 w 1887"/>
              <a:gd name="T115" fmla="*/ 771 h 1816"/>
              <a:gd name="T116" fmla="*/ 1035 w 1887"/>
              <a:gd name="T117" fmla="*/ 915 h 18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887" h="1816">
                <a:moveTo>
                  <a:pt x="722" y="1239"/>
                </a:moveTo>
                <a:cubicBezTo>
                  <a:pt x="869" y="1392"/>
                  <a:pt x="1103" y="1412"/>
                  <a:pt x="1272" y="1297"/>
                </a:cubicBezTo>
                <a:cubicBezTo>
                  <a:pt x="1272" y="1297"/>
                  <a:pt x="1272" y="1297"/>
                  <a:pt x="1372" y="1400"/>
                </a:cubicBezTo>
                <a:cubicBezTo>
                  <a:pt x="1377" y="1405"/>
                  <a:pt x="1384" y="1405"/>
                  <a:pt x="1389" y="1401"/>
                </a:cubicBezTo>
                <a:cubicBezTo>
                  <a:pt x="1389" y="1401"/>
                  <a:pt x="1389" y="1401"/>
                  <a:pt x="1480" y="1313"/>
                </a:cubicBezTo>
                <a:cubicBezTo>
                  <a:pt x="1485" y="1308"/>
                  <a:pt x="1485" y="1301"/>
                  <a:pt x="1481" y="1296"/>
                </a:cubicBezTo>
                <a:cubicBezTo>
                  <a:pt x="1481" y="1296"/>
                  <a:pt x="1481" y="1296"/>
                  <a:pt x="1380" y="1191"/>
                </a:cubicBezTo>
                <a:cubicBezTo>
                  <a:pt x="1498" y="1026"/>
                  <a:pt x="1485" y="795"/>
                  <a:pt x="1340" y="644"/>
                </a:cubicBezTo>
                <a:cubicBezTo>
                  <a:pt x="1176" y="474"/>
                  <a:pt x="904" y="468"/>
                  <a:pt x="734" y="632"/>
                </a:cubicBezTo>
                <a:cubicBezTo>
                  <a:pt x="563" y="797"/>
                  <a:pt x="558" y="1068"/>
                  <a:pt x="722" y="1239"/>
                </a:cubicBezTo>
                <a:close/>
                <a:moveTo>
                  <a:pt x="1260" y="1239"/>
                </a:moveTo>
                <a:cubicBezTo>
                  <a:pt x="1110" y="1355"/>
                  <a:pt x="894" y="1342"/>
                  <a:pt x="760" y="1202"/>
                </a:cubicBezTo>
                <a:cubicBezTo>
                  <a:pt x="617" y="1053"/>
                  <a:pt x="621" y="814"/>
                  <a:pt x="771" y="671"/>
                </a:cubicBezTo>
                <a:cubicBezTo>
                  <a:pt x="920" y="527"/>
                  <a:pt x="1158" y="532"/>
                  <a:pt x="1302" y="681"/>
                </a:cubicBezTo>
                <a:cubicBezTo>
                  <a:pt x="1434" y="819"/>
                  <a:pt x="1440" y="1033"/>
                  <a:pt x="1323" y="1178"/>
                </a:cubicBezTo>
                <a:cubicBezTo>
                  <a:pt x="1313" y="1190"/>
                  <a:pt x="1302" y="1202"/>
                  <a:pt x="1291" y="1212"/>
                </a:cubicBezTo>
                <a:cubicBezTo>
                  <a:pt x="1281" y="1222"/>
                  <a:pt x="1271" y="1231"/>
                  <a:pt x="1260" y="1239"/>
                </a:cubicBezTo>
                <a:close/>
                <a:moveTo>
                  <a:pt x="1752" y="1816"/>
                </a:moveTo>
                <a:cubicBezTo>
                  <a:pt x="1737" y="1816"/>
                  <a:pt x="1724" y="1811"/>
                  <a:pt x="1714" y="1801"/>
                </a:cubicBezTo>
                <a:cubicBezTo>
                  <a:pt x="1405" y="1477"/>
                  <a:pt x="1405" y="1477"/>
                  <a:pt x="1405" y="1477"/>
                </a:cubicBezTo>
                <a:cubicBezTo>
                  <a:pt x="1396" y="1468"/>
                  <a:pt x="1396" y="1454"/>
                  <a:pt x="1405" y="1446"/>
                </a:cubicBezTo>
                <a:cubicBezTo>
                  <a:pt x="1528" y="1327"/>
                  <a:pt x="1528" y="1327"/>
                  <a:pt x="1528" y="1327"/>
                </a:cubicBezTo>
                <a:cubicBezTo>
                  <a:pt x="1533" y="1323"/>
                  <a:pt x="1538" y="1321"/>
                  <a:pt x="1544" y="1321"/>
                </a:cubicBezTo>
                <a:cubicBezTo>
                  <a:pt x="1550" y="1321"/>
                  <a:pt x="1555" y="1323"/>
                  <a:pt x="1559" y="1327"/>
                </a:cubicBezTo>
                <a:cubicBezTo>
                  <a:pt x="1870" y="1652"/>
                  <a:pt x="1870" y="1652"/>
                  <a:pt x="1870" y="1652"/>
                </a:cubicBezTo>
                <a:cubicBezTo>
                  <a:pt x="1884" y="1667"/>
                  <a:pt x="1887" y="1689"/>
                  <a:pt x="1878" y="1714"/>
                </a:cubicBezTo>
                <a:cubicBezTo>
                  <a:pt x="1871" y="1735"/>
                  <a:pt x="1857" y="1756"/>
                  <a:pt x="1838" y="1774"/>
                </a:cubicBezTo>
                <a:cubicBezTo>
                  <a:pt x="1810" y="1801"/>
                  <a:pt x="1778" y="1816"/>
                  <a:pt x="1752" y="1816"/>
                </a:cubicBezTo>
                <a:close/>
                <a:moveTo>
                  <a:pt x="1451" y="1462"/>
                </a:moveTo>
                <a:cubicBezTo>
                  <a:pt x="1746" y="1770"/>
                  <a:pt x="1746" y="1770"/>
                  <a:pt x="1746" y="1770"/>
                </a:cubicBezTo>
                <a:cubicBezTo>
                  <a:pt x="1750" y="1774"/>
                  <a:pt x="1777" y="1772"/>
                  <a:pt x="1808" y="1743"/>
                </a:cubicBezTo>
                <a:cubicBezTo>
                  <a:pt x="1821" y="1729"/>
                  <a:pt x="1832" y="1714"/>
                  <a:pt x="1837" y="1700"/>
                </a:cubicBezTo>
                <a:cubicBezTo>
                  <a:pt x="1840" y="1690"/>
                  <a:pt x="1839" y="1684"/>
                  <a:pt x="1838" y="1682"/>
                </a:cubicBezTo>
                <a:cubicBezTo>
                  <a:pt x="1543" y="1374"/>
                  <a:pt x="1543" y="1374"/>
                  <a:pt x="1543" y="1374"/>
                </a:cubicBezTo>
                <a:lnTo>
                  <a:pt x="1451" y="1462"/>
                </a:lnTo>
                <a:close/>
                <a:moveTo>
                  <a:pt x="1624" y="0"/>
                </a:moveTo>
                <a:cubicBezTo>
                  <a:pt x="22" y="0"/>
                  <a:pt x="22" y="0"/>
                  <a:pt x="22" y="0"/>
                </a:cubicBezTo>
                <a:cubicBezTo>
                  <a:pt x="10" y="0"/>
                  <a:pt x="0" y="10"/>
                  <a:pt x="0" y="22"/>
                </a:cubicBezTo>
                <a:cubicBezTo>
                  <a:pt x="0" y="1186"/>
                  <a:pt x="0" y="1186"/>
                  <a:pt x="0" y="1186"/>
                </a:cubicBezTo>
                <a:cubicBezTo>
                  <a:pt x="0" y="1198"/>
                  <a:pt x="10" y="1208"/>
                  <a:pt x="22" y="1208"/>
                </a:cubicBezTo>
                <a:cubicBezTo>
                  <a:pt x="638" y="1208"/>
                  <a:pt x="638" y="1208"/>
                  <a:pt x="638" y="1208"/>
                </a:cubicBezTo>
                <a:cubicBezTo>
                  <a:pt x="628" y="1193"/>
                  <a:pt x="619" y="1179"/>
                  <a:pt x="611" y="1164"/>
                </a:cubicBezTo>
                <a:cubicBezTo>
                  <a:pt x="44" y="1164"/>
                  <a:pt x="44" y="1164"/>
                  <a:pt x="44" y="1164"/>
                </a:cubicBezTo>
                <a:cubicBezTo>
                  <a:pt x="44" y="945"/>
                  <a:pt x="44" y="945"/>
                  <a:pt x="44" y="945"/>
                </a:cubicBezTo>
                <a:cubicBezTo>
                  <a:pt x="368" y="795"/>
                  <a:pt x="368" y="795"/>
                  <a:pt x="368" y="795"/>
                </a:cubicBezTo>
                <a:cubicBezTo>
                  <a:pt x="385" y="816"/>
                  <a:pt x="411" y="830"/>
                  <a:pt x="440" y="830"/>
                </a:cubicBezTo>
                <a:cubicBezTo>
                  <a:pt x="492" y="830"/>
                  <a:pt x="533" y="788"/>
                  <a:pt x="533" y="737"/>
                </a:cubicBezTo>
                <a:cubicBezTo>
                  <a:pt x="533" y="718"/>
                  <a:pt x="527" y="700"/>
                  <a:pt x="517" y="685"/>
                </a:cubicBezTo>
                <a:cubicBezTo>
                  <a:pt x="658" y="530"/>
                  <a:pt x="658" y="530"/>
                  <a:pt x="658" y="530"/>
                </a:cubicBezTo>
                <a:cubicBezTo>
                  <a:pt x="671" y="538"/>
                  <a:pt x="686" y="542"/>
                  <a:pt x="702" y="542"/>
                </a:cubicBezTo>
                <a:cubicBezTo>
                  <a:pt x="731" y="542"/>
                  <a:pt x="757" y="528"/>
                  <a:pt x="774" y="508"/>
                </a:cubicBezTo>
                <a:cubicBezTo>
                  <a:pt x="806" y="523"/>
                  <a:pt x="806" y="523"/>
                  <a:pt x="806" y="523"/>
                </a:cubicBezTo>
                <a:cubicBezTo>
                  <a:pt x="823" y="514"/>
                  <a:pt x="840" y="506"/>
                  <a:pt x="858" y="499"/>
                </a:cubicBezTo>
                <a:cubicBezTo>
                  <a:pt x="793" y="468"/>
                  <a:pt x="793" y="468"/>
                  <a:pt x="793" y="468"/>
                </a:cubicBezTo>
                <a:cubicBezTo>
                  <a:pt x="794" y="462"/>
                  <a:pt x="795" y="455"/>
                  <a:pt x="795" y="449"/>
                </a:cubicBezTo>
                <a:cubicBezTo>
                  <a:pt x="795" y="397"/>
                  <a:pt x="753" y="356"/>
                  <a:pt x="702" y="356"/>
                </a:cubicBezTo>
                <a:cubicBezTo>
                  <a:pt x="651" y="356"/>
                  <a:pt x="609" y="397"/>
                  <a:pt x="609" y="449"/>
                </a:cubicBezTo>
                <a:cubicBezTo>
                  <a:pt x="609" y="468"/>
                  <a:pt x="615" y="486"/>
                  <a:pt x="625" y="501"/>
                </a:cubicBezTo>
                <a:cubicBezTo>
                  <a:pt x="485" y="655"/>
                  <a:pt x="485" y="655"/>
                  <a:pt x="485" y="655"/>
                </a:cubicBezTo>
                <a:cubicBezTo>
                  <a:pt x="471" y="648"/>
                  <a:pt x="456" y="644"/>
                  <a:pt x="440" y="644"/>
                </a:cubicBezTo>
                <a:cubicBezTo>
                  <a:pt x="389" y="644"/>
                  <a:pt x="347" y="686"/>
                  <a:pt x="347" y="737"/>
                </a:cubicBezTo>
                <a:cubicBezTo>
                  <a:pt x="347" y="743"/>
                  <a:pt x="348" y="749"/>
                  <a:pt x="349" y="755"/>
                </a:cubicBezTo>
                <a:cubicBezTo>
                  <a:pt x="44" y="896"/>
                  <a:pt x="44" y="896"/>
                  <a:pt x="44" y="896"/>
                </a:cubicBezTo>
                <a:cubicBezTo>
                  <a:pt x="44" y="44"/>
                  <a:pt x="44" y="44"/>
                  <a:pt x="44" y="44"/>
                </a:cubicBezTo>
                <a:cubicBezTo>
                  <a:pt x="1602" y="44"/>
                  <a:pt x="1602" y="44"/>
                  <a:pt x="1602" y="44"/>
                </a:cubicBezTo>
                <a:cubicBezTo>
                  <a:pt x="1602" y="104"/>
                  <a:pt x="1602" y="104"/>
                  <a:pt x="1602" y="104"/>
                </a:cubicBezTo>
                <a:cubicBezTo>
                  <a:pt x="1427" y="246"/>
                  <a:pt x="1427" y="246"/>
                  <a:pt x="1427" y="246"/>
                </a:cubicBezTo>
                <a:cubicBezTo>
                  <a:pt x="1411" y="234"/>
                  <a:pt x="1392" y="227"/>
                  <a:pt x="1371" y="227"/>
                </a:cubicBezTo>
                <a:cubicBezTo>
                  <a:pt x="1319" y="227"/>
                  <a:pt x="1278" y="269"/>
                  <a:pt x="1278" y="320"/>
                </a:cubicBezTo>
                <a:cubicBezTo>
                  <a:pt x="1278" y="334"/>
                  <a:pt x="1281" y="347"/>
                  <a:pt x="1286" y="359"/>
                </a:cubicBezTo>
                <a:cubicBezTo>
                  <a:pt x="1137" y="479"/>
                  <a:pt x="1137" y="479"/>
                  <a:pt x="1137" y="479"/>
                </a:cubicBezTo>
                <a:cubicBezTo>
                  <a:pt x="1155" y="483"/>
                  <a:pt x="1172" y="488"/>
                  <a:pt x="1189" y="494"/>
                </a:cubicBezTo>
                <a:cubicBezTo>
                  <a:pt x="1314" y="394"/>
                  <a:pt x="1314" y="394"/>
                  <a:pt x="1314" y="394"/>
                </a:cubicBezTo>
                <a:cubicBezTo>
                  <a:pt x="1330" y="406"/>
                  <a:pt x="1349" y="413"/>
                  <a:pt x="1371" y="413"/>
                </a:cubicBezTo>
                <a:cubicBezTo>
                  <a:pt x="1422" y="413"/>
                  <a:pt x="1464" y="371"/>
                  <a:pt x="1464" y="320"/>
                </a:cubicBezTo>
                <a:cubicBezTo>
                  <a:pt x="1464" y="306"/>
                  <a:pt x="1460" y="292"/>
                  <a:pt x="1455" y="280"/>
                </a:cubicBezTo>
                <a:cubicBezTo>
                  <a:pt x="1602" y="160"/>
                  <a:pt x="1602" y="160"/>
                  <a:pt x="1602" y="160"/>
                </a:cubicBezTo>
                <a:cubicBezTo>
                  <a:pt x="1602" y="1164"/>
                  <a:pt x="1602" y="1164"/>
                  <a:pt x="1602" y="1164"/>
                </a:cubicBezTo>
                <a:cubicBezTo>
                  <a:pt x="1450" y="1164"/>
                  <a:pt x="1450" y="1164"/>
                  <a:pt x="1450" y="1164"/>
                </a:cubicBezTo>
                <a:cubicBezTo>
                  <a:pt x="1446" y="1171"/>
                  <a:pt x="1442" y="1178"/>
                  <a:pt x="1438" y="1185"/>
                </a:cubicBezTo>
                <a:cubicBezTo>
                  <a:pt x="1460" y="1208"/>
                  <a:pt x="1460" y="1208"/>
                  <a:pt x="1460" y="1208"/>
                </a:cubicBezTo>
                <a:cubicBezTo>
                  <a:pt x="1624" y="1208"/>
                  <a:pt x="1624" y="1208"/>
                  <a:pt x="1624" y="1208"/>
                </a:cubicBezTo>
                <a:cubicBezTo>
                  <a:pt x="1636" y="1208"/>
                  <a:pt x="1646" y="1198"/>
                  <a:pt x="1646" y="1186"/>
                </a:cubicBezTo>
                <a:cubicBezTo>
                  <a:pt x="1646" y="22"/>
                  <a:pt x="1646" y="22"/>
                  <a:pt x="1646" y="22"/>
                </a:cubicBezTo>
                <a:cubicBezTo>
                  <a:pt x="1646" y="10"/>
                  <a:pt x="1636" y="0"/>
                  <a:pt x="1624" y="0"/>
                </a:cubicBezTo>
                <a:close/>
                <a:moveTo>
                  <a:pt x="702" y="400"/>
                </a:moveTo>
                <a:cubicBezTo>
                  <a:pt x="729" y="400"/>
                  <a:pt x="751" y="422"/>
                  <a:pt x="751" y="449"/>
                </a:cubicBezTo>
                <a:cubicBezTo>
                  <a:pt x="751" y="476"/>
                  <a:pt x="729" y="498"/>
                  <a:pt x="702" y="498"/>
                </a:cubicBezTo>
                <a:cubicBezTo>
                  <a:pt x="675" y="498"/>
                  <a:pt x="653" y="476"/>
                  <a:pt x="653" y="449"/>
                </a:cubicBezTo>
                <a:cubicBezTo>
                  <a:pt x="653" y="422"/>
                  <a:pt x="675" y="400"/>
                  <a:pt x="702" y="400"/>
                </a:cubicBezTo>
                <a:close/>
                <a:moveTo>
                  <a:pt x="440" y="688"/>
                </a:moveTo>
                <a:cubicBezTo>
                  <a:pt x="467" y="688"/>
                  <a:pt x="489" y="710"/>
                  <a:pt x="489" y="737"/>
                </a:cubicBezTo>
                <a:cubicBezTo>
                  <a:pt x="489" y="764"/>
                  <a:pt x="467" y="786"/>
                  <a:pt x="440" y="786"/>
                </a:cubicBezTo>
                <a:cubicBezTo>
                  <a:pt x="413" y="786"/>
                  <a:pt x="391" y="764"/>
                  <a:pt x="391" y="737"/>
                </a:cubicBezTo>
                <a:cubicBezTo>
                  <a:pt x="391" y="710"/>
                  <a:pt x="413" y="688"/>
                  <a:pt x="440" y="688"/>
                </a:cubicBezTo>
                <a:close/>
                <a:moveTo>
                  <a:pt x="1371" y="369"/>
                </a:moveTo>
                <a:cubicBezTo>
                  <a:pt x="1344" y="369"/>
                  <a:pt x="1322" y="347"/>
                  <a:pt x="1322" y="320"/>
                </a:cubicBezTo>
                <a:cubicBezTo>
                  <a:pt x="1322" y="293"/>
                  <a:pt x="1344" y="271"/>
                  <a:pt x="1371" y="271"/>
                </a:cubicBezTo>
                <a:cubicBezTo>
                  <a:pt x="1398" y="271"/>
                  <a:pt x="1420" y="293"/>
                  <a:pt x="1420" y="320"/>
                </a:cubicBezTo>
                <a:cubicBezTo>
                  <a:pt x="1420" y="347"/>
                  <a:pt x="1398" y="369"/>
                  <a:pt x="1371" y="369"/>
                </a:cubicBezTo>
                <a:close/>
                <a:moveTo>
                  <a:pt x="1217" y="665"/>
                </a:moveTo>
                <a:cubicBezTo>
                  <a:pt x="1111" y="750"/>
                  <a:pt x="1111" y="750"/>
                  <a:pt x="1111" y="750"/>
                </a:cubicBezTo>
                <a:cubicBezTo>
                  <a:pt x="1090" y="733"/>
                  <a:pt x="1064" y="723"/>
                  <a:pt x="1035" y="723"/>
                </a:cubicBezTo>
                <a:cubicBezTo>
                  <a:pt x="997" y="723"/>
                  <a:pt x="963" y="741"/>
                  <a:pt x="942" y="769"/>
                </a:cubicBezTo>
                <a:cubicBezTo>
                  <a:pt x="801" y="701"/>
                  <a:pt x="801" y="701"/>
                  <a:pt x="801" y="701"/>
                </a:cubicBezTo>
                <a:cubicBezTo>
                  <a:pt x="788" y="714"/>
                  <a:pt x="776" y="727"/>
                  <a:pt x="766" y="742"/>
                </a:cubicBezTo>
                <a:cubicBezTo>
                  <a:pt x="919" y="816"/>
                  <a:pt x="919" y="816"/>
                  <a:pt x="919" y="816"/>
                </a:cubicBezTo>
                <a:cubicBezTo>
                  <a:pt x="917" y="824"/>
                  <a:pt x="916" y="834"/>
                  <a:pt x="916" y="843"/>
                </a:cubicBezTo>
                <a:cubicBezTo>
                  <a:pt x="916" y="909"/>
                  <a:pt x="969" y="963"/>
                  <a:pt x="1035" y="963"/>
                </a:cubicBezTo>
                <a:cubicBezTo>
                  <a:pt x="1102" y="963"/>
                  <a:pt x="1155" y="909"/>
                  <a:pt x="1155" y="843"/>
                </a:cubicBezTo>
                <a:cubicBezTo>
                  <a:pt x="1155" y="824"/>
                  <a:pt x="1151" y="806"/>
                  <a:pt x="1143" y="790"/>
                </a:cubicBezTo>
                <a:cubicBezTo>
                  <a:pt x="1258" y="698"/>
                  <a:pt x="1258" y="698"/>
                  <a:pt x="1258" y="698"/>
                </a:cubicBezTo>
                <a:cubicBezTo>
                  <a:pt x="1245" y="686"/>
                  <a:pt x="1231" y="675"/>
                  <a:pt x="1217" y="665"/>
                </a:cubicBezTo>
                <a:close/>
                <a:moveTo>
                  <a:pt x="1035" y="915"/>
                </a:moveTo>
                <a:cubicBezTo>
                  <a:pt x="996" y="915"/>
                  <a:pt x="964" y="883"/>
                  <a:pt x="964" y="843"/>
                </a:cubicBezTo>
                <a:cubicBezTo>
                  <a:pt x="964" y="803"/>
                  <a:pt x="996" y="771"/>
                  <a:pt x="1035" y="771"/>
                </a:cubicBezTo>
                <a:cubicBezTo>
                  <a:pt x="1075" y="771"/>
                  <a:pt x="1107" y="803"/>
                  <a:pt x="1107" y="843"/>
                </a:cubicBezTo>
                <a:cubicBezTo>
                  <a:pt x="1107" y="883"/>
                  <a:pt x="1075" y="915"/>
                  <a:pt x="1035" y="915"/>
                </a:cubicBezTo>
                <a:close/>
              </a:path>
            </a:pathLst>
          </a:custGeom>
          <a:solidFill>
            <a:srgbClr val="FFFFFF"/>
          </a:solidFill>
          <a:ln>
            <a:noFill/>
          </a:ln>
          <a:extLst>
            <a:ext uri="{91240B29-F687-4F45-9708-019B960494DF}">
              <a14:hiddenLine xmlns:a14="http://schemas.microsoft.com/office/drawing/2010/main" w="9525">
                <a:solidFill>
                  <a:srgbClr val="FFFFFF"/>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98" name="TB398"/>
          <p:cNvSpPr txBox="1"/>
          <p:nvPr/>
        </p:nvSpPr>
        <p:spPr>
          <a:xfrm>
            <a:off x="1267587" y="4582287"/>
            <a:ext cx="9019413" cy="182902"/>
          </a:xfrm>
          <a:prstGeom prst="rect">
            <a:avLst/>
          </a:prstGeom>
          <a:noFill/>
        </p:spPr>
        <p:txBody>
          <a:bodyPr wrap="square" rtlCol="0" anchor="b"/>
          <a:lstStyle/>
          <a:p>
            <a:r>
              <a:rPr lang="en-US" sz="1400" b="1" dirty="0">
                <a:solidFill>
                  <a:srgbClr val="575757"/>
                </a:solidFill>
                <a:latin typeface="Trebuchet MS"/>
              </a:rPr>
              <a:t>Click rate, not open rate, may be the predictive comms signal</a:t>
            </a:r>
          </a:p>
        </p:txBody>
      </p:sp>
      <p:sp>
        <p:nvSpPr>
          <p:cNvPr id="399" name="TB399"/>
          <p:cNvSpPr txBox="1"/>
          <p:nvPr/>
        </p:nvSpPr>
        <p:spPr>
          <a:xfrm>
            <a:off x="1267587" y="4746901"/>
            <a:ext cx="9019413" cy="161140"/>
          </a:xfrm>
          <a:prstGeom prst="rect">
            <a:avLst/>
          </a:prstGeom>
          <a:noFill/>
        </p:spPr>
        <p:txBody>
          <a:bodyPr wrap="square" rtlCol="0" anchor="t"/>
          <a:lstStyle/>
          <a:p>
            <a:r>
              <a:rPr lang="en-US" sz="1200" dirty="0">
                <a:solidFill>
                  <a:srgbClr val="575757"/>
                </a:solidFill>
                <a:latin typeface="Trebuchet MS"/>
              </a:rPr>
              <a:t>Open rates are nearly identical for refunders and non-refunders; clicks were directionally lower</a:t>
            </a:r>
          </a:p>
        </p:txBody>
      </p:sp>
      <p:sp>
        <p:nvSpPr>
          <p:cNvPr id="400" name="RR400"/>
          <p:cNvSpPr/>
          <p:nvPr/>
        </p:nvSpPr>
        <p:spPr>
          <a:xfrm>
            <a:off x="10442448" y="4608004"/>
            <a:ext cx="960120" cy="274320"/>
          </a:xfrm>
          <a:prstGeom prst="roundRect">
            <a:avLst>
              <a:gd name="adj" fmla="val 10000"/>
            </a:avLst>
          </a:prstGeom>
          <a:solidFill>
            <a:schemeClr val="tx2">
              <a:lumMod val="75000"/>
            </a:schemeClr>
          </a:solidFill>
          <a:ln>
            <a:noFill/>
          </a:ln>
        </p:spPr>
        <p:txBody>
          <a:bodyPr/>
          <a:lstStyle/>
          <a:p>
            <a:endParaRPr lang="en-US"/>
          </a:p>
        </p:txBody>
      </p:sp>
      <p:sp>
        <p:nvSpPr>
          <p:cNvPr id="401" name="TB401"/>
          <p:cNvSpPr txBox="1"/>
          <p:nvPr/>
        </p:nvSpPr>
        <p:spPr>
          <a:xfrm>
            <a:off x="10442448" y="4608004"/>
            <a:ext cx="960120" cy="274320"/>
          </a:xfrm>
          <a:prstGeom prst="rect">
            <a:avLst/>
          </a:prstGeom>
          <a:solidFill>
            <a:schemeClr val="tx2">
              <a:lumMod val="75000"/>
            </a:schemeClr>
          </a:solidFill>
        </p:spPr>
        <p:txBody>
          <a:bodyPr wrap="square" rtlCol="0" anchor="ctr"/>
          <a:lstStyle/>
          <a:p>
            <a:pPr algn="ctr"/>
            <a:r>
              <a:rPr lang="en-US" sz="1100" b="1" dirty="0">
                <a:solidFill>
                  <a:srgbClr val="FFFFFF"/>
                </a:solidFill>
                <a:latin typeface="Trebuchet MS"/>
              </a:rPr>
              <a:t>MEDIUM</a:t>
            </a:r>
          </a:p>
        </p:txBody>
      </p:sp>
      <p:sp>
        <p:nvSpPr>
          <p:cNvPr id="402" name="R402"/>
          <p:cNvSpPr/>
          <p:nvPr/>
        </p:nvSpPr>
        <p:spPr>
          <a:xfrm>
            <a:off x="630936" y="5017770"/>
            <a:ext cx="91440" cy="435483"/>
          </a:xfrm>
          <a:prstGeom prst="rect">
            <a:avLst/>
          </a:prstGeom>
          <a:solidFill>
            <a:schemeClr val="tx2">
              <a:lumMod val="75000"/>
            </a:schemeClr>
          </a:solidFill>
          <a:ln>
            <a:noFill/>
          </a:ln>
        </p:spPr>
        <p:txBody>
          <a:bodyPr/>
          <a:lstStyle/>
          <a:p>
            <a:endParaRPr lang="en-US"/>
          </a:p>
        </p:txBody>
      </p:sp>
      <p:sp>
        <p:nvSpPr>
          <p:cNvPr id="403" name="R403"/>
          <p:cNvSpPr/>
          <p:nvPr/>
        </p:nvSpPr>
        <p:spPr>
          <a:xfrm>
            <a:off x="722375" y="5017770"/>
            <a:ext cx="10844784" cy="435483"/>
          </a:xfrm>
          <a:prstGeom prst="rect">
            <a:avLst/>
          </a:prstGeom>
          <a:solidFill>
            <a:srgbClr val="F2F2F2"/>
          </a:solidFill>
          <a:ln w="9525">
            <a:solidFill>
              <a:srgbClr val="F2F2F2"/>
            </a:solidFill>
          </a:ln>
        </p:spPr>
        <p:txBody>
          <a:bodyPr/>
          <a:lstStyle/>
          <a:p>
            <a:endParaRPr lang="en-US"/>
          </a:p>
        </p:txBody>
      </p:sp>
      <p:sp>
        <p:nvSpPr>
          <p:cNvPr id="404" name="O404"/>
          <p:cNvSpPr/>
          <p:nvPr/>
        </p:nvSpPr>
        <p:spPr>
          <a:xfrm>
            <a:off x="832103" y="5100066"/>
            <a:ext cx="270891" cy="270891"/>
          </a:xfrm>
          <a:prstGeom prst="ellipse">
            <a:avLst/>
          </a:prstGeom>
          <a:solidFill>
            <a:schemeClr val="tx2">
              <a:lumMod val="75000"/>
            </a:schemeClr>
          </a:solidFill>
          <a:ln>
            <a:noFill/>
          </a:ln>
        </p:spPr>
        <p:txBody>
          <a:bodyPr/>
          <a:lstStyle/>
          <a:p>
            <a:endParaRPr lang="en-US"/>
          </a:p>
        </p:txBody>
      </p:sp>
      <p:sp>
        <p:nvSpPr>
          <p:cNvPr id="406" name="Path 11"/>
          <p:cNvSpPr/>
          <p:nvPr/>
        </p:nvSpPr>
        <p:spPr bwMode="auto">
          <a:xfrm>
            <a:off x="821245" y="5089207"/>
            <a:ext cx="292608" cy="292608"/>
          </a:xfrm>
          <a:custGeom>
            <a:avLst/>
            <a:gdLst/>
            <a:ahLst/>
            <a:cxnLst/>
            <a:rect l="0" t="0" r="10000" b="10000"/>
            <a:pathLst>
              <a:path w="10000" h="10000">
                <a:moveTo>
                  <a:pt x="2142" y="5884"/>
                </a:moveTo>
                <a:cubicBezTo>
                  <a:pt x="1908" y="5884"/>
                  <a:pt x="1687" y="5905"/>
                  <a:pt x="1517" y="5949"/>
                </a:cubicBezTo>
                <a:cubicBezTo>
                  <a:pt x="1422" y="5970"/>
                  <a:pt x="1136" y="6040"/>
                  <a:pt x="1136" y="6274"/>
                </a:cubicBezTo>
                <a:cubicBezTo>
                  <a:pt x="1136" y="6513"/>
                  <a:pt x="1136" y="6695"/>
                  <a:pt x="1136" y="6829"/>
                </a:cubicBezTo>
                <a:cubicBezTo>
                  <a:pt x="1136" y="7055"/>
                  <a:pt x="1136" y="7150"/>
                  <a:pt x="1136" y="7194"/>
                </a:cubicBezTo>
                <a:cubicBezTo>
                  <a:pt x="1136" y="7228"/>
                  <a:pt x="1136" y="7228"/>
                  <a:pt x="1136" y="7228"/>
                </a:cubicBezTo>
                <a:cubicBezTo>
                  <a:pt x="1136" y="7458"/>
                  <a:pt x="1422" y="7532"/>
                  <a:pt x="1517" y="7554"/>
                </a:cubicBezTo>
                <a:cubicBezTo>
                  <a:pt x="1561" y="7567"/>
                  <a:pt x="1604" y="7575"/>
                  <a:pt x="1652" y="7584"/>
                </a:cubicBezTo>
                <a:cubicBezTo>
                  <a:pt x="1799" y="7606"/>
                  <a:pt x="1969" y="7619"/>
                  <a:pt x="2142" y="7619"/>
                </a:cubicBezTo>
                <a:cubicBezTo>
                  <a:pt x="2307" y="7619"/>
                  <a:pt x="2468" y="7610"/>
                  <a:pt x="2607" y="7584"/>
                </a:cubicBezTo>
                <a:cubicBezTo>
                  <a:pt x="2663" y="7575"/>
                  <a:pt x="2715" y="7567"/>
                  <a:pt x="2763" y="7554"/>
                </a:cubicBezTo>
                <a:cubicBezTo>
                  <a:pt x="2858" y="7532"/>
                  <a:pt x="3149" y="7458"/>
                  <a:pt x="3149" y="7228"/>
                </a:cubicBezTo>
                <a:lnTo>
                  <a:pt x="3149" y="7176"/>
                </a:lnTo>
                <a:cubicBezTo>
                  <a:pt x="3149" y="7176"/>
                  <a:pt x="3149" y="7176"/>
                  <a:pt x="3149" y="6795"/>
                </a:cubicBezTo>
                <a:cubicBezTo>
                  <a:pt x="3149" y="6795"/>
                  <a:pt x="3149" y="6795"/>
                  <a:pt x="3149" y="6274"/>
                </a:cubicBezTo>
                <a:cubicBezTo>
                  <a:pt x="3149" y="6040"/>
                  <a:pt x="2858" y="5970"/>
                  <a:pt x="2763" y="5949"/>
                </a:cubicBezTo>
                <a:cubicBezTo>
                  <a:pt x="2594" y="5905"/>
                  <a:pt x="2372" y="5884"/>
                  <a:pt x="2142" y="5884"/>
                </a:cubicBezTo>
                <a:close/>
                <a:moveTo>
                  <a:pt x="2142" y="5701"/>
                </a:moveTo>
                <a:cubicBezTo>
                  <a:pt x="2390" y="5701"/>
                  <a:pt x="2629" y="5726"/>
                  <a:pt x="2811" y="5770"/>
                </a:cubicBezTo>
                <a:cubicBezTo>
                  <a:pt x="2859" y="5778"/>
                  <a:pt x="2942" y="5796"/>
                  <a:pt x="3029" y="5839"/>
                </a:cubicBezTo>
                <a:cubicBezTo>
                  <a:pt x="3046" y="5848"/>
                  <a:pt x="3068" y="5861"/>
                  <a:pt x="3090" y="5874"/>
                </a:cubicBezTo>
                <a:cubicBezTo>
                  <a:pt x="3255" y="5969"/>
                  <a:pt x="3342" y="6111"/>
                  <a:pt x="3342" y="6280"/>
                </a:cubicBezTo>
                <a:cubicBezTo>
                  <a:pt x="3342" y="6518"/>
                  <a:pt x="3342" y="6700"/>
                  <a:pt x="3342" y="6834"/>
                </a:cubicBezTo>
                <a:cubicBezTo>
                  <a:pt x="3342" y="7232"/>
                  <a:pt x="3342" y="7232"/>
                  <a:pt x="3342" y="7232"/>
                </a:cubicBezTo>
                <a:cubicBezTo>
                  <a:pt x="3342" y="7405"/>
                  <a:pt x="3251" y="7634"/>
                  <a:pt x="2811" y="7742"/>
                </a:cubicBezTo>
                <a:cubicBezTo>
                  <a:pt x="2629" y="7786"/>
                  <a:pt x="2390" y="7811"/>
                  <a:pt x="2142" y="7811"/>
                </a:cubicBezTo>
                <a:cubicBezTo>
                  <a:pt x="1890" y="7811"/>
                  <a:pt x="1656" y="7786"/>
                  <a:pt x="1473" y="7742"/>
                </a:cubicBezTo>
                <a:cubicBezTo>
                  <a:pt x="1416" y="7729"/>
                  <a:pt x="1299" y="7699"/>
                  <a:pt x="1190" y="7634"/>
                </a:cubicBezTo>
                <a:cubicBezTo>
                  <a:pt x="1034" y="7543"/>
                  <a:pt x="943" y="7396"/>
                  <a:pt x="943" y="7232"/>
                </a:cubicBezTo>
                <a:cubicBezTo>
                  <a:pt x="943" y="7093"/>
                  <a:pt x="943" y="6972"/>
                  <a:pt x="943" y="6869"/>
                </a:cubicBezTo>
                <a:cubicBezTo>
                  <a:pt x="943" y="6280"/>
                  <a:pt x="943" y="6280"/>
                  <a:pt x="943" y="6280"/>
                </a:cubicBezTo>
                <a:cubicBezTo>
                  <a:pt x="943" y="6142"/>
                  <a:pt x="999" y="5969"/>
                  <a:pt x="1238" y="5852"/>
                </a:cubicBezTo>
                <a:cubicBezTo>
                  <a:pt x="1304" y="5817"/>
                  <a:pt x="1382" y="5791"/>
                  <a:pt x="1473" y="5770"/>
                </a:cubicBezTo>
                <a:cubicBezTo>
                  <a:pt x="1656" y="5726"/>
                  <a:pt x="1890" y="5701"/>
                  <a:pt x="2142" y="5701"/>
                </a:cubicBezTo>
                <a:close/>
                <a:moveTo>
                  <a:pt x="7877" y="4679"/>
                </a:moveTo>
                <a:cubicBezTo>
                  <a:pt x="7643" y="4679"/>
                  <a:pt x="7422" y="4701"/>
                  <a:pt x="7253" y="4744"/>
                </a:cubicBezTo>
                <a:cubicBezTo>
                  <a:pt x="7158" y="4765"/>
                  <a:pt x="6868" y="4835"/>
                  <a:pt x="6868" y="5069"/>
                </a:cubicBezTo>
                <a:cubicBezTo>
                  <a:pt x="6868" y="5308"/>
                  <a:pt x="6868" y="5490"/>
                  <a:pt x="6868" y="5624"/>
                </a:cubicBezTo>
                <a:cubicBezTo>
                  <a:pt x="6868" y="5850"/>
                  <a:pt x="6868" y="5950"/>
                  <a:pt x="6868" y="5993"/>
                </a:cubicBezTo>
                <a:cubicBezTo>
                  <a:pt x="6868" y="6023"/>
                  <a:pt x="6868" y="6023"/>
                  <a:pt x="6868" y="6023"/>
                </a:cubicBezTo>
                <a:cubicBezTo>
                  <a:pt x="6868" y="6253"/>
                  <a:pt x="7158" y="6327"/>
                  <a:pt x="7253" y="6349"/>
                </a:cubicBezTo>
                <a:cubicBezTo>
                  <a:pt x="7296" y="6362"/>
                  <a:pt x="7340" y="6370"/>
                  <a:pt x="7387" y="6379"/>
                </a:cubicBezTo>
                <a:cubicBezTo>
                  <a:pt x="7530" y="6405"/>
                  <a:pt x="7699" y="6414"/>
                  <a:pt x="7877" y="6414"/>
                </a:cubicBezTo>
                <a:cubicBezTo>
                  <a:pt x="8041" y="6414"/>
                  <a:pt x="8197" y="6405"/>
                  <a:pt x="8336" y="6384"/>
                </a:cubicBezTo>
                <a:cubicBezTo>
                  <a:pt x="8392" y="6375"/>
                  <a:pt x="8448" y="6362"/>
                  <a:pt x="8496" y="6349"/>
                </a:cubicBezTo>
                <a:cubicBezTo>
                  <a:pt x="8591" y="6327"/>
                  <a:pt x="8881" y="6253"/>
                  <a:pt x="8881" y="6023"/>
                </a:cubicBezTo>
                <a:lnTo>
                  <a:pt x="8881" y="5976"/>
                </a:lnTo>
                <a:cubicBezTo>
                  <a:pt x="8881" y="5976"/>
                  <a:pt x="8881" y="5976"/>
                  <a:pt x="8881" y="5590"/>
                </a:cubicBezTo>
                <a:cubicBezTo>
                  <a:pt x="8881" y="5590"/>
                  <a:pt x="8881" y="5590"/>
                  <a:pt x="8881" y="5069"/>
                </a:cubicBezTo>
                <a:cubicBezTo>
                  <a:pt x="8881" y="4835"/>
                  <a:pt x="8591" y="4765"/>
                  <a:pt x="8496" y="4744"/>
                </a:cubicBezTo>
                <a:cubicBezTo>
                  <a:pt x="8327" y="4701"/>
                  <a:pt x="8106" y="4679"/>
                  <a:pt x="7877" y="4679"/>
                </a:cubicBezTo>
                <a:close/>
                <a:moveTo>
                  <a:pt x="7877" y="4496"/>
                </a:moveTo>
                <a:cubicBezTo>
                  <a:pt x="8124" y="4496"/>
                  <a:pt x="8363" y="4522"/>
                  <a:pt x="8545" y="4565"/>
                </a:cubicBezTo>
                <a:cubicBezTo>
                  <a:pt x="8588" y="4574"/>
                  <a:pt x="8671" y="4595"/>
                  <a:pt x="8757" y="4634"/>
                </a:cubicBezTo>
                <a:cubicBezTo>
                  <a:pt x="8779" y="4643"/>
                  <a:pt x="8801" y="4656"/>
                  <a:pt x="8822" y="4669"/>
                </a:cubicBezTo>
                <a:cubicBezTo>
                  <a:pt x="8987" y="4764"/>
                  <a:pt x="9074" y="4907"/>
                  <a:pt x="9074" y="5075"/>
                </a:cubicBezTo>
                <a:cubicBezTo>
                  <a:pt x="9074" y="5318"/>
                  <a:pt x="9074" y="5495"/>
                  <a:pt x="9074" y="5629"/>
                </a:cubicBezTo>
                <a:cubicBezTo>
                  <a:pt x="9074" y="6027"/>
                  <a:pt x="9074" y="6027"/>
                  <a:pt x="9074" y="6027"/>
                </a:cubicBezTo>
                <a:cubicBezTo>
                  <a:pt x="9074" y="6200"/>
                  <a:pt x="8983" y="6429"/>
                  <a:pt x="8545" y="6537"/>
                </a:cubicBezTo>
                <a:cubicBezTo>
                  <a:pt x="8363" y="6581"/>
                  <a:pt x="8124" y="6607"/>
                  <a:pt x="7877" y="6607"/>
                </a:cubicBezTo>
                <a:cubicBezTo>
                  <a:pt x="7625" y="6607"/>
                  <a:pt x="7391" y="6581"/>
                  <a:pt x="7209" y="6537"/>
                </a:cubicBezTo>
                <a:cubicBezTo>
                  <a:pt x="7152" y="6524"/>
                  <a:pt x="7035" y="6494"/>
                  <a:pt x="6927" y="6429"/>
                </a:cubicBezTo>
                <a:cubicBezTo>
                  <a:pt x="6766" y="6338"/>
                  <a:pt x="6675" y="6191"/>
                  <a:pt x="6675" y="6027"/>
                </a:cubicBezTo>
                <a:cubicBezTo>
                  <a:pt x="6675" y="5889"/>
                  <a:pt x="6675" y="5767"/>
                  <a:pt x="6675" y="5664"/>
                </a:cubicBezTo>
                <a:cubicBezTo>
                  <a:pt x="6675" y="5075"/>
                  <a:pt x="6675" y="5075"/>
                  <a:pt x="6675" y="5075"/>
                </a:cubicBezTo>
                <a:cubicBezTo>
                  <a:pt x="6675" y="4937"/>
                  <a:pt x="6731" y="4764"/>
                  <a:pt x="6974" y="4647"/>
                </a:cubicBezTo>
                <a:cubicBezTo>
                  <a:pt x="7035" y="4612"/>
                  <a:pt x="7113" y="4587"/>
                  <a:pt x="7209" y="4565"/>
                </a:cubicBezTo>
                <a:cubicBezTo>
                  <a:pt x="7391" y="4522"/>
                  <a:pt x="7625" y="4496"/>
                  <a:pt x="7877" y="4496"/>
                </a:cubicBezTo>
                <a:close/>
                <a:moveTo>
                  <a:pt x="4332" y="2269"/>
                </a:moveTo>
                <a:cubicBezTo>
                  <a:pt x="4327" y="2308"/>
                  <a:pt x="4323" y="2351"/>
                  <a:pt x="4323" y="2395"/>
                </a:cubicBezTo>
                <a:cubicBezTo>
                  <a:pt x="4323" y="2421"/>
                  <a:pt x="4323" y="2442"/>
                  <a:pt x="4323" y="2468"/>
                </a:cubicBezTo>
                <a:cubicBezTo>
                  <a:pt x="4323" y="2468"/>
                  <a:pt x="4323" y="2468"/>
                  <a:pt x="3441" y="2724"/>
                </a:cubicBezTo>
                <a:lnTo>
                  <a:pt x="4354" y="2598"/>
                </a:lnTo>
                <a:cubicBezTo>
                  <a:pt x="4371" y="2663"/>
                  <a:pt x="4401" y="2724"/>
                  <a:pt x="4440" y="2776"/>
                </a:cubicBezTo>
                <a:cubicBezTo>
                  <a:pt x="4440" y="2776"/>
                  <a:pt x="4440" y="2776"/>
                  <a:pt x="2264" y="3075"/>
                </a:cubicBezTo>
                <a:cubicBezTo>
                  <a:pt x="2264" y="3075"/>
                  <a:pt x="2264" y="3075"/>
                  <a:pt x="3155" y="5632"/>
                </a:cubicBezTo>
                <a:cubicBezTo>
                  <a:pt x="3155" y="5632"/>
                  <a:pt x="3155" y="5632"/>
                  <a:pt x="3177" y="5697"/>
                </a:cubicBezTo>
                <a:cubicBezTo>
                  <a:pt x="3095" y="5649"/>
                  <a:pt x="3008" y="5619"/>
                  <a:pt x="2943" y="5597"/>
                </a:cubicBezTo>
                <a:cubicBezTo>
                  <a:pt x="2943" y="5597"/>
                  <a:pt x="2943" y="5597"/>
                  <a:pt x="2134" y="3288"/>
                </a:cubicBezTo>
                <a:cubicBezTo>
                  <a:pt x="2134" y="3288"/>
                  <a:pt x="2134" y="3288"/>
                  <a:pt x="1325" y="5606"/>
                </a:cubicBezTo>
                <a:cubicBezTo>
                  <a:pt x="1234" y="5632"/>
                  <a:pt x="1157" y="5667"/>
                  <a:pt x="1087" y="5710"/>
                </a:cubicBezTo>
                <a:cubicBezTo>
                  <a:pt x="1087" y="5710"/>
                  <a:pt x="1087" y="5710"/>
                  <a:pt x="1113" y="5632"/>
                </a:cubicBezTo>
                <a:cubicBezTo>
                  <a:pt x="1113" y="5632"/>
                  <a:pt x="1113" y="5632"/>
                  <a:pt x="2048" y="2967"/>
                </a:cubicBezTo>
                <a:cubicBezTo>
                  <a:pt x="2048" y="2962"/>
                  <a:pt x="2048" y="2962"/>
                  <a:pt x="2048" y="2958"/>
                </a:cubicBezTo>
                <a:cubicBezTo>
                  <a:pt x="2048" y="2958"/>
                  <a:pt x="2052" y="2954"/>
                  <a:pt x="2052" y="2949"/>
                </a:cubicBezTo>
                <a:cubicBezTo>
                  <a:pt x="2052" y="2949"/>
                  <a:pt x="2056" y="2945"/>
                  <a:pt x="2056" y="2945"/>
                </a:cubicBezTo>
                <a:cubicBezTo>
                  <a:pt x="2056" y="2941"/>
                  <a:pt x="2061" y="2941"/>
                  <a:pt x="2061" y="2937"/>
                </a:cubicBezTo>
                <a:cubicBezTo>
                  <a:pt x="2065" y="2937"/>
                  <a:pt x="2065" y="2932"/>
                  <a:pt x="2065" y="2932"/>
                </a:cubicBezTo>
                <a:cubicBezTo>
                  <a:pt x="2069" y="2928"/>
                  <a:pt x="2069" y="2928"/>
                  <a:pt x="2074" y="2923"/>
                </a:cubicBezTo>
                <a:cubicBezTo>
                  <a:pt x="2074" y="2923"/>
                  <a:pt x="2078" y="2923"/>
                  <a:pt x="2078" y="2919"/>
                </a:cubicBezTo>
                <a:cubicBezTo>
                  <a:pt x="2082" y="2919"/>
                  <a:pt x="2087" y="2915"/>
                  <a:pt x="2091" y="2915"/>
                </a:cubicBezTo>
                <a:cubicBezTo>
                  <a:pt x="2091" y="2915"/>
                  <a:pt x="2091" y="2910"/>
                  <a:pt x="2091" y="2910"/>
                </a:cubicBezTo>
                <a:cubicBezTo>
                  <a:pt x="2095" y="2910"/>
                  <a:pt x="2104" y="2906"/>
                  <a:pt x="2108" y="2906"/>
                </a:cubicBezTo>
                <a:cubicBezTo>
                  <a:pt x="2108" y="2906"/>
                  <a:pt x="2108" y="2906"/>
                  <a:pt x="4332" y="2269"/>
                </a:cubicBezTo>
                <a:close/>
                <a:moveTo>
                  <a:pt x="7853" y="1700"/>
                </a:moveTo>
                <a:cubicBezTo>
                  <a:pt x="7853" y="1700"/>
                  <a:pt x="7853" y="1700"/>
                  <a:pt x="7858" y="1700"/>
                </a:cubicBezTo>
                <a:cubicBezTo>
                  <a:pt x="7858" y="1700"/>
                  <a:pt x="7862" y="1700"/>
                  <a:pt x="7866" y="1700"/>
                </a:cubicBezTo>
                <a:cubicBezTo>
                  <a:pt x="7871" y="1700"/>
                  <a:pt x="7871" y="1700"/>
                  <a:pt x="7875" y="1700"/>
                </a:cubicBezTo>
                <a:cubicBezTo>
                  <a:pt x="7879" y="1700"/>
                  <a:pt x="7879" y="1705"/>
                  <a:pt x="7884" y="1705"/>
                </a:cubicBezTo>
                <a:cubicBezTo>
                  <a:pt x="7888" y="1705"/>
                  <a:pt x="7888" y="1705"/>
                  <a:pt x="7892" y="1705"/>
                </a:cubicBezTo>
                <a:cubicBezTo>
                  <a:pt x="7892" y="1705"/>
                  <a:pt x="7897" y="1709"/>
                  <a:pt x="7901" y="1709"/>
                </a:cubicBezTo>
                <a:cubicBezTo>
                  <a:pt x="7901" y="1709"/>
                  <a:pt x="7905" y="1709"/>
                  <a:pt x="7905" y="1709"/>
                </a:cubicBezTo>
                <a:cubicBezTo>
                  <a:pt x="7910" y="1713"/>
                  <a:pt x="7914" y="1713"/>
                  <a:pt x="7918" y="1718"/>
                </a:cubicBezTo>
                <a:cubicBezTo>
                  <a:pt x="7923" y="1722"/>
                  <a:pt x="7927" y="1726"/>
                  <a:pt x="7931" y="1731"/>
                </a:cubicBezTo>
                <a:cubicBezTo>
                  <a:pt x="7936" y="1731"/>
                  <a:pt x="7936" y="1731"/>
                  <a:pt x="7936" y="1731"/>
                </a:cubicBezTo>
                <a:cubicBezTo>
                  <a:pt x="7940" y="1735"/>
                  <a:pt x="7940" y="1739"/>
                  <a:pt x="7944" y="1744"/>
                </a:cubicBezTo>
                <a:cubicBezTo>
                  <a:pt x="7944" y="1744"/>
                  <a:pt x="7944" y="1744"/>
                  <a:pt x="7944" y="1748"/>
                </a:cubicBezTo>
                <a:cubicBezTo>
                  <a:pt x="7949" y="1748"/>
                  <a:pt x="7949" y="1752"/>
                  <a:pt x="7953" y="1757"/>
                </a:cubicBezTo>
                <a:cubicBezTo>
                  <a:pt x="7953" y="1757"/>
                  <a:pt x="7953" y="1761"/>
                  <a:pt x="7953" y="1761"/>
                </a:cubicBezTo>
                <a:cubicBezTo>
                  <a:pt x="7953" y="1761"/>
                  <a:pt x="7953" y="1765"/>
                  <a:pt x="7957" y="1765"/>
                </a:cubicBezTo>
                <a:cubicBezTo>
                  <a:pt x="7957" y="1765"/>
                  <a:pt x="7957" y="1765"/>
                  <a:pt x="8889" y="4432"/>
                </a:cubicBezTo>
                <a:cubicBezTo>
                  <a:pt x="8889" y="4432"/>
                  <a:pt x="8889" y="4432"/>
                  <a:pt x="8910" y="4492"/>
                </a:cubicBezTo>
                <a:cubicBezTo>
                  <a:pt x="8824" y="4445"/>
                  <a:pt x="8741" y="4414"/>
                  <a:pt x="8672" y="4393"/>
                </a:cubicBezTo>
                <a:cubicBezTo>
                  <a:pt x="8672" y="4393"/>
                  <a:pt x="8672" y="4393"/>
                  <a:pt x="7866" y="2086"/>
                </a:cubicBezTo>
                <a:cubicBezTo>
                  <a:pt x="7866" y="2086"/>
                  <a:pt x="7866" y="2086"/>
                  <a:pt x="7056" y="4401"/>
                </a:cubicBezTo>
                <a:cubicBezTo>
                  <a:pt x="6965" y="4432"/>
                  <a:pt x="6883" y="4466"/>
                  <a:pt x="6814" y="4505"/>
                </a:cubicBezTo>
                <a:cubicBezTo>
                  <a:pt x="6814" y="4505"/>
                  <a:pt x="6814" y="4505"/>
                  <a:pt x="6844" y="4432"/>
                </a:cubicBezTo>
                <a:cubicBezTo>
                  <a:pt x="6844" y="4432"/>
                  <a:pt x="6844" y="4432"/>
                  <a:pt x="7715" y="1938"/>
                </a:cubicBezTo>
                <a:lnTo>
                  <a:pt x="5666" y="2527"/>
                </a:lnTo>
                <a:cubicBezTo>
                  <a:pt x="5675" y="2471"/>
                  <a:pt x="5679" y="2419"/>
                  <a:pt x="5675" y="2363"/>
                </a:cubicBezTo>
                <a:cubicBezTo>
                  <a:pt x="5675" y="2350"/>
                  <a:pt x="5675" y="2337"/>
                  <a:pt x="5675" y="2324"/>
                </a:cubicBezTo>
                <a:cubicBezTo>
                  <a:pt x="5675" y="2324"/>
                  <a:pt x="5675" y="2324"/>
                  <a:pt x="6558" y="2073"/>
                </a:cubicBezTo>
                <a:cubicBezTo>
                  <a:pt x="6558" y="2073"/>
                  <a:pt x="6558" y="2073"/>
                  <a:pt x="5644" y="2194"/>
                </a:cubicBezTo>
                <a:cubicBezTo>
                  <a:pt x="5627" y="2133"/>
                  <a:pt x="5597" y="2073"/>
                  <a:pt x="5558" y="2016"/>
                </a:cubicBezTo>
                <a:cubicBezTo>
                  <a:pt x="5558" y="2016"/>
                  <a:pt x="5558" y="2016"/>
                  <a:pt x="7853" y="1700"/>
                </a:cubicBezTo>
                <a:close/>
              </a:path>
            </a:pathLst>
          </a:custGeom>
          <a:solidFill>
            <a:srgbClr val="FFFFFF"/>
          </a:solidFill>
          <a:ln w="0">
            <a:noFill/>
          </a:ln>
        </p:spPr>
        <p:txBody>
          <a:bodyPr/>
          <a:lstStyle/>
          <a:p>
            <a:endParaRPr lang="en-US"/>
          </a:p>
        </p:txBody>
      </p:sp>
      <p:sp>
        <p:nvSpPr>
          <p:cNvPr id="407" name="Path 12"/>
          <p:cNvSpPr/>
          <p:nvPr/>
        </p:nvSpPr>
        <p:spPr bwMode="auto">
          <a:xfrm>
            <a:off x="821245" y="5089207"/>
            <a:ext cx="292608" cy="292608"/>
          </a:xfrm>
          <a:custGeom>
            <a:avLst/>
            <a:gdLst/>
            <a:ahLst/>
            <a:cxnLst/>
            <a:rect l="0" t="0" r="10000" b="10000"/>
            <a:pathLst>
              <a:path w="10000" h="10000">
                <a:moveTo>
                  <a:pt x="1330" y="7002"/>
                </a:moveTo>
                <a:cubicBezTo>
                  <a:pt x="1382" y="7028"/>
                  <a:pt x="1447" y="7050"/>
                  <a:pt x="1526" y="7072"/>
                </a:cubicBezTo>
                <a:cubicBezTo>
                  <a:pt x="1695" y="7111"/>
                  <a:pt x="1917" y="7133"/>
                  <a:pt x="2152" y="7133"/>
                </a:cubicBezTo>
                <a:cubicBezTo>
                  <a:pt x="2382" y="7133"/>
                  <a:pt x="2604" y="7111"/>
                  <a:pt x="2773" y="7072"/>
                </a:cubicBezTo>
                <a:cubicBezTo>
                  <a:pt x="2851" y="7050"/>
                  <a:pt x="2916" y="7028"/>
                  <a:pt x="2969" y="7002"/>
                </a:cubicBezTo>
                <a:cubicBezTo>
                  <a:pt x="2969" y="7041"/>
                  <a:pt x="2969" y="7076"/>
                  <a:pt x="2969" y="7103"/>
                </a:cubicBezTo>
                <a:cubicBezTo>
                  <a:pt x="2969" y="7221"/>
                  <a:pt x="2969" y="7221"/>
                  <a:pt x="2969" y="7221"/>
                </a:cubicBezTo>
                <a:cubicBezTo>
                  <a:pt x="2969" y="7221"/>
                  <a:pt x="2969" y="7225"/>
                  <a:pt x="2969" y="7230"/>
                </a:cubicBezTo>
                <a:cubicBezTo>
                  <a:pt x="2960" y="7304"/>
                  <a:pt x="2803" y="7365"/>
                  <a:pt x="2569" y="7401"/>
                </a:cubicBezTo>
                <a:cubicBezTo>
                  <a:pt x="2447" y="7418"/>
                  <a:pt x="2304" y="7427"/>
                  <a:pt x="2152" y="7427"/>
                </a:cubicBezTo>
                <a:cubicBezTo>
                  <a:pt x="1978" y="7427"/>
                  <a:pt x="1817" y="7414"/>
                  <a:pt x="1686" y="7392"/>
                </a:cubicBezTo>
                <a:cubicBezTo>
                  <a:pt x="1478" y="7357"/>
                  <a:pt x="1334" y="7295"/>
                  <a:pt x="1330" y="7230"/>
                </a:cubicBezTo>
                <a:cubicBezTo>
                  <a:pt x="1330" y="7225"/>
                  <a:pt x="1330" y="7221"/>
                  <a:pt x="1334" y="7221"/>
                </a:cubicBezTo>
                <a:cubicBezTo>
                  <a:pt x="1330" y="7221"/>
                  <a:pt x="1330" y="7221"/>
                  <a:pt x="1330" y="7221"/>
                </a:cubicBezTo>
                <a:cubicBezTo>
                  <a:pt x="1330" y="7186"/>
                  <a:pt x="1330" y="7160"/>
                  <a:pt x="1330" y="7133"/>
                </a:cubicBezTo>
                <a:cubicBezTo>
                  <a:pt x="1330" y="7002"/>
                  <a:pt x="1330" y="7002"/>
                  <a:pt x="1330" y="7002"/>
                </a:cubicBezTo>
                <a:close/>
                <a:moveTo>
                  <a:pt x="1330" y="6519"/>
                </a:moveTo>
                <a:cubicBezTo>
                  <a:pt x="1382" y="6545"/>
                  <a:pt x="1447" y="6567"/>
                  <a:pt x="1526" y="6588"/>
                </a:cubicBezTo>
                <a:cubicBezTo>
                  <a:pt x="1695" y="6627"/>
                  <a:pt x="1917" y="6649"/>
                  <a:pt x="2152" y="6649"/>
                </a:cubicBezTo>
                <a:cubicBezTo>
                  <a:pt x="2382" y="6649"/>
                  <a:pt x="2604" y="6627"/>
                  <a:pt x="2773" y="6588"/>
                </a:cubicBezTo>
                <a:cubicBezTo>
                  <a:pt x="2851" y="6567"/>
                  <a:pt x="2916" y="6545"/>
                  <a:pt x="2969" y="6519"/>
                </a:cubicBezTo>
                <a:cubicBezTo>
                  <a:pt x="2969" y="6736"/>
                  <a:pt x="2969" y="6736"/>
                  <a:pt x="2969" y="6736"/>
                </a:cubicBezTo>
                <a:cubicBezTo>
                  <a:pt x="2969" y="6740"/>
                  <a:pt x="2969" y="6744"/>
                  <a:pt x="2969" y="6749"/>
                </a:cubicBezTo>
                <a:cubicBezTo>
                  <a:pt x="2969" y="6857"/>
                  <a:pt x="2604" y="6944"/>
                  <a:pt x="2152" y="6944"/>
                </a:cubicBezTo>
                <a:cubicBezTo>
                  <a:pt x="1699" y="6944"/>
                  <a:pt x="1330" y="6857"/>
                  <a:pt x="1330" y="6749"/>
                </a:cubicBezTo>
                <a:cubicBezTo>
                  <a:pt x="1330" y="6744"/>
                  <a:pt x="1330" y="6740"/>
                  <a:pt x="1334" y="6736"/>
                </a:cubicBezTo>
                <a:cubicBezTo>
                  <a:pt x="1330" y="6736"/>
                  <a:pt x="1330" y="6736"/>
                  <a:pt x="1330" y="6736"/>
                </a:cubicBezTo>
                <a:cubicBezTo>
                  <a:pt x="1330" y="6519"/>
                  <a:pt x="1330" y="6519"/>
                  <a:pt x="1330" y="6519"/>
                </a:cubicBezTo>
                <a:close/>
                <a:moveTo>
                  <a:pt x="2152" y="6075"/>
                </a:moveTo>
                <a:cubicBezTo>
                  <a:pt x="2595" y="6075"/>
                  <a:pt x="2960" y="6162"/>
                  <a:pt x="2969" y="6270"/>
                </a:cubicBezTo>
                <a:cubicBezTo>
                  <a:pt x="2960" y="6374"/>
                  <a:pt x="2595" y="6461"/>
                  <a:pt x="2152" y="6461"/>
                </a:cubicBezTo>
                <a:cubicBezTo>
                  <a:pt x="1704" y="6461"/>
                  <a:pt x="1343" y="6374"/>
                  <a:pt x="1330" y="6270"/>
                </a:cubicBezTo>
                <a:cubicBezTo>
                  <a:pt x="1343" y="6162"/>
                  <a:pt x="1704" y="6075"/>
                  <a:pt x="2152" y="6075"/>
                </a:cubicBezTo>
                <a:close/>
                <a:moveTo>
                  <a:pt x="7065" y="5795"/>
                </a:moveTo>
                <a:cubicBezTo>
                  <a:pt x="7117" y="5821"/>
                  <a:pt x="7183" y="5843"/>
                  <a:pt x="7261" y="5865"/>
                </a:cubicBezTo>
                <a:cubicBezTo>
                  <a:pt x="7427" y="5904"/>
                  <a:pt x="7649" y="5926"/>
                  <a:pt x="7884" y="5926"/>
                </a:cubicBezTo>
                <a:cubicBezTo>
                  <a:pt x="8115" y="5926"/>
                  <a:pt x="8338" y="5904"/>
                  <a:pt x="8508" y="5865"/>
                </a:cubicBezTo>
                <a:cubicBezTo>
                  <a:pt x="8586" y="5843"/>
                  <a:pt x="8651" y="5821"/>
                  <a:pt x="8704" y="5795"/>
                </a:cubicBezTo>
                <a:cubicBezTo>
                  <a:pt x="8704" y="5838"/>
                  <a:pt x="8704" y="5869"/>
                  <a:pt x="8704" y="5895"/>
                </a:cubicBezTo>
                <a:cubicBezTo>
                  <a:pt x="8704" y="6014"/>
                  <a:pt x="8704" y="6014"/>
                  <a:pt x="8704" y="6014"/>
                </a:cubicBezTo>
                <a:cubicBezTo>
                  <a:pt x="8704" y="6014"/>
                  <a:pt x="8704" y="6018"/>
                  <a:pt x="8704" y="6022"/>
                </a:cubicBezTo>
                <a:cubicBezTo>
                  <a:pt x="8699" y="6097"/>
                  <a:pt x="8538" y="6158"/>
                  <a:pt x="8303" y="6193"/>
                </a:cubicBezTo>
                <a:cubicBezTo>
                  <a:pt x="8181" y="6211"/>
                  <a:pt x="8037" y="6220"/>
                  <a:pt x="7884" y="6220"/>
                </a:cubicBezTo>
                <a:cubicBezTo>
                  <a:pt x="7714" y="6220"/>
                  <a:pt x="7553" y="6206"/>
                  <a:pt x="7418" y="6185"/>
                </a:cubicBezTo>
                <a:cubicBezTo>
                  <a:pt x="7209" y="6149"/>
                  <a:pt x="7070" y="6093"/>
                  <a:pt x="7065" y="6022"/>
                </a:cubicBezTo>
                <a:cubicBezTo>
                  <a:pt x="7065" y="6018"/>
                  <a:pt x="7065" y="6014"/>
                  <a:pt x="7070" y="6014"/>
                </a:cubicBezTo>
                <a:cubicBezTo>
                  <a:pt x="7065" y="6014"/>
                  <a:pt x="7065" y="6014"/>
                  <a:pt x="7065" y="6014"/>
                </a:cubicBezTo>
                <a:cubicBezTo>
                  <a:pt x="7065" y="5979"/>
                  <a:pt x="7065" y="5952"/>
                  <a:pt x="7065" y="5926"/>
                </a:cubicBezTo>
                <a:cubicBezTo>
                  <a:pt x="7065" y="5795"/>
                  <a:pt x="7065" y="5795"/>
                  <a:pt x="7065" y="5795"/>
                </a:cubicBezTo>
                <a:close/>
                <a:moveTo>
                  <a:pt x="7065" y="5312"/>
                </a:moveTo>
                <a:cubicBezTo>
                  <a:pt x="7117" y="5338"/>
                  <a:pt x="7183" y="5359"/>
                  <a:pt x="7261" y="5381"/>
                </a:cubicBezTo>
                <a:cubicBezTo>
                  <a:pt x="7427" y="5420"/>
                  <a:pt x="7649" y="5442"/>
                  <a:pt x="7884" y="5442"/>
                </a:cubicBezTo>
                <a:cubicBezTo>
                  <a:pt x="8115" y="5442"/>
                  <a:pt x="8338" y="5420"/>
                  <a:pt x="8508" y="5381"/>
                </a:cubicBezTo>
                <a:cubicBezTo>
                  <a:pt x="8586" y="5359"/>
                  <a:pt x="8651" y="5338"/>
                  <a:pt x="8704" y="5312"/>
                </a:cubicBezTo>
                <a:cubicBezTo>
                  <a:pt x="8704" y="5528"/>
                  <a:pt x="8704" y="5528"/>
                  <a:pt x="8704" y="5528"/>
                </a:cubicBezTo>
                <a:cubicBezTo>
                  <a:pt x="8704" y="5533"/>
                  <a:pt x="8704" y="5537"/>
                  <a:pt x="8704" y="5542"/>
                </a:cubicBezTo>
                <a:cubicBezTo>
                  <a:pt x="8704" y="5650"/>
                  <a:pt x="8338" y="5737"/>
                  <a:pt x="7884" y="5737"/>
                </a:cubicBezTo>
                <a:cubicBezTo>
                  <a:pt x="7431" y="5737"/>
                  <a:pt x="7065" y="5650"/>
                  <a:pt x="7065" y="5542"/>
                </a:cubicBezTo>
                <a:cubicBezTo>
                  <a:pt x="7065" y="5537"/>
                  <a:pt x="7065" y="5533"/>
                  <a:pt x="7070" y="5528"/>
                </a:cubicBezTo>
                <a:cubicBezTo>
                  <a:pt x="7065" y="5528"/>
                  <a:pt x="7065" y="5528"/>
                  <a:pt x="7065" y="5528"/>
                </a:cubicBezTo>
                <a:cubicBezTo>
                  <a:pt x="7065" y="5312"/>
                  <a:pt x="7065" y="5312"/>
                  <a:pt x="7065" y="5312"/>
                </a:cubicBezTo>
                <a:close/>
                <a:moveTo>
                  <a:pt x="7884" y="4868"/>
                </a:moveTo>
                <a:cubicBezTo>
                  <a:pt x="8329" y="4868"/>
                  <a:pt x="8695" y="4954"/>
                  <a:pt x="8704" y="5063"/>
                </a:cubicBezTo>
                <a:cubicBezTo>
                  <a:pt x="8695" y="5167"/>
                  <a:pt x="8329" y="5254"/>
                  <a:pt x="7884" y="5254"/>
                </a:cubicBezTo>
                <a:cubicBezTo>
                  <a:pt x="7436" y="5254"/>
                  <a:pt x="7078" y="5167"/>
                  <a:pt x="7065" y="5063"/>
                </a:cubicBezTo>
                <a:cubicBezTo>
                  <a:pt x="7078" y="4954"/>
                  <a:pt x="7436" y="4868"/>
                  <a:pt x="7884" y="4868"/>
                </a:cubicBezTo>
                <a:close/>
                <a:moveTo>
                  <a:pt x="5005" y="1902"/>
                </a:moveTo>
                <a:cubicBezTo>
                  <a:pt x="5014" y="1902"/>
                  <a:pt x="5027" y="1902"/>
                  <a:pt x="5035" y="1902"/>
                </a:cubicBezTo>
                <a:cubicBezTo>
                  <a:pt x="5153" y="1911"/>
                  <a:pt x="5257" y="1959"/>
                  <a:pt x="5335" y="2033"/>
                </a:cubicBezTo>
                <a:cubicBezTo>
                  <a:pt x="5387" y="2081"/>
                  <a:pt x="5430" y="2141"/>
                  <a:pt x="5457" y="2207"/>
                </a:cubicBezTo>
                <a:cubicBezTo>
                  <a:pt x="5474" y="2254"/>
                  <a:pt x="5487" y="2306"/>
                  <a:pt x="5487" y="2359"/>
                </a:cubicBezTo>
                <a:cubicBezTo>
                  <a:pt x="5487" y="2363"/>
                  <a:pt x="5487" y="2363"/>
                  <a:pt x="5487" y="2367"/>
                </a:cubicBezTo>
                <a:cubicBezTo>
                  <a:pt x="5491" y="2441"/>
                  <a:pt x="5478" y="2511"/>
                  <a:pt x="5448" y="2576"/>
                </a:cubicBezTo>
                <a:cubicBezTo>
                  <a:pt x="5409" y="2672"/>
                  <a:pt x="5339" y="2750"/>
                  <a:pt x="5253" y="2802"/>
                </a:cubicBezTo>
                <a:cubicBezTo>
                  <a:pt x="5253" y="2802"/>
                  <a:pt x="5253" y="2802"/>
                  <a:pt x="5253" y="7912"/>
                </a:cubicBezTo>
                <a:cubicBezTo>
                  <a:pt x="5253" y="7956"/>
                  <a:pt x="5283" y="7995"/>
                  <a:pt x="5326" y="8004"/>
                </a:cubicBezTo>
                <a:cubicBezTo>
                  <a:pt x="5326" y="8004"/>
                  <a:pt x="5326" y="8004"/>
                  <a:pt x="6889" y="8399"/>
                </a:cubicBezTo>
                <a:cubicBezTo>
                  <a:pt x="6998" y="8425"/>
                  <a:pt x="6980" y="8586"/>
                  <a:pt x="6867" y="8586"/>
                </a:cubicBezTo>
                <a:cubicBezTo>
                  <a:pt x="6867" y="8586"/>
                  <a:pt x="6867" y="8586"/>
                  <a:pt x="3147" y="8586"/>
                </a:cubicBezTo>
                <a:cubicBezTo>
                  <a:pt x="3034" y="8586"/>
                  <a:pt x="3017" y="8425"/>
                  <a:pt x="3125" y="8399"/>
                </a:cubicBezTo>
                <a:cubicBezTo>
                  <a:pt x="3125" y="8399"/>
                  <a:pt x="3125" y="8399"/>
                  <a:pt x="4710" y="8004"/>
                </a:cubicBezTo>
                <a:cubicBezTo>
                  <a:pt x="4753" y="7995"/>
                  <a:pt x="4784" y="7956"/>
                  <a:pt x="4784" y="7912"/>
                </a:cubicBezTo>
                <a:cubicBezTo>
                  <a:pt x="4784" y="7912"/>
                  <a:pt x="4784" y="7912"/>
                  <a:pt x="4784" y="2815"/>
                </a:cubicBezTo>
                <a:cubicBezTo>
                  <a:pt x="4745" y="2797"/>
                  <a:pt x="4706" y="2767"/>
                  <a:pt x="4675" y="2737"/>
                </a:cubicBezTo>
                <a:cubicBezTo>
                  <a:pt x="4623" y="2689"/>
                  <a:pt x="4580" y="2628"/>
                  <a:pt x="4554" y="2563"/>
                </a:cubicBezTo>
                <a:cubicBezTo>
                  <a:pt x="4536" y="2515"/>
                  <a:pt x="4523" y="2459"/>
                  <a:pt x="4523" y="2406"/>
                </a:cubicBezTo>
                <a:cubicBezTo>
                  <a:pt x="4523" y="2398"/>
                  <a:pt x="4523" y="2393"/>
                  <a:pt x="4523" y="2385"/>
                </a:cubicBezTo>
                <a:cubicBezTo>
                  <a:pt x="4523" y="2320"/>
                  <a:pt x="4536" y="2254"/>
                  <a:pt x="4558" y="2194"/>
                </a:cubicBezTo>
                <a:cubicBezTo>
                  <a:pt x="4632" y="2024"/>
                  <a:pt x="4805" y="1902"/>
                  <a:pt x="5005" y="1902"/>
                </a:cubicBezTo>
                <a:close/>
              </a:path>
            </a:pathLst>
          </a:custGeom>
          <a:solidFill>
            <a:srgbClr val="FFFFFF"/>
          </a:solidFill>
          <a:ln w="0">
            <a:noFill/>
          </a:ln>
        </p:spPr>
        <p:txBody>
          <a:bodyPr/>
          <a:lstStyle/>
          <a:p>
            <a:endParaRPr lang="en-US"/>
          </a:p>
        </p:txBody>
      </p:sp>
      <p:sp>
        <p:nvSpPr>
          <p:cNvPr id="408" name="TB408"/>
          <p:cNvSpPr txBox="1"/>
          <p:nvPr/>
        </p:nvSpPr>
        <p:spPr>
          <a:xfrm>
            <a:off x="1267587" y="5072633"/>
            <a:ext cx="9019413" cy="182902"/>
          </a:xfrm>
          <a:prstGeom prst="rect">
            <a:avLst/>
          </a:prstGeom>
          <a:noFill/>
        </p:spPr>
        <p:txBody>
          <a:bodyPr wrap="square" rtlCol="0" anchor="b"/>
          <a:lstStyle/>
          <a:p>
            <a:r>
              <a:rPr lang="en-US" sz="1400" b="1" dirty="0">
                <a:solidFill>
                  <a:srgbClr val="575757"/>
                </a:solidFill>
                <a:latin typeface="Trebuchet MS"/>
              </a:rPr>
              <a:t>Pricing inconsistency erodes trust within the same batch</a:t>
            </a:r>
          </a:p>
        </p:txBody>
      </p:sp>
      <p:sp>
        <p:nvSpPr>
          <p:cNvPr id="409" name="TB409"/>
          <p:cNvSpPr txBox="1"/>
          <p:nvPr/>
        </p:nvSpPr>
        <p:spPr>
          <a:xfrm>
            <a:off x="1267587" y="5237248"/>
            <a:ext cx="9019413" cy="161140"/>
          </a:xfrm>
          <a:prstGeom prst="rect">
            <a:avLst/>
          </a:prstGeom>
          <a:noFill/>
        </p:spPr>
        <p:txBody>
          <a:bodyPr wrap="square" rtlCol="0" anchor="t"/>
          <a:lstStyle/>
          <a:p>
            <a:r>
              <a:rPr lang="en-US" sz="1200" dirty="0">
                <a:solidFill>
                  <a:srgbClr val="575757"/>
                </a:solidFill>
                <a:latin typeface="Trebuchet MS"/>
              </a:rPr>
              <a:t>Some notes reference price differences across batchmates as a refund trigger</a:t>
            </a:r>
          </a:p>
        </p:txBody>
      </p:sp>
      <p:sp>
        <p:nvSpPr>
          <p:cNvPr id="410" name="RR410"/>
          <p:cNvSpPr/>
          <p:nvPr/>
        </p:nvSpPr>
        <p:spPr>
          <a:xfrm>
            <a:off x="10442448" y="5098351"/>
            <a:ext cx="960120" cy="274320"/>
          </a:xfrm>
          <a:prstGeom prst="roundRect">
            <a:avLst>
              <a:gd name="adj" fmla="val 10000"/>
            </a:avLst>
          </a:prstGeom>
          <a:solidFill>
            <a:schemeClr val="tx2">
              <a:lumMod val="75000"/>
            </a:schemeClr>
          </a:solidFill>
          <a:ln>
            <a:noFill/>
          </a:ln>
        </p:spPr>
        <p:txBody>
          <a:bodyPr/>
          <a:lstStyle/>
          <a:p>
            <a:endParaRPr lang="en-US"/>
          </a:p>
        </p:txBody>
      </p:sp>
      <p:sp>
        <p:nvSpPr>
          <p:cNvPr id="411" name="TB411"/>
          <p:cNvSpPr txBox="1"/>
          <p:nvPr/>
        </p:nvSpPr>
        <p:spPr>
          <a:xfrm>
            <a:off x="10442448" y="5098351"/>
            <a:ext cx="960120" cy="274320"/>
          </a:xfrm>
          <a:prstGeom prst="rect">
            <a:avLst/>
          </a:prstGeom>
          <a:solidFill>
            <a:schemeClr val="tx2">
              <a:lumMod val="75000"/>
            </a:schemeClr>
          </a:solidFill>
        </p:spPr>
        <p:txBody>
          <a:bodyPr wrap="square" rtlCol="0" anchor="ctr"/>
          <a:lstStyle/>
          <a:p>
            <a:pPr algn="ctr"/>
            <a:r>
              <a:rPr lang="en-US" sz="1100" b="1" dirty="0">
                <a:solidFill>
                  <a:srgbClr val="FFFFFF"/>
                </a:solidFill>
                <a:latin typeface="Trebuchet MS"/>
              </a:rPr>
              <a:t>MEDIUM</a:t>
            </a:r>
          </a:p>
        </p:txBody>
      </p:sp>
      <p:sp>
        <p:nvSpPr>
          <p:cNvPr id="412" name="R412"/>
          <p:cNvSpPr/>
          <p:nvPr/>
        </p:nvSpPr>
        <p:spPr>
          <a:xfrm>
            <a:off x="630936" y="5508117"/>
            <a:ext cx="91440" cy="435483"/>
          </a:xfrm>
          <a:prstGeom prst="rect">
            <a:avLst/>
          </a:prstGeom>
          <a:solidFill>
            <a:srgbClr val="6E6F73"/>
          </a:solidFill>
          <a:ln>
            <a:noFill/>
          </a:ln>
        </p:spPr>
        <p:txBody>
          <a:bodyPr/>
          <a:lstStyle/>
          <a:p>
            <a:endParaRPr lang="en-US"/>
          </a:p>
        </p:txBody>
      </p:sp>
      <p:sp>
        <p:nvSpPr>
          <p:cNvPr id="413" name="R413"/>
          <p:cNvSpPr/>
          <p:nvPr/>
        </p:nvSpPr>
        <p:spPr>
          <a:xfrm>
            <a:off x="722375" y="5508117"/>
            <a:ext cx="10844784" cy="435483"/>
          </a:xfrm>
          <a:prstGeom prst="rect">
            <a:avLst/>
          </a:prstGeom>
          <a:solidFill>
            <a:srgbClr val="F2F2F2"/>
          </a:solidFill>
          <a:ln w="9525">
            <a:solidFill>
              <a:srgbClr val="F2F2F2"/>
            </a:solidFill>
          </a:ln>
        </p:spPr>
        <p:txBody>
          <a:bodyPr/>
          <a:lstStyle/>
          <a:p>
            <a:endParaRPr lang="en-US"/>
          </a:p>
        </p:txBody>
      </p:sp>
      <p:sp>
        <p:nvSpPr>
          <p:cNvPr id="414" name="O414"/>
          <p:cNvSpPr/>
          <p:nvPr/>
        </p:nvSpPr>
        <p:spPr>
          <a:xfrm>
            <a:off x="832103" y="5590413"/>
            <a:ext cx="270891" cy="270891"/>
          </a:xfrm>
          <a:prstGeom prst="ellipse">
            <a:avLst/>
          </a:prstGeom>
          <a:solidFill>
            <a:srgbClr val="6E6F73"/>
          </a:solidFill>
          <a:ln>
            <a:noFill/>
          </a:ln>
        </p:spPr>
        <p:txBody>
          <a:bodyPr/>
          <a:lstStyle/>
          <a:p>
            <a:endParaRPr lang="en-US"/>
          </a:p>
        </p:txBody>
      </p:sp>
      <p:grpSp>
        <p:nvGrpSpPr>
          <p:cNvPr id="415" name="svg_Light_Bulb"/>
          <p:cNvGrpSpPr>
            <a:grpSpLocks noChangeAspect="1"/>
          </p:cNvGrpSpPr>
          <p:nvPr/>
        </p:nvGrpSpPr>
        <p:grpSpPr bwMode="auto">
          <a:xfrm>
            <a:off x="821245" y="5579554"/>
            <a:ext cx="292608" cy="292608"/>
            <a:chOff x="0" y="0"/>
            <a:chExt cx="10000" cy="10000"/>
          </a:xfrm>
        </p:grpSpPr>
        <p:sp>
          <p:nvSpPr>
            <p:cNvPr id="416" name="Path 11"/>
            <p:cNvSpPr/>
            <p:nvPr/>
          </p:nvSpPr>
          <p:spPr bwMode="auto">
            <a:xfrm>
              <a:off x="0" y="0"/>
              <a:ext cx="10000" cy="10000"/>
            </a:xfrm>
            <a:custGeom>
              <a:avLst/>
              <a:gdLst/>
              <a:ahLst/>
              <a:cxnLst/>
              <a:rect l="0" t="0" r="10000" b="10000"/>
              <a:pathLst>
                <a:path w="10000" h="10000">
                  <a:moveTo>
                    <a:pt x="5000" y="1145"/>
                  </a:moveTo>
                  <a:cubicBezTo>
                    <a:pt x="3749" y="1145"/>
                    <a:pt x="2732" y="2161"/>
                    <a:pt x="2732" y="3407"/>
                  </a:cubicBezTo>
                  <a:cubicBezTo>
                    <a:pt x="2732" y="3954"/>
                    <a:pt x="2932" y="4480"/>
                    <a:pt x="3288" y="4888"/>
                  </a:cubicBezTo>
                  <a:cubicBezTo>
                    <a:pt x="3292" y="4897"/>
                    <a:pt x="3292" y="4897"/>
                    <a:pt x="3292" y="4897"/>
                  </a:cubicBezTo>
                  <a:cubicBezTo>
                    <a:pt x="3301" y="4901"/>
                    <a:pt x="3875" y="5448"/>
                    <a:pt x="3875" y="6052"/>
                  </a:cubicBezTo>
                  <a:cubicBezTo>
                    <a:pt x="3875" y="6625"/>
                    <a:pt x="3875" y="6625"/>
                    <a:pt x="3875" y="6625"/>
                  </a:cubicBezTo>
                  <a:cubicBezTo>
                    <a:pt x="3788" y="6625"/>
                    <a:pt x="3788" y="6625"/>
                    <a:pt x="3788" y="6625"/>
                  </a:cubicBezTo>
                  <a:cubicBezTo>
                    <a:pt x="3683" y="6625"/>
                    <a:pt x="3601" y="6707"/>
                    <a:pt x="3601" y="6812"/>
                  </a:cubicBezTo>
                  <a:cubicBezTo>
                    <a:pt x="3601" y="7194"/>
                    <a:pt x="3601" y="7194"/>
                    <a:pt x="3601" y="7194"/>
                  </a:cubicBezTo>
                  <a:cubicBezTo>
                    <a:pt x="3601" y="7228"/>
                    <a:pt x="3610" y="7259"/>
                    <a:pt x="3627" y="7285"/>
                  </a:cubicBezTo>
                  <a:cubicBezTo>
                    <a:pt x="3610" y="7311"/>
                    <a:pt x="3601" y="7341"/>
                    <a:pt x="3601" y="7376"/>
                  </a:cubicBezTo>
                  <a:cubicBezTo>
                    <a:pt x="3601" y="7671"/>
                    <a:pt x="3601" y="7671"/>
                    <a:pt x="3601" y="7671"/>
                  </a:cubicBezTo>
                  <a:cubicBezTo>
                    <a:pt x="3601" y="7702"/>
                    <a:pt x="3610" y="7732"/>
                    <a:pt x="3627" y="7763"/>
                  </a:cubicBezTo>
                  <a:cubicBezTo>
                    <a:pt x="3610" y="7789"/>
                    <a:pt x="3601" y="7819"/>
                    <a:pt x="3601" y="7854"/>
                  </a:cubicBezTo>
                  <a:cubicBezTo>
                    <a:pt x="3601" y="8162"/>
                    <a:pt x="3601" y="8162"/>
                    <a:pt x="3601" y="8162"/>
                  </a:cubicBezTo>
                  <a:cubicBezTo>
                    <a:pt x="3601" y="8266"/>
                    <a:pt x="3683" y="8349"/>
                    <a:pt x="3788" y="8349"/>
                  </a:cubicBezTo>
                  <a:cubicBezTo>
                    <a:pt x="4009" y="8349"/>
                    <a:pt x="4009" y="8349"/>
                    <a:pt x="4009" y="8349"/>
                  </a:cubicBezTo>
                  <a:cubicBezTo>
                    <a:pt x="4009" y="8518"/>
                    <a:pt x="4009" y="8518"/>
                    <a:pt x="4009" y="8518"/>
                  </a:cubicBezTo>
                  <a:cubicBezTo>
                    <a:pt x="4009" y="8557"/>
                    <a:pt x="4031" y="8592"/>
                    <a:pt x="4066" y="8605"/>
                  </a:cubicBezTo>
                  <a:cubicBezTo>
                    <a:pt x="4405" y="8757"/>
                    <a:pt x="4726" y="8779"/>
                    <a:pt x="4891" y="8779"/>
                  </a:cubicBezTo>
                  <a:cubicBezTo>
                    <a:pt x="4944" y="8779"/>
                    <a:pt x="4983" y="8779"/>
                    <a:pt x="5000" y="8774"/>
                  </a:cubicBezTo>
                  <a:cubicBezTo>
                    <a:pt x="5069" y="8779"/>
                    <a:pt x="5487" y="8805"/>
                    <a:pt x="5934" y="8605"/>
                  </a:cubicBezTo>
                  <a:cubicBezTo>
                    <a:pt x="5969" y="8592"/>
                    <a:pt x="5991" y="8557"/>
                    <a:pt x="5991" y="8518"/>
                  </a:cubicBezTo>
                  <a:cubicBezTo>
                    <a:pt x="5991" y="8349"/>
                    <a:pt x="5991" y="8349"/>
                    <a:pt x="5991" y="8349"/>
                  </a:cubicBezTo>
                  <a:cubicBezTo>
                    <a:pt x="6225" y="8349"/>
                    <a:pt x="6225" y="8349"/>
                    <a:pt x="6225" y="8349"/>
                  </a:cubicBezTo>
                  <a:cubicBezTo>
                    <a:pt x="6330" y="8349"/>
                    <a:pt x="6412" y="8266"/>
                    <a:pt x="6412" y="8162"/>
                  </a:cubicBezTo>
                  <a:cubicBezTo>
                    <a:pt x="6412" y="7854"/>
                    <a:pt x="6412" y="7854"/>
                    <a:pt x="6412" y="7854"/>
                  </a:cubicBezTo>
                  <a:cubicBezTo>
                    <a:pt x="6412" y="7819"/>
                    <a:pt x="6404" y="7789"/>
                    <a:pt x="6390" y="7763"/>
                  </a:cubicBezTo>
                  <a:cubicBezTo>
                    <a:pt x="6404" y="7732"/>
                    <a:pt x="6412" y="7702"/>
                    <a:pt x="6412" y="7671"/>
                  </a:cubicBezTo>
                  <a:cubicBezTo>
                    <a:pt x="6412" y="7376"/>
                    <a:pt x="6412" y="7376"/>
                    <a:pt x="6412" y="7376"/>
                  </a:cubicBezTo>
                  <a:cubicBezTo>
                    <a:pt x="6412" y="7341"/>
                    <a:pt x="6404" y="7311"/>
                    <a:pt x="6390" y="7285"/>
                  </a:cubicBezTo>
                  <a:cubicBezTo>
                    <a:pt x="6404" y="7259"/>
                    <a:pt x="6412" y="7228"/>
                    <a:pt x="6412" y="7194"/>
                  </a:cubicBezTo>
                  <a:cubicBezTo>
                    <a:pt x="6412" y="6812"/>
                    <a:pt x="6412" y="6812"/>
                    <a:pt x="6412" y="6812"/>
                  </a:cubicBezTo>
                  <a:cubicBezTo>
                    <a:pt x="6412" y="6707"/>
                    <a:pt x="6330" y="6625"/>
                    <a:pt x="6225" y="6625"/>
                  </a:cubicBezTo>
                  <a:cubicBezTo>
                    <a:pt x="6125" y="6625"/>
                    <a:pt x="6125" y="6625"/>
                    <a:pt x="6125" y="6625"/>
                  </a:cubicBezTo>
                  <a:cubicBezTo>
                    <a:pt x="6125" y="6052"/>
                    <a:pt x="6125" y="6052"/>
                    <a:pt x="6125" y="6052"/>
                  </a:cubicBezTo>
                  <a:cubicBezTo>
                    <a:pt x="6125" y="5448"/>
                    <a:pt x="6703" y="4901"/>
                    <a:pt x="6708" y="4897"/>
                  </a:cubicBezTo>
                  <a:cubicBezTo>
                    <a:pt x="6716" y="4888"/>
                    <a:pt x="6716" y="4888"/>
                    <a:pt x="6716" y="4888"/>
                  </a:cubicBezTo>
                  <a:cubicBezTo>
                    <a:pt x="7073" y="4480"/>
                    <a:pt x="7268" y="3954"/>
                    <a:pt x="7268" y="3407"/>
                  </a:cubicBezTo>
                  <a:cubicBezTo>
                    <a:pt x="7268" y="2161"/>
                    <a:pt x="6251" y="1145"/>
                    <a:pt x="5000" y="1145"/>
                  </a:cubicBezTo>
                  <a:close/>
                  <a:moveTo>
                    <a:pt x="3792" y="7667"/>
                  </a:moveTo>
                  <a:cubicBezTo>
                    <a:pt x="3792" y="7380"/>
                    <a:pt x="3792" y="7380"/>
                    <a:pt x="3792" y="7380"/>
                  </a:cubicBezTo>
                  <a:cubicBezTo>
                    <a:pt x="6221" y="7380"/>
                    <a:pt x="6221" y="7380"/>
                    <a:pt x="6221" y="7380"/>
                  </a:cubicBezTo>
                  <a:cubicBezTo>
                    <a:pt x="6221" y="7667"/>
                    <a:pt x="6221" y="7667"/>
                    <a:pt x="6221" y="7667"/>
                  </a:cubicBezTo>
                  <a:lnTo>
                    <a:pt x="3792" y="7667"/>
                  </a:lnTo>
                  <a:close/>
                  <a:moveTo>
                    <a:pt x="5799" y="8457"/>
                  </a:moveTo>
                  <a:cubicBezTo>
                    <a:pt x="5387" y="8618"/>
                    <a:pt x="5013" y="8583"/>
                    <a:pt x="5009" y="8583"/>
                  </a:cubicBezTo>
                  <a:cubicBezTo>
                    <a:pt x="5004" y="8583"/>
                    <a:pt x="4996" y="8583"/>
                    <a:pt x="4991" y="8583"/>
                  </a:cubicBezTo>
                  <a:cubicBezTo>
                    <a:pt x="4987" y="8583"/>
                    <a:pt x="4613" y="8618"/>
                    <a:pt x="4201" y="8457"/>
                  </a:cubicBezTo>
                  <a:cubicBezTo>
                    <a:pt x="4201" y="8349"/>
                    <a:pt x="4201" y="8349"/>
                    <a:pt x="4201" y="8349"/>
                  </a:cubicBezTo>
                  <a:cubicBezTo>
                    <a:pt x="5799" y="8349"/>
                    <a:pt x="5799" y="8349"/>
                    <a:pt x="5799" y="8349"/>
                  </a:cubicBezTo>
                  <a:lnTo>
                    <a:pt x="5799" y="8457"/>
                  </a:lnTo>
                  <a:close/>
                  <a:moveTo>
                    <a:pt x="3792" y="8158"/>
                  </a:moveTo>
                  <a:cubicBezTo>
                    <a:pt x="3792" y="7858"/>
                    <a:pt x="3792" y="7858"/>
                    <a:pt x="3792" y="7858"/>
                  </a:cubicBezTo>
                  <a:cubicBezTo>
                    <a:pt x="6221" y="7858"/>
                    <a:pt x="6221" y="7858"/>
                    <a:pt x="6221" y="7858"/>
                  </a:cubicBezTo>
                  <a:cubicBezTo>
                    <a:pt x="6221" y="8158"/>
                    <a:pt x="6221" y="8158"/>
                    <a:pt x="6221" y="8158"/>
                  </a:cubicBezTo>
                  <a:lnTo>
                    <a:pt x="3792" y="8158"/>
                  </a:lnTo>
                  <a:close/>
                  <a:moveTo>
                    <a:pt x="6221" y="7189"/>
                  </a:moveTo>
                  <a:cubicBezTo>
                    <a:pt x="3792" y="7189"/>
                    <a:pt x="3792" y="7189"/>
                    <a:pt x="3792" y="7189"/>
                  </a:cubicBezTo>
                  <a:cubicBezTo>
                    <a:pt x="3792" y="6816"/>
                    <a:pt x="3792" y="6816"/>
                    <a:pt x="3792" y="6816"/>
                  </a:cubicBezTo>
                  <a:cubicBezTo>
                    <a:pt x="6221" y="6816"/>
                    <a:pt x="6221" y="6816"/>
                    <a:pt x="6221" y="6816"/>
                  </a:cubicBezTo>
                  <a:lnTo>
                    <a:pt x="6221" y="7189"/>
                  </a:lnTo>
                  <a:close/>
                  <a:moveTo>
                    <a:pt x="6573" y="4762"/>
                  </a:moveTo>
                  <a:cubicBezTo>
                    <a:pt x="6512" y="4818"/>
                    <a:pt x="5934" y="5383"/>
                    <a:pt x="5934" y="6052"/>
                  </a:cubicBezTo>
                  <a:cubicBezTo>
                    <a:pt x="5934" y="6625"/>
                    <a:pt x="5934" y="6625"/>
                    <a:pt x="5934" y="6625"/>
                  </a:cubicBezTo>
                  <a:cubicBezTo>
                    <a:pt x="4066" y="6625"/>
                    <a:pt x="4066" y="6625"/>
                    <a:pt x="4066" y="6625"/>
                  </a:cubicBezTo>
                  <a:cubicBezTo>
                    <a:pt x="4066" y="6052"/>
                    <a:pt x="4066" y="6052"/>
                    <a:pt x="4066" y="6052"/>
                  </a:cubicBezTo>
                  <a:cubicBezTo>
                    <a:pt x="4066" y="5383"/>
                    <a:pt x="3488" y="4818"/>
                    <a:pt x="3427" y="4762"/>
                  </a:cubicBezTo>
                  <a:cubicBezTo>
                    <a:pt x="3101" y="4384"/>
                    <a:pt x="2923" y="3907"/>
                    <a:pt x="2923" y="3407"/>
                  </a:cubicBezTo>
                  <a:cubicBezTo>
                    <a:pt x="2923" y="2265"/>
                    <a:pt x="3857" y="1336"/>
                    <a:pt x="5000" y="1336"/>
                  </a:cubicBezTo>
                  <a:cubicBezTo>
                    <a:pt x="6143" y="1336"/>
                    <a:pt x="7077" y="2265"/>
                    <a:pt x="7077" y="3407"/>
                  </a:cubicBezTo>
                  <a:cubicBezTo>
                    <a:pt x="7077" y="3907"/>
                    <a:pt x="6899" y="4384"/>
                    <a:pt x="6573" y="4762"/>
                  </a:cubicBezTo>
                  <a:close/>
                </a:path>
              </a:pathLst>
            </a:custGeom>
            <a:solidFill>
              <a:srgbClr val="FFFFFF"/>
            </a:solidFill>
            <a:ln w="0">
              <a:noFill/>
            </a:ln>
          </p:spPr>
          <p:txBody>
            <a:bodyPr/>
            <a:lstStyle/>
            <a:p>
              <a:endParaRPr lang="en-US"/>
            </a:p>
          </p:txBody>
        </p:sp>
        <p:sp>
          <p:nvSpPr>
            <p:cNvPr id="417" name="Path 12"/>
            <p:cNvSpPr/>
            <p:nvPr/>
          </p:nvSpPr>
          <p:spPr bwMode="auto">
            <a:xfrm>
              <a:off x="0" y="0"/>
              <a:ext cx="10000" cy="10000"/>
            </a:xfrm>
            <a:custGeom>
              <a:avLst/>
              <a:gdLst/>
              <a:ahLst/>
              <a:cxnLst/>
              <a:rect l="0" t="0" r="10000" b="10000"/>
              <a:pathLst>
                <a:path w="10000" h="10000">
                  <a:moveTo>
                    <a:pt x="5000" y="1515"/>
                  </a:moveTo>
                  <a:cubicBezTo>
                    <a:pt x="3954" y="1515"/>
                    <a:pt x="3103" y="2362"/>
                    <a:pt x="3103" y="3408"/>
                  </a:cubicBezTo>
                  <a:cubicBezTo>
                    <a:pt x="3103" y="3860"/>
                    <a:pt x="3264" y="4298"/>
                    <a:pt x="3559" y="4641"/>
                  </a:cubicBezTo>
                  <a:cubicBezTo>
                    <a:pt x="3654" y="4733"/>
                    <a:pt x="4245" y="5336"/>
                    <a:pt x="4245" y="6053"/>
                  </a:cubicBezTo>
                  <a:cubicBezTo>
                    <a:pt x="4245" y="6448"/>
                    <a:pt x="4245" y="6448"/>
                    <a:pt x="4245" y="6448"/>
                  </a:cubicBezTo>
                  <a:cubicBezTo>
                    <a:pt x="4905" y="6448"/>
                    <a:pt x="4905" y="6448"/>
                    <a:pt x="4905" y="6448"/>
                  </a:cubicBezTo>
                  <a:cubicBezTo>
                    <a:pt x="4905" y="5410"/>
                    <a:pt x="4905" y="5410"/>
                    <a:pt x="4905" y="5410"/>
                  </a:cubicBezTo>
                  <a:cubicBezTo>
                    <a:pt x="4905" y="5384"/>
                    <a:pt x="4913" y="5362"/>
                    <a:pt x="4931" y="5345"/>
                  </a:cubicBezTo>
                  <a:cubicBezTo>
                    <a:pt x="5382" y="4863"/>
                    <a:pt x="5382" y="4863"/>
                    <a:pt x="5382" y="4863"/>
                  </a:cubicBezTo>
                  <a:cubicBezTo>
                    <a:pt x="4709" y="4863"/>
                    <a:pt x="4709" y="4863"/>
                    <a:pt x="4709" y="4863"/>
                  </a:cubicBezTo>
                  <a:cubicBezTo>
                    <a:pt x="4670" y="4863"/>
                    <a:pt x="4635" y="4841"/>
                    <a:pt x="4618" y="4807"/>
                  </a:cubicBezTo>
                  <a:cubicBezTo>
                    <a:pt x="4605" y="4772"/>
                    <a:pt x="4614" y="4728"/>
                    <a:pt x="4640" y="4702"/>
                  </a:cubicBezTo>
                  <a:cubicBezTo>
                    <a:pt x="5191" y="4125"/>
                    <a:pt x="5191" y="4125"/>
                    <a:pt x="5191" y="4125"/>
                  </a:cubicBezTo>
                  <a:cubicBezTo>
                    <a:pt x="4640" y="4125"/>
                    <a:pt x="4640" y="4125"/>
                    <a:pt x="4640" y="4125"/>
                  </a:cubicBezTo>
                  <a:cubicBezTo>
                    <a:pt x="4605" y="4125"/>
                    <a:pt x="4570" y="4103"/>
                    <a:pt x="4553" y="4068"/>
                  </a:cubicBezTo>
                  <a:cubicBezTo>
                    <a:pt x="4540" y="4034"/>
                    <a:pt x="4544" y="3994"/>
                    <a:pt x="4570" y="3964"/>
                  </a:cubicBezTo>
                  <a:cubicBezTo>
                    <a:pt x="5308" y="3113"/>
                    <a:pt x="5308" y="3113"/>
                    <a:pt x="5308" y="3113"/>
                  </a:cubicBezTo>
                  <a:cubicBezTo>
                    <a:pt x="5343" y="3074"/>
                    <a:pt x="5404" y="3070"/>
                    <a:pt x="5443" y="3104"/>
                  </a:cubicBezTo>
                  <a:cubicBezTo>
                    <a:pt x="5482" y="3139"/>
                    <a:pt x="5486" y="3200"/>
                    <a:pt x="5451" y="3239"/>
                  </a:cubicBezTo>
                  <a:cubicBezTo>
                    <a:pt x="4852" y="3934"/>
                    <a:pt x="4852" y="3934"/>
                    <a:pt x="4852" y="3934"/>
                  </a:cubicBezTo>
                  <a:cubicBezTo>
                    <a:pt x="5412" y="3934"/>
                    <a:pt x="5412" y="3934"/>
                    <a:pt x="5412" y="3934"/>
                  </a:cubicBezTo>
                  <a:cubicBezTo>
                    <a:pt x="5451" y="3934"/>
                    <a:pt x="5486" y="3955"/>
                    <a:pt x="5504" y="3990"/>
                  </a:cubicBezTo>
                  <a:cubicBezTo>
                    <a:pt x="5517" y="4025"/>
                    <a:pt x="5508" y="4064"/>
                    <a:pt x="5482" y="4094"/>
                  </a:cubicBezTo>
                  <a:cubicBezTo>
                    <a:pt x="4931" y="4672"/>
                    <a:pt x="4931" y="4672"/>
                    <a:pt x="4931" y="4672"/>
                  </a:cubicBezTo>
                  <a:cubicBezTo>
                    <a:pt x="5603" y="4672"/>
                    <a:pt x="5603" y="4672"/>
                    <a:pt x="5603" y="4672"/>
                  </a:cubicBezTo>
                  <a:cubicBezTo>
                    <a:pt x="5638" y="4672"/>
                    <a:pt x="5673" y="4694"/>
                    <a:pt x="5690" y="4728"/>
                  </a:cubicBezTo>
                  <a:cubicBezTo>
                    <a:pt x="5703" y="4763"/>
                    <a:pt x="5699" y="4807"/>
                    <a:pt x="5673" y="4832"/>
                  </a:cubicBezTo>
                  <a:cubicBezTo>
                    <a:pt x="5095" y="5445"/>
                    <a:pt x="5095" y="5445"/>
                    <a:pt x="5095" y="5445"/>
                  </a:cubicBezTo>
                  <a:cubicBezTo>
                    <a:pt x="5095" y="6448"/>
                    <a:pt x="5095" y="6448"/>
                    <a:pt x="5095" y="6448"/>
                  </a:cubicBezTo>
                  <a:cubicBezTo>
                    <a:pt x="5755" y="6448"/>
                    <a:pt x="5755" y="6448"/>
                    <a:pt x="5755" y="6448"/>
                  </a:cubicBezTo>
                  <a:cubicBezTo>
                    <a:pt x="5755" y="6053"/>
                    <a:pt x="5755" y="6053"/>
                    <a:pt x="5755" y="6053"/>
                  </a:cubicBezTo>
                  <a:cubicBezTo>
                    <a:pt x="5755" y="5336"/>
                    <a:pt x="6346" y="4733"/>
                    <a:pt x="6441" y="4641"/>
                  </a:cubicBezTo>
                  <a:cubicBezTo>
                    <a:pt x="6737" y="4298"/>
                    <a:pt x="6897" y="3860"/>
                    <a:pt x="6897" y="3408"/>
                  </a:cubicBezTo>
                  <a:cubicBezTo>
                    <a:pt x="6897" y="2362"/>
                    <a:pt x="6046" y="1515"/>
                    <a:pt x="5000" y="1515"/>
                  </a:cubicBezTo>
                  <a:close/>
                </a:path>
              </a:pathLst>
            </a:custGeom>
            <a:solidFill>
              <a:srgbClr val="FFFFFF"/>
            </a:solidFill>
            <a:ln w="0">
              <a:noFill/>
            </a:ln>
          </p:spPr>
          <p:txBody>
            <a:bodyPr/>
            <a:lstStyle/>
            <a:p>
              <a:endParaRPr lang="en-US"/>
            </a:p>
          </p:txBody>
        </p:sp>
      </p:grpSp>
      <p:sp>
        <p:nvSpPr>
          <p:cNvPr id="418" name="TB418"/>
          <p:cNvSpPr txBox="1"/>
          <p:nvPr/>
        </p:nvSpPr>
        <p:spPr>
          <a:xfrm>
            <a:off x="1267587" y="5562980"/>
            <a:ext cx="9019413" cy="182902"/>
          </a:xfrm>
          <a:prstGeom prst="rect">
            <a:avLst/>
          </a:prstGeom>
          <a:noFill/>
        </p:spPr>
        <p:txBody>
          <a:bodyPr wrap="square" rtlCol="0" anchor="b"/>
          <a:lstStyle/>
          <a:p>
            <a:r>
              <a:rPr lang="en-US" sz="1400" b="1" dirty="0">
                <a:solidFill>
                  <a:srgbClr val="575757"/>
                </a:solidFill>
                <a:latin typeface="Trebuchet MS"/>
              </a:rPr>
              <a:t>Mandatory Week-1 mentor session could be retention-positive</a:t>
            </a:r>
          </a:p>
        </p:txBody>
      </p:sp>
      <p:sp>
        <p:nvSpPr>
          <p:cNvPr id="419" name="TB419"/>
          <p:cNvSpPr txBox="1"/>
          <p:nvPr/>
        </p:nvSpPr>
        <p:spPr>
          <a:xfrm>
            <a:off x="1267587" y="5727595"/>
            <a:ext cx="9019413" cy="161140"/>
          </a:xfrm>
          <a:prstGeom prst="rect">
            <a:avLst/>
          </a:prstGeom>
          <a:noFill/>
        </p:spPr>
        <p:txBody>
          <a:bodyPr wrap="square" rtlCol="0" anchor="t"/>
          <a:lstStyle/>
          <a:p>
            <a:r>
              <a:rPr lang="en-US" sz="1200" dirty="0">
                <a:solidFill>
                  <a:srgbClr val="575757"/>
                </a:solidFill>
                <a:latin typeface="Trebuchet MS"/>
              </a:rPr>
              <a:t>Currently optional, ~10% adoption; A/B test against scheduled-by-default version is feasible</a:t>
            </a:r>
          </a:p>
        </p:txBody>
      </p:sp>
      <p:sp>
        <p:nvSpPr>
          <p:cNvPr id="420" name="RR420"/>
          <p:cNvSpPr/>
          <p:nvPr/>
        </p:nvSpPr>
        <p:spPr>
          <a:xfrm>
            <a:off x="10442448" y="5588698"/>
            <a:ext cx="960120" cy="274320"/>
          </a:xfrm>
          <a:prstGeom prst="roundRect">
            <a:avLst>
              <a:gd name="adj" fmla="val 10000"/>
            </a:avLst>
          </a:prstGeom>
          <a:solidFill>
            <a:srgbClr val="6E6F73"/>
          </a:solidFill>
          <a:ln>
            <a:noFill/>
          </a:ln>
        </p:spPr>
        <p:txBody>
          <a:bodyPr/>
          <a:lstStyle/>
          <a:p>
            <a:endParaRPr lang="en-US"/>
          </a:p>
        </p:txBody>
      </p:sp>
      <p:sp>
        <p:nvSpPr>
          <p:cNvPr id="421" name="TB421"/>
          <p:cNvSpPr txBox="1"/>
          <p:nvPr/>
        </p:nvSpPr>
        <p:spPr>
          <a:xfrm>
            <a:off x="10442448" y="5588698"/>
            <a:ext cx="960120" cy="274320"/>
          </a:xfrm>
          <a:prstGeom prst="rect">
            <a:avLst/>
          </a:prstGeom>
          <a:noFill/>
        </p:spPr>
        <p:txBody>
          <a:bodyPr wrap="square" rtlCol="0" anchor="ctr"/>
          <a:lstStyle/>
          <a:p>
            <a:pPr algn="ctr"/>
            <a:r>
              <a:rPr lang="en-US" sz="1100" b="1" dirty="0">
                <a:solidFill>
                  <a:srgbClr val="FFFFFF"/>
                </a:solidFill>
                <a:latin typeface="Trebuchet MS"/>
              </a:rPr>
              <a:t>LOW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1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BCG Grid 16:9">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498</TotalTime>
  <Words>1255</Words>
  <Application>Microsoft Office PowerPoint</Application>
  <PresentationFormat>Widescreen</PresentationFormat>
  <Paragraphs>179</Paragraphs>
  <Slides>13</Slides>
  <Notes>0</Notes>
  <HiddenSlides>0</HiddenSlides>
  <MMClips>0</MMClips>
  <ScaleCrop>false</ScaleCrop>
  <HeadingPairs>
    <vt:vector size="10"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13</vt:i4>
      </vt:variant>
      <vt:variant>
        <vt:lpstr>Custom Shows</vt:lpstr>
      </vt:variant>
      <vt:variant>
        <vt:i4>1</vt:i4>
      </vt:variant>
    </vt:vector>
  </HeadingPairs>
  <TitlesOfParts>
    <vt:vector size="18" baseType="lpstr">
      <vt:lpstr>Arial</vt:lpstr>
      <vt:lpstr>Trebuchet MS</vt:lpstr>
      <vt:lpstr>BCG Grid 16:9</vt:lpstr>
      <vt:lpstr>think-cell Slide</vt:lpstr>
      <vt:lpstr>Refund Root-Cause Analysis</vt:lpstr>
      <vt:lpstr>Refunds are an early-engagement problem masked as a course-quality problem</vt:lpstr>
      <vt:lpstr>Academy Intake X had 1,649 learners and a 17% refund rate over the cohort</vt:lpstr>
      <vt:lpstr>Why are learners requesting refunds?</vt:lpstr>
      <vt:lpstr>Three reason buckets cover two-thirds of refund cases</vt:lpstr>
      <vt:lpstr>Roughly half of refund reasons are addressable through process or sales-stage changes</vt:lpstr>
      <vt:lpstr>Can we reduce the refund rate, and how?</vt:lpstr>
      <vt:lpstr>Attendance and refund rate are almost perfectly inversely correlated</vt:lpstr>
      <vt:lpstr>Skipping the Dashboard Walkthrough triples a learner's refund probability</vt:lpstr>
      <vt:lpstr>5% of the cohort accounts for 20% of refunders, and they are visible before Day 1</vt:lpstr>
      <vt:lpstr>Three priority moves can compress the refund rate meaningfully</vt:lpstr>
      <vt:lpstr>Eight follow-up hypotheses are worth deeper data; three are highest-priority</vt:lpstr>
      <vt:lpstr>PowerPoint Presentation</vt:lpstr>
      <vt:lpstr>Format Guide Workshop</vt:lpstr>
    </vt:vector>
  </TitlesOfParts>
  <Company>Boston Consulting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Boston Consulting Group</dc:creator>
  <cp:lastModifiedBy>Bhattacharya, Bodhisatwa</cp:lastModifiedBy>
  <cp:revision>442</cp:revision>
  <cp:lastPrinted>2016-04-06T18:59:25Z</cp:lastPrinted>
  <dcterms:created xsi:type="dcterms:W3CDTF">2016-11-04T11:46:04Z</dcterms:created>
  <dcterms:modified xsi:type="dcterms:W3CDTF">2026-05-06T18:28:40Z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2026-03-02T22:47:51Z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1d0d9304-b604-40c5-9b39-c9e5f6258716</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ies>
</file>